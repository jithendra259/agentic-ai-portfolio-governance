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0"/>
  </p:notesMasterIdLst>
  <p:sldIdLst>
    <p:sldId id="256" r:id="rId2"/>
    <p:sldId id="279" r:id="rId3"/>
    <p:sldId id="280" r:id="rId4"/>
    <p:sldId id="317" r:id="rId5"/>
    <p:sldId id="309" r:id="rId6"/>
    <p:sldId id="257" r:id="rId7"/>
    <p:sldId id="258" r:id="rId8"/>
    <p:sldId id="308" r:id="rId9"/>
    <p:sldId id="286" r:id="rId10"/>
    <p:sldId id="261" r:id="rId11"/>
    <p:sldId id="262" r:id="rId12"/>
    <p:sldId id="277" r:id="rId13"/>
    <p:sldId id="325" r:id="rId14"/>
    <p:sldId id="265" r:id="rId15"/>
    <p:sldId id="266" r:id="rId16"/>
    <p:sldId id="312" r:id="rId17"/>
    <p:sldId id="328" r:id="rId18"/>
    <p:sldId id="329" r:id="rId19"/>
    <p:sldId id="330" r:id="rId20"/>
    <p:sldId id="331" r:id="rId21"/>
    <p:sldId id="332" r:id="rId22"/>
    <p:sldId id="333" r:id="rId23"/>
    <p:sldId id="334" r:id="rId24"/>
    <p:sldId id="335" r:id="rId25"/>
    <p:sldId id="338" r:id="rId26"/>
    <p:sldId id="337" r:id="rId27"/>
    <p:sldId id="336" r:id="rId28"/>
    <p:sldId id="319" r:id="rId29"/>
    <p:sldId id="320" r:id="rId30"/>
    <p:sldId id="326" r:id="rId31"/>
    <p:sldId id="272" r:id="rId32"/>
    <p:sldId id="322" r:id="rId33"/>
    <p:sldId id="273" r:id="rId34"/>
    <p:sldId id="276" r:id="rId35"/>
    <p:sldId id="285" r:id="rId36"/>
    <p:sldId id="323" r:id="rId37"/>
    <p:sldId id="324" r:id="rId38"/>
    <p:sldId id="274" r:id="rId39"/>
  </p:sldIdLst>
  <p:sldSz cx="12192000" cy="6858000"/>
  <p:notesSz cx="6761163" cy="9942513"/>
  <p:embeddedFontLst>
    <p:embeddedFont>
      <p:font typeface="Cambria Math" panose="02040503050406030204" pitchFamily="18" charset="0"/>
      <p:regular r:id="rId41"/>
    </p:embeddedFont>
    <p:embeddedFont>
      <p:font typeface="Quattrocento Sans" panose="020B0502050000020003" pitchFamily="34" charset="0"/>
      <p:regular r:id="rId42"/>
      <p:bold r:id="rId43"/>
      <p:italic r:id="rId44"/>
      <p:boldItalic r:id="rId45"/>
    </p:embeddedFont>
    <p:embeddedFont>
      <p:font typeface="Roboto" panose="02000000000000000000" pitchFamily="2" charset="0"/>
      <p:regular r:id="rId46"/>
      <p:bold r:id="rId47"/>
      <p:italic r:id="rId48"/>
      <p:boldItalic r:id="rId49"/>
    </p:embeddedFont>
    <p:embeddedFont>
      <p:font typeface="Rockwell" panose="02060603020205020403" pitchFamily="18" charset="0"/>
      <p:regular r:id="rId50"/>
      <p:bold r:id="rId51"/>
      <p:italic r:id="rId52"/>
      <p:boldItalic r:id="rId5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guide id="3" orient="horz" pos="2260">
          <p15:clr>
            <a:srgbClr val="A4A3A4"/>
          </p15:clr>
        </p15:guide>
        <p15:guide id="4" pos="3940">
          <p15:clr>
            <a:srgbClr val="A4A3A4"/>
          </p15:clr>
        </p15:guide>
        <p15:guide id="5" pos="40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9" roundtripDataSignature="AMtx7mgrBF0ehTMxQZN1RX7HneGgHnjyj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8133A83-268A-4673-80D7-47B9B74EA727}">
  <a:tblStyle styleId="{48133A83-268A-4673-80D7-47B9B74EA727}"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2FE77DDD-4315-4907-B421-C114BB1CCDBD}"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26" autoAdjust="0"/>
    <p:restoredTop sz="93447" autoAdjust="0"/>
  </p:normalViewPr>
  <p:slideViewPr>
    <p:cSldViewPr snapToGrid="0">
      <p:cViewPr varScale="1">
        <p:scale>
          <a:sx n="59" d="100"/>
          <a:sy n="59" d="100"/>
        </p:scale>
        <p:origin x="960" y="52"/>
      </p:cViewPr>
      <p:guideLst>
        <p:guide orient="horz" pos="2160"/>
        <p:guide pos="3840"/>
        <p:guide orient="horz" pos="2260"/>
        <p:guide pos="3940"/>
        <p:guide pos="40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font" Target="fonts/font10.fntdata"/><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font" Target="fonts/font5.fntdata"/><Relationship Id="rId53" Type="http://schemas.openxmlformats.org/officeDocument/2006/relationships/font" Target="fonts/font13.fntdata"/><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font" Target="fonts/font8.fntdata"/><Relationship Id="rId8" Type="http://schemas.openxmlformats.org/officeDocument/2006/relationships/slide" Target="slides/slide7.xml"/><Relationship Id="rId51" Type="http://schemas.openxmlformats.org/officeDocument/2006/relationships/font" Target="fonts/font1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59" Type="http://customschemas.google.com/relationships/presentationmetadata" Target="metadata"/><Relationship Id="rId20" Type="http://schemas.openxmlformats.org/officeDocument/2006/relationships/slide" Target="slides/slide19.xml"/><Relationship Id="rId41" Type="http://schemas.openxmlformats.org/officeDocument/2006/relationships/font" Target="fonts/font1.fntdata"/><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9.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4.fntdata"/><Relationship Id="rId52" Type="http://schemas.openxmlformats.org/officeDocument/2006/relationships/font" Target="fonts/font12.fntdata"/><Relationship Id="rId6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29837" cy="49885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29761" y="0"/>
            <a:ext cx="2929837" cy="498852"/>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43662"/>
            <a:ext cx="2929837" cy="498851"/>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 name="Google Shape;82;p1: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US" dirty="0"/>
              <a:t>Before we talk about AI, we need to completely reframe how we look at the stock market. We are often taught to view a stock portfolio as a static collection of assets—a spreadsheet of numbers. But the reality is much more chaotic. The market is a highly volatile, living ecosystem.</a:t>
            </a:r>
          </a:p>
          <a:p>
            <a:pPr>
              <a:buFont typeface="Arial" panose="020B0604020202020204" pitchFamily="34" charset="0"/>
              <a:buChar char="•"/>
            </a:pPr>
            <a:r>
              <a:rPr lang="en-US" dirty="0"/>
              <a:t>When an everyday investor buys a tech stock and a healthcare stock, they believe they are diversified. They believe their assets are isolated. But as my research into contagion has shown, this is an illusion. Because massive institutions hold all of these stocks simultaneously, a sudden shock in one sector travels through these hidden webs and crashes the others. A ripple becomes a tidal wave.</a:t>
            </a:r>
          </a:p>
          <a:p>
            <a:pPr>
              <a:buFont typeface="Arial" panose="020B0604020202020204" pitchFamily="34" charset="0"/>
              <a:buChar char="•"/>
            </a:pPr>
            <a:r>
              <a:rPr lang="en-US" dirty="0"/>
              <a:t>This is the 'Navigation Paradox.' The market is a multi-dimensional, deeply interconnected storm. But what tools do we give the average investor to survive it? Flat, static dashboards that only show them what happened yesterday. It is like giving someone a rearview mirror to navigate a hurricane. That is the exact reality my chatbot framework is designed to change.</a:t>
            </a:r>
          </a:p>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581271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US" dirty="0"/>
              <a:t>We know that multi-agent AI can manage risk and detect market instability. But having a powerful engine isn't enough. In the financial sector, trust and compliance are everything. Because most AI operates as an unexplainable 'black box,' it fails regulatory audits like MiFID II and GDPR, and users simply cannot trust it with their savings.</a:t>
            </a:r>
          </a:p>
          <a:p>
            <a:pPr>
              <a:buFont typeface="Arial" panose="020B0604020202020204" pitchFamily="34" charset="0"/>
              <a:buChar char="•"/>
            </a:pPr>
            <a:r>
              <a:rPr lang="en-US" dirty="0"/>
              <a:t>Furthermore, there is a massive accessibility gap. The advanced portfolio governance tools that institutions use to survive market crashes are incredibly technical. The everyday investor has no way to access or understand them.</a:t>
            </a:r>
          </a:p>
          <a:p>
            <a:pPr>
              <a:buFont typeface="Arial" panose="020B0604020202020204" pitchFamily="34" charset="0"/>
              <a:buChar char="•"/>
            </a:pPr>
            <a:r>
              <a:rPr lang="en-US" dirty="0"/>
              <a:t>My motivation is to democratize this technology. I want to take the complex, deterministic risk frameworks I developed in my previous research and pair them with a conversational AI. The goal is to build a system that doesn't just do the complex math behind the scenes, but can actually sit down with the user, explain its reasoning in plain English, and provide safe, auditable financial guidance.</a:t>
            </a:r>
          </a:p>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321629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US" sz="1200" b="0" i="0" u="none" strike="noStrike" cap="none" dirty="0">
                <a:solidFill>
                  <a:schemeClr val="dk1"/>
                </a:solidFill>
                <a:effectLst/>
                <a:latin typeface="Calibri"/>
                <a:ea typeface="Calibri"/>
                <a:cs typeface="Calibri"/>
                <a:sym typeface="Calibri"/>
              </a:rPr>
              <a:t>algorithmic brittleness. Traditional optimization models fail spectacularly during market crashes. When volatility spikes and covariance drifts, these models amplify errors rather than protect the portfolio. </a:t>
            </a:r>
          </a:p>
          <a:p>
            <a:pPr>
              <a:buFont typeface="Arial" panose="020B0604020202020204" pitchFamily="34" charset="0"/>
              <a:buChar char="•"/>
            </a:pPr>
            <a:r>
              <a:rPr lang="en-US" sz="1200" b="0" i="0" u="none" strike="noStrike" cap="none" dirty="0">
                <a:solidFill>
                  <a:schemeClr val="dk1"/>
                </a:solidFill>
                <a:effectLst/>
                <a:latin typeface="Calibri"/>
                <a:ea typeface="Calibri"/>
                <a:cs typeface="Calibri"/>
                <a:sym typeface="Calibri"/>
              </a:rPr>
              <a:t>next compliance deficit. We have advanced AI that can predict these crashes, but we cannot legally use most of it. Probabilistic models are 'black boxes.' They require undocumented human guesswork to turn a probability into a portfolio weight, which completely fails strict regulatory standards like MiFID II and GDPR. </a:t>
            </a:r>
          </a:p>
          <a:p>
            <a:pPr>
              <a:buFont typeface="Arial" panose="020B0604020202020204" pitchFamily="34" charset="0"/>
              <a:buChar char="•"/>
            </a:pPr>
            <a:r>
              <a:rPr lang="en-US" sz="1200" b="0" i="0" u="none" strike="noStrike" cap="none" dirty="0">
                <a:solidFill>
                  <a:schemeClr val="dk1"/>
                </a:solidFill>
                <a:effectLst/>
                <a:latin typeface="Calibri"/>
                <a:ea typeface="Calibri"/>
                <a:cs typeface="Calibri"/>
                <a:sym typeface="Calibri"/>
              </a:rPr>
              <a:t>Third is the user disconnect. Even if we fix the math and the compliance, the everyday investor still can't use it. They are stuck staring at static dashboards. </a:t>
            </a:r>
          </a:p>
          <a:p>
            <a:pPr>
              <a:buFont typeface="Arial" panose="020B0604020202020204" pitchFamily="34" charset="0"/>
              <a:buChar char="•"/>
            </a:pPr>
            <a:r>
              <a:rPr lang="en-US" sz="1200" b="0" i="0" u="none" strike="noStrike" cap="none" dirty="0">
                <a:solidFill>
                  <a:schemeClr val="dk1"/>
                </a:solidFill>
                <a:effectLst/>
                <a:latin typeface="Calibri"/>
                <a:ea typeface="Calibri"/>
                <a:cs typeface="Calibri"/>
                <a:sym typeface="Calibri"/>
              </a:rPr>
              <a:t>Therefore, the exact problem this work solves is this: How do we build a system that provides institutional-grade downside protection, guarantees 100% regulatory auditability, and can actually speak to the user to explain its decisions?"</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398582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a:buFont typeface="Arial" panose="020B0604020202020204" pitchFamily="34" charset="0"/>
              <a:buChar char="•"/>
            </a:pPr>
            <a:r>
              <a:rPr lang="en-US" sz="1200" b="0" i="0" u="none" strike="noStrike" cap="none" dirty="0">
                <a:solidFill>
                  <a:schemeClr val="dk1"/>
                </a:solidFill>
                <a:effectLst/>
                <a:latin typeface="Calibri"/>
                <a:ea typeface="Calibri"/>
                <a:cs typeface="Calibri"/>
                <a:sym typeface="Calibri"/>
              </a:rPr>
              <a:t>First, we need to architect the engine itself. We will integrate real-time market data into a deterministic, multi-agent framework. Instead of one AI trying to do everything, we will have specialized agents handling risk assessment, forecasting, and optimization. </a:t>
            </a:r>
          </a:p>
          <a:p>
            <a:pPr>
              <a:buFont typeface="Arial" panose="020B0604020202020204" pitchFamily="34" charset="0"/>
              <a:buChar char="•"/>
            </a:pPr>
            <a:r>
              <a:rPr lang="en-US" sz="1200" b="0" i="0" u="none" strike="noStrike" cap="none" dirty="0">
                <a:solidFill>
                  <a:schemeClr val="dk1"/>
                </a:solidFill>
                <a:effectLst/>
                <a:latin typeface="Calibri"/>
                <a:ea typeface="Calibri"/>
                <a:cs typeface="Calibri"/>
                <a:sym typeface="Calibri"/>
              </a:rPr>
              <a:t>Second, we are integrating dynamic risk governance with strict human oversight. Using the instability models from my prior research, the system will actively protect the portfolio, but we are adding a Human-in-the-Loop mechanism. This ensures that a human validates the AI's rebalancing decisions before any capital is moved. </a:t>
            </a:r>
          </a:p>
          <a:p>
            <a:pPr>
              <a:buFont typeface="Arial" panose="020B0604020202020204" pitchFamily="34" charset="0"/>
              <a:buChar char="•"/>
            </a:pPr>
            <a:r>
              <a:rPr lang="en-US" sz="1200" b="0" i="0" u="none" strike="noStrike" cap="none" dirty="0">
                <a:solidFill>
                  <a:schemeClr val="dk1"/>
                </a:solidFill>
                <a:effectLst/>
                <a:latin typeface="Calibri"/>
                <a:ea typeface="Calibri"/>
                <a:cs typeface="Calibri"/>
                <a:sym typeface="Calibri"/>
              </a:rPr>
              <a:t>Third, we must ensure conversational auditability. We will use a structurally isolated language model to generate grounded, conversational explanations for every single allocation decision. It won't just say 'rebalance'; it will explain exactly </a:t>
            </a:r>
            <a:r>
              <a:rPr lang="en-US" sz="1200" b="0" i="1" u="none" strike="noStrike" cap="none" dirty="0">
                <a:solidFill>
                  <a:schemeClr val="dk1"/>
                </a:solidFill>
                <a:effectLst/>
                <a:latin typeface="Calibri"/>
                <a:ea typeface="Calibri"/>
                <a:cs typeface="Calibri"/>
                <a:sym typeface="Calibri"/>
              </a:rPr>
              <a:t>why</a:t>
            </a:r>
            <a:r>
              <a:rPr lang="en-US" sz="1200" b="0" i="0" u="none" strike="noStrike" cap="none" dirty="0">
                <a:solidFill>
                  <a:schemeClr val="dk1"/>
                </a:solidFill>
                <a:effectLst/>
                <a:latin typeface="Calibri"/>
                <a:ea typeface="Calibri"/>
                <a:cs typeface="Calibri"/>
                <a:sym typeface="Calibri"/>
              </a:rPr>
              <a:t> based on the math, keeping us fully compliant with regulations. </a:t>
            </a:r>
          </a:p>
          <a:p>
            <a:pPr>
              <a:buFont typeface="Arial" panose="020B0604020202020204" pitchFamily="34" charset="0"/>
              <a:buChar char="•"/>
            </a:pPr>
            <a:r>
              <a:rPr lang="en-US" sz="1200" b="0" i="0" u="none" strike="noStrike" cap="none" dirty="0">
                <a:solidFill>
                  <a:schemeClr val="dk1"/>
                </a:solidFill>
                <a:effectLst/>
                <a:latin typeface="Calibri"/>
                <a:ea typeface="Calibri"/>
                <a:cs typeface="Calibri"/>
                <a:sym typeface="Calibri"/>
              </a:rPr>
              <a:t>Finally, we will empirically validate the entire system. We won't just measure standard financial metrics like maximum drawdown; we will also rigorously evaluate the reliability and accuracy of the AI's generated explanations to ensure the system is genuinely trustworthy."</a:t>
            </a:r>
          </a:p>
          <a:p>
            <a:pPr marL="171450" lvl="0" indent="-171450" algn="l" rtl="0">
              <a:spcBef>
                <a:spcPts val="0"/>
              </a:spcBef>
              <a:spcAft>
                <a:spcPts val="0"/>
              </a:spcAft>
              <a:buFont typeface="Arial" panose="020B0604020202020204" pitchFamily="34" charset="0"/>
              <a:buChar char="•"/>
            </a:pPr>
            <a:endParaRPr dirty="0"/>
          </a:p>
        </p:txBody>
      </p:sp>
      <p:sp>
        <p:nvSpPr>
          <p:cNvPr id="91" name="Google Shape;91;p2: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3: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3: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B6B7E23A-7095-7C25-5316-078F8EC8C1F7}"/>
            </a:ext>
          </a:extLst>
        </p:cNvPr>
        <p:cNvGrpSpPr/>
        <p:nvPr/>
      </p:nvGrpSpPr>
      <p:grpSpPr>
        <a:xfrm>
          <a:off x="0" y="0"/>
          <a:ext cx="0" cy="0"/>
          <a:chOff x="0" y="0"/>
          <a:chExt cx="0" cy="0"/>
        </a:xfrm>
      </p:grpSpPr>
      <p:sp>
        <p:nvSpPr>
          <p:cNvPr id="99" name="Google Shape;99;p3:notes">
            <a:extLst>
              <a:ext uri="{FF2B5EF4-FFF2-40B4-BE49-F238E27FC236}">
                <a16:creationId xmlns:a16="http://schemas.microsoft.com/office/drawing/2014/main" id="{D7BAEA85-55CE-41C3-BE60-B7A2A8654978}"/>
              </a:ext>
            </a:extLst>
          </p:cNvPr>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3:notes">
            <a:extLst>
              <a:ext uri="{FF2B5EF4-FFF2-40B4-BE49-F238E27FC236}">
                <a16:creationId xmlns:a16="http://schemas.microsoft.com/office/drawing/2014/main" id="{A22D7724-30D5-19CD-59A2-DB2BFF1ED5E1}"/>
              </a:ext>
            </a:extLst>
          </p:cNvPr>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285028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9F26A2D5-D570-E1E9-94FF-8E337CA7BB6A}"/>
            </a:ext>
          </a:extLst>
        </p:cNvPr>
        <p:cNvGrpSpPr/>
        <p:nvPr/>
      </p:nvGrpSpPr>
      <p:grpSpPr>
        <a:xfrm>
          <a:off x="0" y="0"/>
          <a:ext cx="0" cy="0"/>
          <a:chOff x="0" y="0"/>
          <a:chExt cx="0" cy="0"/>
        </a:xfrm>
      </p:grpSpPr>
      <p:sp>
        <p:nvSpPr>
          <p:cNvPr id="99" name="Google Shape;99;p3:notes">
            <a:extLst>
              <a:ext uri="{FF2B5EF4-FFF2-40B4-BE49-F238E27FC236}">
                <a16:creationId xmlns:a16="http://schemas.microsoft.com/office/drawing/2014/main" id="{1A3F52B9-5E1A-EE1B-CDBF-0509B30FE4B4}"/>
              </a:ext>
            </a:extLst>
          </p:cNvPr>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3:notes">
            <a:extLst>
              <a:ext uri="{FF2B5EF4-FFF2-40B4-BE49-F238E27FC236}">
                <a16:creationId xmlns:a16="http://schemas.microsoft.com/office/drawing/2014/main" id="{6E0AE693-3D8D-0C0E-FF73-C22CFD3AA3E6}"/>
              </a:ext>
            </a:extLst>
          </p:cNvPr>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63382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6: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a:buFont typeface="Arial" panose="020B0604020202020204" pitchFamily="34" charset="0"/>
              <a:buChar char="•"/>
            </a:pPr>
            <a:r>
              <a:rPr lang="en-US" sz="1200" b="0" i="0" u="none" strike="noStrike" cap="none" dirty="0">
                <a:solidFill>
                  <a:schemeClr val="dk1"/>
                </a:solidFill>
                <a:effectLst/>
                <a:latin typeface="Calibri"/>
                <a:ea typeface="Calibri"/>
                <a:cs typeface="Calibri"/>
                <a:sym typeface="Calibri"/>
              </a:rPr>
              <a:t>First, regarding its capabilities, the system operates exclusively within stock portfolio management. It pulls real-time market data from public APIs to give the user live diagnostics on their gains, losses, diversification, and risk exposure. </a:t>
            </a:r>
          </a:p>
          <a:p>
            <a:pPr>
              <a:buFont typeface="Arial" panose="020B0604020202020204" pitchFamily="34" charset="0"/>
              <a:buChar char="•"/>
            </a:pPr>
            <a:r>
              <a:rPr lang="en-US" sz="1200" b="0" i="0" u="none" strike="noStrike" cap="none" dirty="0">
                <a:solidFill>
                  <a:schemeClr val="dk1"/>
                </a:solidFill>
                <a:effectLst/>
                <a:latin typeface="Calibri"/>
                <a:ea typeface="Calibri"/>
                <a:cs typeface="Calibri"/>
                <a:sym typeface="Calibri"/>
              </a:rPr>
              <a:t>Second, we are scoping the AI architecture specifically around an Agentic framework. We divide the labor so specialized agents handle data fetching and mathematical reasoning independently. We also built in conversational memory, meaning the chatbot remembers the context of the interaction from one question to the next. </a:t>
            </a:r>
          </a:p>
          <a:p>
            <a:pPr>
              <a:buFont typeface="Arial" panose="020B0604020202020204" pitchFamily="34" charset="0"/>
              <a:buChar char="•"/>
            </a:pPr>
            <a:r>
              <a:rPr lang="en-US" sz="1200" b="0" i="0" u="none" strike="noStrike" cap="none" dirty="0">
                <a:solidFill>
                  <a:schemeClr val="dk1"/>
                </a:solidFill>
                <a:effectLst/>
                <a:latin typeface="Calibri"/>
                <a:ea typeface="Calibri"/>
                <a:cs typeface="Calibri"/>
                <a:sym typeface="Calibri"/>
              </a:rPr>
              <a:t>Third, the user experience is strictly conversational. We aren't building complex financial dashboards; the scope here is to ensure all that heavy math is translated into simple, easy-to-understand conversational responses. </a:t>
            </a:r>
          </a:p>
          <a:p>
            <a:pPr>
              <a:buFont typeface="Arial" panose="020B0604020202020204" pitchFamily="34" charset="0"/>
              <a:buChar char="•"/>
            </a:pPr>
            <a:r>
              <a:rPr lang="en-US" sz="1200" b="0" i="0" u="none" strike="noStrike" cap="none" dirty="0">
                <a:solidFill>
                  <a:schemeClr val="dk1"/>
                </a:solidFill>
                <a:effectLst/>
                <a:latin typeface="Calibri"/>
                <a:ea typeface="Calibri"/>
                <a:cs typeface="Calibri"/>
                <a:sym typeface="Calibri"/>
              </a:rPr>
              <a:t>Finally, and most importantly, are our hard execution limits. We have included a compliance layer to ensure all guidance is safe and transparent. Because of this, the chatbot is strictly a decision-support tool. It provides the math, the warnings, and the recommendations, but it absolutely does not execute trades or move capital on its own."</a:t>
            </a:r>
          </a:p>
          <a:p>
            <a:pPr marL="171450" lvl="0" indent="-171450" algn="l" rtl="0">
              <a:spcBef>
                <a:spcPts val="0"/>
              </a:spcBef>
              <a:spcAft>
                <a:spcPts val="0"/>
              </a:spcAft>
              <a:buFont typeface="Arial" panose="020B0604020202020204" pitchFamily="34" charset="0"/>
              <a:buChar char="•"/>
            </a:pPr>
            <a:endParaRPr dirty="0"/>
          </a:p>
        </p:txBody>
      </p:sp>
      <p:sp>
        <p:nvSpPr>
          <p:cNvPr id="120" name="Google Shape;120;p6: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7: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a:buFont typeface="Arial" panose="020B0604020202020204" pitchFamily="34" charset="0"/>
              <a:buChar char="•"/>
            </a:pPr>
            <a:r>
              <a:rPr lang="en-US" sz="1200" b="0" i="0" u="none" strike="noStrike" cap="none" dirty="0">
                <a:solidFill>
                  <a:schemeClr val="dk1"/>
                </a:solidFill>
                <a:effectLst/>
                <a:latin typeface="Calibri"/>
                <a:ea typeface="Calibri"/>
                <a:cs typeface="Calibri"/>
                <a:sym typeface="Calibri"/>
              </a:rPr>
              <a:t>First, our architecture is a planner-driven, multi-agent system. Instead of relying on one single AI model to guess its way through a financial problem, we employ multiple specialized agents. This ensures that every step of the financial reasoning is organized, reliable, and processed step-by-step. </a:t>
            </a:r>
          </a:p>
          <a:p>
            <a:pPr>
              <a:buFont typeface="Arial" panose="020B0604020202020204" pitchFamily="34" charset="0"/>
              <a:buChar char="•"/>
            </a:pPr>
            <a:r>
              <a:rPr lang="en-US" sz="1200" b="0" i="0" u="none" strike="noStrike" cap="none" dirty="0">
                <a:solidFill>
                  <a:schemeClr val="dk1"/>
                </a:solidFill>
                <a:effectLst/>
                <a:latin typeface="Calibri"/>
                <a:ea typeface="Calibri"/>
                <a:cs typeface="Calibri"/>
                <a:sym typeface="Calibri"/>
              </a:rPr>
              <a:t>Second is the deterministic risk governance. We are bringing Wall Street-level protection to the everyday user. Our agents don't just look at basic prices; they actively calculate covariance matrix drift and penalize institutional contagion risks. </a:t>
            </a:r>
          </a:p>
          <a:p>
            <a:pPr>
              <a:buFont typeface="Arial" panose="020B0604020202020204" pitchFamily="34" charset="0"/>
              <a:buChar char="•"/>
            </a:pPr>
            <a:r>
              <a:rPr lang="en-US" sz="1200" b="0" i="0" u="none" strike="noStrike" cap="none" dirty="0">
                <a:solidFill>
                  <a:schemeClr val="dk1"/>
                </a:solidFill>
                <a:effectLst/>
                <a:latin typeface="Calibri"/>
                <a:ea typeface="Calibri"/>
                <a:cs typeface="Calibri"/>
                <a:sym typeface="Calibri"/>
              </a:rPr>
              <a:t>But the third point is where the user actually feels the difference: the transparency layer. We are completely transforming the traditional, static portfolio dashboard into an engaging conversational assistant. Because our language model is structurally isolated to act only as an explainer, it can reveal the exact mathematical reasoning steps to the user. It prioritizes simple, human-friendly explanations over complex financial jargon, ultimately bridging the gap between rigorous compliance and genuine user trust." </a:t>
            </a:r>
          </a:p>
          <a:p>
            <a:pPr marL="171450" lvl="0" indent="-171450" algn="l" rtl="0">
              <a:spcBef>
                <a:spcPts val="0"/>
              </a:spcBef>
              <a:spcAft>
                <a:spcPts val="0"/>
              </a:spcAft>
              <a:buFont typeface="Arial" panose="020B0604020202020204" pitchFamily="34" charset="0"/>
              <a:buChar char="•"/>
            </a:pPr>
            <a:endParaRPr dirty="0"/>
          </a:p>
        </p:txBody>
      </p:sp>
      <p:sp>
        <p:nvSpPr>
          <p:cNvPr id="126" name="Google Shape;126;p7: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DAD6C97C-3AA3-C650-BFAB-9D7C8A39109E}"/>
            </a:ext>
          </a:extLst>
        </p:cNvPr>
        <p:cNvGrpSpPr/>
        <p:nvPr/>
      </p:nvGrpSpPr>
      <p:grpSpPr>
        <a:xfrm>
          <a:off x="0" y="0"/>
          <a:ext cx="0" cy="0"/>
          <a:chOff x="0" y="0"/>
          <a:chExt cx="0" cy="0"/>
        </a:xfrm>
      </p:grpSpPr>
      <p:sp>
        <p:nvSpPr>
          <p:cNvPr id="112" name="Google Shape;112;p5:notes">
            <a:extLst>
              <a:ext uri="{FF2B5EF4-FFF2-40B4-BE49-F238E27FC236}">
                <a16:creationId xmlns:a16="http://schemas.microsoft.com/office/drawing/2014/main" id="{4ACF7D24-44BE-0972-9671-4C30829AF2DB}"/>
              </a:ext>
            </a:extLst>
          </p:cNvPr>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 name="Google Shape;113;p5:notes">
            <a:extLst>
              <a:ext uri="{FF2B5EF4-FFF2-40B4-BE49-F238E27FC236}">
                <a16:creationId xmlns:a16="http://schemas.microsoft.com/office/drawing/2014/main" id="{603A05A6-396A-FF5D-96E2-559523A8F257}"/>
              </a:ext>
            </a:extLst>
          </p:cNvPr>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01482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0: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a:buFont typeface="Arial" panose="020B0604020202020204" pitchFamily="34" charset="0"/>
              <a:buChar char="•"/>
            </a:pPr>
            <a:r>
              <a:rPr lang="en-US" dirty="0"/>
              <a:t>This diagram illustrates the core methodology of our framework—the G-CVaR-APGS Architecture. Let me walk you through how data flows from raw inputs to a fully governed portfolio.</a:t>
            </a:r>
          </a:p>
          <a:p>
            <a:pPr>
              <a:buFont typeface="Arial" panose="020B0604020202020204" pitchFamily="34" charset="0"/>
              <a:buChar char="•"/>
            </a:pPr>
            <a:r>
              <a:rPr lang="en-US" dirty="0"/>
              <a:t>At the top, we have our inputs feeding into the </a:t>
            </a:r>
            <a:r>
              <a:rPr lang="en-US" b="1" dirty="0"/>
              <a:t>Orchestrator Agent</a:t>
            </a:r>
            <a:r>
              <a:rPr lang="en-US" dirty="0"/>
              <a:t>. Think of the Orchestrator as the manager of the system. It understands the user's intent and plans the workflow, but it delegates the actual heavy lifting to our five specialized agents.</a:t>
            </a:r>
          </a:p>
          <a:p>
            <a:pPr>
              <a:buFont typeface="Arial" panose="020B0604020202020204" pitchFamily="34" charset="0"/>
              <a:buChar char="•"/>
            </a:pPr>
            <a:r>
              <a:rPr lang="en-US" dirty="0"/>
              <a:t>Looking at the middle layer, moving left to right: </a:t>
            </a:r>
            <a:r>
              <a:rPr lang="en-US" b="1" dirty="0"/>
              <a:t>Agent 0</a:t>
            </a:r>
            <a:r>
              <a:rPr lang="en-US" dirty="0"/>
              <a:t> handles data ingestion and cleaning. It passes that clean data to </a:t>
            </a:r>
            <a:r>
              <a:rPr lang="en-US" b="1" dirty="0"/>
              <a:t>Agent 1</a:t>
            </a:r>
            <a:r>
              <a:rPr lang="en-US" dirty="0"/>
              <a:t>, the Time-Series Sentinel, which actively monitors the market and computes our Composite Instability Index to detect crises. Simultaneously, </a:t>
            </a:r>
            <a:r>
              <a:rPr lang="en-US" b="1" dirty="0"/>
              <a:t>Agent 2</a:t>
            </a:r>
            <a:r>
              <a:rPr lang="en-US" dirty="0"/>
              <a:t> maps out the hidden institutional co-ownership to flag contagion risks.</a:t>
            </a:r>
          </a:p>
          <a:p>
            <a:pPr>
              <a:buFont typeface="Arial" panose="020B0604020202020204" pitchFamily="34" charset="0"/>
              <a:buChar char="•"/>
            </a:pPr>
            <a:r>
              <a:rPr lang="en-US" dirty="0"/>
              <a:t>All of this intelligence is fed into </a:t>
            </a:r>
            <a:r>
              <a:rPr lang="en-US" b="1" dirty="0"/>
              <a:t>Agent 3</a:t>
            </a:r>
            <a:r>
              <a:rPr lang="en-US" dirty="0"/>
              <a:t>, the Optimizer. This agent runs the hard math, minimizing our Graph-Regularized CVaR to generate the safest portfolio weights.</a:t>
            </a:r>
          </a:p>
          <a:p>
            <a:pPr>
              <a:buFont typeface="Arial" panose="020B0604020202020204" pitchFamily="34" charset="0"/>
              <a:buChar char="•"/>
            </a:pPr>
            <a:r>
              <a:rPr lang="en-US" dirty="0"/>
              <a:t>Now, pay special attention to </a:t>
            </a:r>
            <a:r>
              <a:rPr lang="en-US" b="1" dirty="0"/>
              <a:t>Agent 4</a:t>
            </a:r>
            <a:r>
              <a:rPr lang="en-US" dirty="0"/>
              <a:t> on the far right—the XAI Explainer. Notice that it is strictly 'read-only.' It translates the math into a natural language report for the user, but it has no ability to alter the portfolio weights. This structural isolation completely eliminates the risk of an AI hallucinating financial data.</a:t>
            </a:r>
          </a:p>
          <a:p>
            <a:pPr>
              <a:buFont typeface="Arial" panose="020B0604020202020204" pitchFamily="34" charset="0"/>
              <a:buChar char="•"/>
            </a:pPr>
            <a:r>
              <a:rPr lang="en-US" dirty="0"/>
              <a:t>Finally, look at the foundation of the system. None of these agents talk directly to each other; they write everything to a shared </a:t>
            </a:r>
            <a:r>
              <a:rPr lang="en-US" b="1" dirty="0"/>
              <a:t>MongoDB Blackboard</a:t>
            </a:r>
            <a:r>
              <a:rPr lang="en-US" dirty="0"/>
              <a:t>. This creates an immutable, step-by-step audit trail. Before any final portfolio is rebalanced, it passes through our </a:t>
            </a:r>
            <a:r>
              <a:rPr lang="en-US" b="1" dirty="0"/>
              <a:t>HITL Governance Layer</a:t>
            </a:r>
            <a:r>
              <a:rPr lang="en-US" dirty="0"/>
              <a:t>, where a human decision-controller must approve the action, ensuring we remain fully compliant with MiFID II and the EU AI Act</a:t>
            </a:r>
          </a:p>
          <a:p>
            <a:pPr marL="171450" lvl="0" indent="-171450" algn="l" rtl="0">
              <a:spcBef>
                <a:spcPts val="0"/>
              </a:spcBef>
              <a:spcAft>
                <a:spcPts val="0"/>
              </a:spcAft>
              <a:buFont typeface="Arial" panose="020B0604020202020204" pitchFamily="34" charset="0"/>
              <a:buChar char="•"/>
            </a:pPr>
            <a:endParaRPr dirty="0"/>
          </a:p>
        </p:txBody>
      </p:sp>
      <p:sp>
        <p:nvSpPr>
          <p:cNvPr id="148" name="Google Shape;148;p10: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11: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r>
              <a:rPr lang="en-US" dirty="0"/>
              <a:t>"Now, let’s look at how the user actually interacts with all of that complex math we just discussed. This flowchart maps the exact architecture of our Chatbot interface.</a:t>
            </a:r>
          </a:p>
          <a:p>
            <a:r>
              <a:rPr lang="en-US" dirty="0"/>
              <a:t>It starts when a user asks a natural question, such as, </a:t>
            </a:r>
            <a:r>
              <a:rPr lang="en-US" i="1" dirty="0"/>
              <a:t>'Why was Stock X reduced in my portfolio?'</a:t>
            </a:r>
            <a:endParaRPr lang="en-US" dirty="0"/>
          </a:p>
          <a:p>
            <a:r>
              <a:rPr lang="en-US" dirty="0"/>
              <a:t>The system first performs </a:t>
            </a:r>
            <a:r>
              <a:rPr lang="en-US" b="1" dirty="0"/>
              <a:t>Intent Understanding</a:t>
            </a:r>
            <a:r>
              <a:rPr lang="en-US" dirty="0"/>
              <a:t> to figure out exactly what the user is asking. It then immediately pulls the 'Decision Context.' This means it retrieves the hard, deterministic math—the exact weights, risk metrics, and constraints—directly from our secure database.</a:t>
            </a:r>
          </a:p>
          <a:p>
            <a:r>
              <a:rPr lang="en-US" dirty="0"/>
              <a:t>Next, it moves to the </a:t>
            </a:r>
            <a:r>
              <a:rPr lang="en-US" b="1" dirty="0"/>
              <a:t>RAG step—Retrieval-Augmented Generation</a:t>
            </a:r>
            <a:r>
              <a:rPr lang="en-US" dirty="0"/>
              <a:t>. Here, the system fetches supporting real-world evidence, like recent news or fundamental logs, to give the math some real-world context. The isolated Language Model then drafts a plain-English explanation.</a:t>
            </a:r>
          </a:p>
          <a:p>
            <a:r>
              <a:rPr lang="en-US" dirty="0"/>
              <a:t>But here is the most important part of this entire flowchart: the </a:t>
            </a:r>
            <a:r>
              <a:rPr lang="en-US" b="1" dirty="0"/>
              <a:t>Attribution Consistency Check</a:t>
            </a:r>
            <a:r>
              <a:rPr lang="en-US" dirty="0"/>
              <a:t> right in the middle. Before the user ever sees a single word, the system mathematically cross-references the LLM's story against the hard data. If the LLM hallucinates or the data mismatches, the system triggers a fail-safe. It either regenerates the answer or escalates it to a Human-in-the-Loop review.</a:t>
            </a:r>
          </a:p>
          <a:p>
            <a:r>
              <a:rPr lang="en-US" dirty="0"/>
              <a:t>If the consistency check passes, the user receives a perfectly grounded, mathematically accurate explanation. I want to emphasize again that this architecture is strictly advisory; it generates transparent guidance and explanations, but it does not execute autonomous buy or sell orders. This strict, read-only verification flow is how we guarantee safety and compliance."</a:t>
            </a:r>
          </a:p>
          <a:p>
            <a:pPr marL="0" lvl="0" indent="0" algn="l" rtl="0">
              <a:spcBef>
                <a:spcPts val="0"/>
              </a:spcBef>
              <a:spcAft>
                <a:spcPts val="0"/>
              </a:spcAft>
              <a:buNone/>
            </a:pPr>
            <a:endParaRPr lang="en-IN" dirty="0"/>
          </a:p>
          <a:p>
            <a:pPr marL="0" lvl="0" indent="0" algn="l" rtl="0">
              <a:spcBef>
                <a:spcPts val="0"/>
              </a:spcBef>
              <a:spcAft>
                <a:spcPts val="0"/>
              </a:spcAft>
              <a:buNone/>
            </a:pPr>
            <a:endParaRPr dirty="0"/>
          </a:p>
        </p:txBody>
      </p:sp>
      <p:sp>
        <p:nvSpPr>
          <p:cNvPr id="154" name="Google Shape;154;p11: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a:extLst>
            <a:ext uri="{FF2B5EF4-FFF2-40B4-BE49-F238E27FC236}">
              <a16:creationId xmlns:a16="http://schemas.microsoft.com/office/drawing/2014/main" id="{5657D903-F356-A2F1-3792-B0275E69CAA5}"/>
            </a:ext>
          </a:extLst>
        </p:cNvPr>
        <p:cNvGrpSpPr/>
        <p:nvPr/>
      </p:nvGrpSpPr>
      <p:grpSpPr>
        <a:xfrm>
          <a:off x="0" y="0"/>
          <a:ext cx="0" cy="0"/>
          <a:chOff x="0" y="0"/>
          <a:chExt cx="0" cy="0"/>
        </a:xfrm>
      </p:grpSpPr>
      <p:sp>
        <p:nvSpPr>
          <p:cNvPr id="153" name="Google Shape;153;p11:notes">
            <a:extLst>
              <a:ext uri="{FF2B5EF4-FFF2-40B4-BE49-F238E27FC236}">
                <a16:creationId xmlns:a16="http://schemas.microsoft.com/office/drawing/2014/main" id="{103F2904-F7A6-2A9D-5220-B410D89180D0}"/>
              </a:ext>
            </a:extLst>
          </p:cNvPr>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a:buFont typeface="Arial" panose="020B0604020202020204" pitchFamily="34" charset="0"/>
              <a:buChar char="•"/>
            </a:pPr>
            <a:r>
              <a:rPr lang="en-US" sz="1200" b="0" i="0" u="none" strike="noStrike" cap="none" dirty="0">
                <a:solidFill>
                  <a:schemeClr val="dk1"/>
                </a:solidFill>
                <a:effectLst/>
                <a:latin typeface="Calibri"/>
                <a:ea typeface="Calibri"/>
                <a:cs typeface="Calibri"/>
                <a:sym typeface="Calibri"/>
              </a:rPr>
              <a:t>This flowchart brings us to the most critical safeguard in our framework: the Human-in-the-Loop, or HITL, architecture. This is how we guarantee that the AI remains a compliant advisor rather than a rogue actor. </a:t>
            </a:r>
          </a:p>
          <a:p>
            <a:pPr>
              <a:buFont typeface="Arial" panose="020B0604020202020204" pitchFamily="34" charset="0"/>
              <a:buChar char="•"/>
            </a:pPr>
            <a:r>
              <a:rPr lang="en-US" sz="1200" b="0" i="0" u="none" strike="noStrike" cap="none" dirty="0">
                <a:solidFill>
                  <a:schemeClr val="dk1"/>
                </a:solidFill>
                <a:effectLst/>
                <a:latin typeface="Calibri"/>
                <a:ea typeface="Calibri"/>
                <a:cs typeface="Calibri"/>
                <a:sym typeface="Calibri"/>
              </a:rPr>
              <a:t>Starting at the top left, the Explainability Layer passes its data to the human interface. But it doesn't just hand over a list of numbers; it presents the proposed portfolio weights alongside the underlying evidence and fidelity scores. </a:t>
            </a:r>
          </a:p>
          <a:p>
            <a:pPr>
              <a:buFont typeface="Arial" panose="020B0604020202020204" pitchFamily="34" charset="0"/>
              <a:buChar char="•"/>
            </a:pPr>
            <a:r>
              <a:rPr lang="en-US" sz="1200" b="0" i="0" u="none" strike="noStrike" cap="none" dirty="0">
                <a:solidFill>
                  <a:schemeClr val="dk1"/>
                </a:solidFill>
                <a:effectLst/>
                <a:latin typeface="Calibri"/>
                <a:ea typeface="Calibri"/>
                <a:cs typeface="Calibri"/>
                <a:sym typeface="Calibri"/>
              </a:rPr>
              <a:t>The human user then steps in to review the decision and the rationale, contextualizing it with current risk and sentiment data. This leads to the central decision node.</a:t>
            </a:r>
          </a:p>
          <a:p>
            <a:pPr>
              <a:buFont typeface="Arial" panose="020B0604020202020204" pitchFamily="34" charset="0"/>
              <a:buChar char="•"/>
            </a:pPr>
            <a:r>
              <a:rPr lang="en-US" sz="1200" b="0" i="0" u="none" strike="noStrike" cap="none" dirty="0">
                <a:solidFill>
                  <a:schemeClr val="dk1"/>
                </a:solidFill>
                <a:effectLst/>
                <a:latin typeface="Calibri"/>
                <a:ea typeface="Calibri"/>
                <a:cs typeface="Calibri"/>
                <a:sym typeface="Calibri"/>
              </a:rPr>
              <a:t>If the human is </a:t>
            </a:r>
            <a:r>
              <a:rPr lang="en-US" sz="1200" b="1" i="0" u="none" strike="noStrike" cap="none" dirty="0">
                <a:solidFill>
                  <a:schemeClr val="dk1"/>
                </a:solidFill>
                <a:effectLst/>
                <a:latin typeface="Calibri"/>
                <a:ea typeface="Calibri"/>
                <a:cs typeface="Calibri"/>
                <a:sym typeface="Calibri"/>
              </a:rPr>
              <a:t>Not Satisfied</a:t>
            </a:r>
            <a:r>
              <a:rPr lang="en-US" sz="1200" b="0" i="0" u="none" strike="noStrike" cap="none" dirty="0">
                <a:solidFill>
                  <a:schemeClr val="dk1"/>
                </a:solidFill>
                <a:effectLst/>
                <a:latin typeface="Calibri"/>
                <a:ea typeface="Calibri"/>
                <a:cs typeface="Calibri"/>
                <a:sym typeface="Calibri"/>
              </a:rPr>
              <a:t>, they don't just hit a 'cancel' button. They select a specific action—they can modify the constraints, request clarification, or reject the allocation entirely. This feedback is routed right back to the Orchestrator, which triggers the pipeline to rerun the optimizer and explainability agents, creating a continuous loop until an acceptable, safe recommendation is produced. </a:t>
            </a:r>
          </a:p>
          <a:p>
            <a:pPr>
              <a:buFont typeface="Arial" panose="020B0604020202020204" pitchFamily="34" charset="0"/>
              <a:buChar char="•"/>
            </a:pPr>
            <a:r>
              <a:rPr lang="en-US" sz="1200" b="0" i="0" u="none" strike="noStrike" cap="none" dirty="0">
                <a:solidFill>
                  <a:schemeClr val="dk1"/>
                </a:solidFill>
                <a:effectLst/>
                <a:latin typeface="Calibri"/>
                <a:ea typeface="Calibri"/>
                <a:cs typeface="Calibri"/>
                <a:sym typeface="Calibri"/>
              </a:rPr>
              <a:t>Once the human does </a:t>
            </a:r>
            <a:r>
              <a:rPr lang="en-US" sz="1200" b="1" i="0" u="none" strike="noStrike" cap="none" dirty="0">
                <a:solidFill>
                  <a:schemeClr val="dk1"/>
                </a:solidFill>
                <a:effectLst/>
                <a:latin typeface="Calibri"/>
                <a:ea typeface="Calibri"/>
                <a:cs typeface="Calibri"/>
                <a:sym typeface="Calibri"/>
              </a:rPr>
              <a:t>Approve</a:t>
            </a:r>
            <a:r>
              <a:rPr lang="en-US" sz="1200" b="0" i="0" u="none" strike="noStrike" cap="none" dirty="0">
                <a:solidFill>
                  <a:schemeClr val="dk1"/>
                </a:solidFill>
                <a:effectLst/>
                <a:latin typeface="Calibri"/>
                <a:ea typeface="Calibri"/>
                <a:cs typeface="Calibri"/>
                <a:sym typeface="Calibri"/>
              </a:rPr>
              <a:t> the recommendation, the system immutably logs the decision with a timestamp, the evidence used, and the user's ID to ensure perfect regulatory compliance. </a:t>
            </a:r>
          </a:p>
          <a:p>
            <a:pPr>
              <a:buFont typeface="Arial" panose="020B0604020202020204" pitchFamily="34" charset="0"/>
              <a:buChar char="•"/>
            </a:pPr>
            <a:r>
              <a:rPr lang="en-US" sz="1200" b="0" i="0" u="none" strike="noStrike" cap="none" dirty="0">
                <a:solidFill>
                  <a:schemeClr val="dk1"/>
                </a:solidFill>
                <a:effectLst/>
                <a:latin typeface="Calibri"/>
                <a:ea typeface="Calibri"/>
                <a:cs typeface="Calibri"/>
                <a:sym typeface="Calibri"/>
              </a:rPr>
              <a:t>Finally, those approved weights are sent to our internal execution layer. I want to be very clear here: this execution layer updates our simulated portfolio and diagnostic dashboards. In our system design, we have explicitly removed autonomous 'buy or sell' market actions. The system stops at delivering a fully governed, human-approved portfolio update.</a:t>
            </a:r>
          </a:p>
        </p:txBody>
      </p:sp>
      <p:sp>
        <p:nvSpPr>
          <p:cNvPr id="154" name="Google Shape;154;p11:notes">
            <a:extLst>
              <a:ext uri="{FF2B5EF4-FFF2-40B4-BE49-F238E27FC236}">
                <a16:creationId xmlns:a16="http://schemas.microsoft.com/office/drawing/2014/main" id="{C4781DAA-1D77-3C2C-1138-9417500689E4}"/>
              </a:ext>
            </a:extLst>
          </p:cNvPr>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281267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6A7E3807-9508-EF09-395C-51344AB2A657}"/>
            </a:ext>
          </a:extLst>
        </p:cNvPr>
        <p:cNvGrpSpPr/>
        <p:nvPr/>
      </p:nvGrpSpPr>
      <p:grpSpPr>
        <a:xfrm>
          <a:off x="0" y="0"/>
          <a:ext cx="0" cy="0"/>
          <a:chOff x="0" y="0"/>
          <a:chExt cx="0" cy="0"/>
        </a:xfrm>
      </p:grpSpPr>
      <p:sp>
        <p:nvSpPr>
          <p:cNvPr id="99" name="Google Shape;99;p3:notes">
            <a:extLst>
              <a:ext uri="{FF2B5EF4-FFF2-40B4-BE49-F238E27FC236}">
                <a16:creationId xmlns:a16="http://schemas.microsoft.com/office/drawing/2014/main" id="{309030AC-706F-6F30-2EE3-D037E1BF59EA}"/>
              </a:ext>
            </a:extLst>
          </p:cNvPr>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3:notes">
            <a:extLst>
              <a:ext uri="{FF2B5EF4-FFF2-40B4-BE49-F238E27FC236}">
                <a16:creationId xmlns:a16="http://schemas.microsoft.com/office/drawing/2014/main" id="{3CF6A14A-2B97-317B-3840-F7792E2D08A7}"/>
              </a:ext>
            </a:extLst>
          </p:cNvPr>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381040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BAA8CBCB-C601-1616-9608-36D8A99AE287}"/>
            </a:ext>
          </a:extLst>
        </p:cNvPr>
        <p:cNvGrpSpPr/>
        <p:nvPr/>
      </p:nvGrpSpPr>
      <p:grpSpPr>
        <a:xfrm>
          <a:off x="0" y="0"/>
          <a:ext cx="0" cy="0"/>
          <a:chOff x="0" y="0"/>
          <a:chExt cx="0" cy="0"/>
        </a:xfrm>
      </p:grpSpPr>
      <p:sp>
        <p:nvSpPr>
          <p:cNvPr id="99" name="Google Shape;99;p3:notes">
            <a:extLst>
              <a:ext uri="{FF2B5EF4-FFF2-40B4-BE49-F238E27FC236}">
                <a16:creationId xmlns:a16="http://schemas.microsoft.com/office/drawing/2014/main" id="{BB01D7E3-7E6C-CB41-FA61-00973FF070A6}"/>
              </a:ext>
            </a:extLst>
          </p:cNvPr>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3:notes">
            <a:extLst>
              <a:ext uri="{FF2B5EF4-FFF2-40B4-BE49-F238E27FC236}">
                <a16:creationId xmlns:a16="http://schemas.microsoft.com/office/drawing/2014/main" id="{C2035FF8-6E7B-4D69-8338-3FF44C52901D}"/>
              </a:ext>
            </a:extLst>
          </p:cNvPr>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726104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9347EBC3-DE82-9653-FCD0-381799D5B402}"/>
            </a:ext>
          </a:extLst>
        </p:cNvPr>
        <p:cNvGrpSpPr/>
        <p:nvPr/>
      </p:nvGrpSpPr>
      <p:grpSpPr>
        <a:xfrm>
          <a:off x="0" y="0"/>
          <a:ext cx="0" cy="0"/>
          <a:chOff x="0" y="0"/>
          <a:chExt cx="0" cy="0"/>
        </a:xfrm>
      </p:grpSpPr>
      <p:sp>
        <p:nvSpPr>
          <p:cNvPr id="99" name="Google Shape;99;p3:notes">
            <a:extLst>
              <a:ext uri="{FF2B5EF4-FFF2-40B4-BE49-F238E27FC236}">
                <a16:creationId xmlns:a16="http://schemas.microsoft.com/office/drawing/2014/main" id="{AFD68AAA-3B32-4C74-5FC0-230328D05A35}"/>
              </a:ext>
            </a:extLst>
          </p:cNvPr>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3:notes">
            <a:extLst>
              <a:ext uri="{FF2B5EF4-FFF2-40B4-BE49-F238E27FC236}">
                <a16:creationId xmlns:a16="http://schemas.microsoft.com/office/drawing/2014/main" id="{8D4FABBF-195A-15A0-D96D-851A7D0ED670}"/>
              </a:ext>
            </a:extLst>
          </p:cNvPr>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816749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D1F06C0C-06D7-3FC5-B23B-C163A92A827C}"/>
            </a:ext>
          </a:extLst>
        </p:cNvPr>
        <p:cNvGrpSpPr/>
        <p:nvPr/>
      </p:nvGrpSpPr>
      <p:grpSpPr>
        <a:xfrm>
          <a:off x="0" y="0"/>
          <a:ext cx="0" cy="0"/>
          <a:chOff x="0" y="0"/>
          <a:chExt cx="0" cy="0"/>
        </a:xfrm>
      </p:grpSpPr>
      <p:sp>
        <p:nvSpPr>
          <p:cNvPr id="99" name="Google Shape;99;p3:notes">
            <a:extLst>
              <a:ext uri="{FF2B5EF4-FFF2-40B4-BE49-F238E27FC236}">
                <a16:creationId xmlns:a16="http://schemas.microsoft.com/office/drawing/2014/main" id="{05B66059-72E9-E6E7-0A2C-11B6BD885246}"/>
              </a:ext>
            </a:extLst>
          </p:cNvPr>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3:notes">
            <a:extLst>
              <a:ext uri="{FF2B5EF4-FFF2-40B4-BE49-F238E27FC236}">
                <a16:creationId xmlns:a16="http://schemas.microsoft.com/office/drawing/2014/main" id="{282005C7-DC47-C850-33ED-B0F638D32FD9}"/>
              </a:ext>
            </a:extLst>
          </p:cNvPr>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518988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7F1BC8A0-0476-C3DC-CC44-72A74DB6B603}"/>
            </a:ext>
          </a:extLst>
        </p:cNvPr>
        <p:cNvGrpSpPr/>
        <p:nvPr/>
      </p:nvGrpSpPr>
      <p:grpSpPr>
        <a:xfrm>
          <a:off x="0" y="0"/>
          <a:ext cx="0" cy="0"/>
          <a:chOff x="0" y="0"/>
          <a:chExt cx="0" cy="0"/>
        </a:xfrm>
      </p:grpSpPr>
      <p:sp>
        <p:nvSpPr>
          <p:cNvPr id="99" name="Google Shape;99;p3:notes">
            <a:extLst>
              <a:ext uri="{FF2B5EF4-FFF2-40B4-BE49-F238E27FC236}">
                <a16:creationId xmlns:a16="http://schemas.microsoft.com/office/drawing/2014/main" id="{6E2FBBA9-E2FE-03D3-66A7-0C3D5F4EB2E1}"/>
              </a:ext>
            </a:extLst>
          </p:cNvPr>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3:notes">
            <a:extLst>
              <a:ext uri="{FF2B5EF4-FFF2-40B4-BE49-F238E27FC236}">
                <a16:creationId xmlns:a16="http://schemas.microsoft.com/office/drawing/2014/main" id="{BAF1C5EF-93E8-90C5-7072-8DD97C018FA4}"/>
              </a:ext>
            </a:extLst>
          </p:cNvPr>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789645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7: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p17: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a:extLst>
            <a:ext uri="{FF2B5EF4-FFF2-40B4-BE49-F238E27FC236}">
              <a16:creationId xmlns:a16="http://schemas.microsoft.com/office/drawing/2014/main" id="{17FAB4C4-9411-AEC9-D0FE-347BF1DB106E}"/>
            </a:ext>
          </a:extLst>
        </p:cNvPr>
        <p:cNvGrpSpPr/>
        <p:nvPr/>
      </p:nvGrpSpPr>
      <p:grpSpPr>
        <a:xfrm>
          <a:off x="0" y="0"/>
          <a:ext cx="0" cy="0"/>
          <a:chOff x="0" y="0"/>
          <a:chExt cx="0" cy="0"/>
        </a:xfrm>
      </p:grpSpPr>
      <p:sp>
        <p:nvSpPr>
          <p:cNvPr id="193" name="Google Shape;193;p17:notes">
            <a:extLst>
              <a:ext uri="{FF2B5EF4-FFF2-40B4-BE49-F238E27FC236}">
                <a16:creationId xmlns:a16="http://schemas.microsoft.com/office/drawing/2014/main" id="{22C84DD2-02DB-F641-84EB-FAB1C599A87C}"/>
              </a:ext>
            </a:extLst>
          </p:cNvPr>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p17:notes">
            <a:extLst>
              <a:ext uri="{FF2B5EF4-FFF2-40B4-BE49-F238E27FC236}">
                <a16:creationId xmlns:a16="http://schemas.microsoft.com/office/drawing/2014/main" id="{0893FBE5-9D2E-E6EF-1054-45994CB9C6B0}"/>
              </a:ext>
            </a:extLst>
          </p:cNvPr>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247625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8: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0" name="Google Shape;200;p18: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9: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 name="Google Shape;206;p19: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4"/>
        <p:cNvGrpSpPr/>
        <p:nvPr/>
      </p:nvGrpSpPr>
      <p:grpSpPr>
        <a:xfrm>
          <a:off x="0" y="0"/>
          <a:ext cx="0" cy="0"/>
          <a:chOff x="0" y="0"/>
          <a:chExt cx="0" cy="0"/>
        </a:xfrm>
      </p:grpSpPr>
      <p:sp>
        <p:nvSpPr>
          <p:cNvPr id="25" name="Google Shape;25;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7" name="Google Shape;27;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8"/>
        <p:cNvGrpSpPr/>
        <p:nvPr/>
      </p:nvGrpSpPr>
      <p:grpSpPr>
        <a:xfrm>
          <a:off x="0" y="0"/>
          <a:ext cx="0" cy="0"/>
          <a:chOff x="0" y="0"/>
          <a:chExt cx="0" cy="0"/>
        </a:xfrm>
      </p:grpSpPr>
      <p:sp>
        <p:nvSpPr>
          <p:cNvPr id="29" name="Google Shape;29;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0" name="Google Shape;30;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1" name="Google Shape;31;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
        <p:nvSpPr>
          <p:cNvPr id="32" name="Google Shape;32;p22"/>
          <p:cNvSpPr txBox="1">
            <a:spLocks noGrp="1"/>
          </p:cNvSpPr>
          <p:nvPr>
            <p:ph type="title"/>
          </p:nvPr>
        </p:nvSpPr>
        <p:spPr>
          <a:xfrm>
            <a:off x="1089764" y="214816"/>
            <a:ext cx="9870510" cy="874951"/>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rgbClr val="930B0B"/>
              </a:buClr>
              <a:buSzPts val="3600"/>
              <a:buFont typeface="Times New Roman"/>
              <a:buNone/>
              <a:defRPr sz="3600" b="0" i="0" u="none" strike="noStrike" cap="none">
                <a:solidFill>
                  <a:srgbClr val="930B0B"/>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3" name="Google Shape;33;p22"/>
          <p:cNvSpPr txBox="1">
            <a:spLocks noGrp="1"/>
          </p:cNvSpPr>
          <p:nvPr>
            <p:ph type="body" idx="1"/>
          </p:nvPr>
        </p:nvSpPr>
        <p:spPr>
          <a:xfrm>
            <a:off x="933338" y="1324628"/>
            <a:ext cx="10972800" cy="4525963"/>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90000"/>
              </a:lnSpc>
              <a:spcBef>
                <a:spcPts val="500"/>
              </a:spcBef>
              <a:spcAft>
                <a:spcPts val="0"/>
              </a:spcAft>
              <a:buClr>
                <a:schemeClr val="dk1"/>
              </a:buClr>
              <a:buSzPts val="2400"/>
              <a:buFont typeface="Courier New"/>
              <a:buChar char="o"/>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90000"/>
              </a:lnSpc>
              <a:spcBef>
                <a:spcPts val="500"/>
              </a:spcBef>
              <a:spcAft>
                <a:spcPts val="0"/>
              </a:spcAft>
              <a:buClr>
                <a:schemeClr val="dk1"/>
              </a:buClr>
              <a:buSzPts val="2000"/>
              <a:buFont typeface="Calibri"/>
              <a:buChar char="−"/>
              <a:defRPr sz="2000" b="0" i="0" u="none" strike="noStrike" cap="none">
                <a:solidFill>
                  <a:schemeClr val="dk1"/>
                </a:solidFill>
                <a:latin typeface="Times New Roman"/>
                <a:ea typeface="Times New Roman"/>
                <a:cs typeface="Times New Roman"/>
                <a:sym typeface="Times New Roman"/>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4pPr>
            <a:lvl5pPr marL="2286000" marR="0" lvl="4"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Two Content" type="twoObj">
  <p:cSld name="TWO_OBJECTS">
    <p:spTree>
      <p:nvGrpSpPr>
        <p:cNvPr id="1" name="Shape 34"/>
        <p:cNvGrpSpPr/>
        <p:nvPr/>
      </p:nvGrpSpPr>
      <p:grpSpPr>
        <a:xfrm>
          <a:off x="0" y="0"/>
          <a:ext cx="0" cy="0"/>
          <a:chOff x="0" y="0"/>
          <a:chExt cx="0" cy="0"/>
        </a:xfrm>
      </p:grpSpPr>
      <p:sp>
        <p:nvSpPr>
          <p:cNvPr id="35" name="Google Shape;35;p23"/>
          <p:cNvSpPr txBox="1">
            <a:spLocks noGrp="1"/>
          </p:cNvSpPr>
          <p:nvPr>
            <p:ph type="title"/>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6" name="Google Shape;36;p23"/>
          <p:cNvSpPr txBox="1">
            <a:spLocks noGrp="1"/>
          </p:cNvSpPr>
          <p:nvPr>
            <p:ph type="body" idx="1"/>
          </p:nvPr>
        </p:nvSpPr>
        <p:spPr>
          <a:xfrm>
            <a:off x="609600" y="1600201"/>
            <a:ext cx="5384800" cy="4525963"/>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7" name="Google Shape;37;p23"/>
          <p:cNvSpPr txBox="1">
            <a:spLocks noGrp="1"/>
          </p:cNvSpPr>
          <p:nvPr>
            <p:ph type="body" idx="2"/>
          </p:nvPr>
        </p:nvSpPr>
        <p:spPr>
          <a:xfrm>
            <a:off x="6197600" y="1600201"/>
            <a:ext cx="5384800" cy="4525963"/>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8" name="Google Shape;38;p23"/>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23"/>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0" name="Google Shape;40;p23"/>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41"/>
        <p:cNvGrpSpPr/>
        <p:nvPr/>
      </p:nvGrpSpPr>
      <p:grpSpPr>
        <a:xfrm>
          <a:off x="0" y="0"/>
          <a:ext cx="0" cy="0"/>
          <a:chOff x="0" y="0"/>
          <a:chExt cx="0" cy="0"/>
        </a:xfrm>
      </p:grpSpPr>
      <p:sp>
        <p:nvSpPr>
          <p:cNvPr id="42" name="Google Shape;42;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3" name="Google Shape;43;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4" name="Google Shape;44;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
        <p:nvSpPr>
          <p:cNvPr id="45" name="Google Shape;45;p24"/>
          <p:cNvSpPr txBox="1">
            <a:spLocks noGrp="1"/>
          </p:cNvSpPr>
          <p:nvPr>
            <p:ph type="body" idx="1"/>
          </p:nvPr>
        </p:nvSpPr>
        <p:spPr>
          <a:xfrm>
            <a:off x="971977" y="1324628"/>
            <a:ext cx="10972800" cy="4525963"/>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90000"/>
              </a:lnSpc>
              <a:spcBef>
                <a:spcPts val="500"/>
              </a:spcBef>
              <a:spcAft>
                <a:spcPts val="0"/>
              </a:spcAft>
              <a:buClr>
                <a:schemeClr val="dk1"/>
              </a:buClr>
              <a:buSzPts val="2400"/>
              <a:buFont typeface="Courier New"/>
              <a:buChar char="o"/>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90000"/>
              </a:lnSpc>
              <a:spcBef>
                <a:spcPts val="500"/>
              </a:spcBef>
              <a:spcAft>
                <a:spcPts val="0"/>
              </a:spcAft>
              <a:buClr>
                <a:schemeClr val="dk1"/>
              </a:buClr>
              <a:buSzPts val="2000"/>
              <a:buFont typeface="Calibri"/>
              <a:buChar char="−"/>
              <a:defRPr sz="2000" b="0" i="0" u="none" strike="noStrike" cap="none">
                <a:solidFill>
                  <a:schemeClr val="dk1"/>
                </a:solidFill>
                <a:latin typeface="Times New Roman"/>
                <a:ea typeface="Times New Roman"/>
                <a:cs typeface="Times New Roman"/>
                <a:sym typeface="Times New Roman"/>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4pPr>
            <a:lvl5pPr marL="2286000" marR="0" lvl="4"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6"/>
        <p:cNvGrpSpPr/>
        <p:nvPr/>
      </p:nvGrpSpPr>
      <p:grpSpPr>
        <a:xfrm>
          <a:off x="0" y="0"/>
          <a:ext cx="0" cy="0"/>
          <a:chOff x="0" y="0"/>
          <a:chExt cx="0" cy="0"/>
        </a:xfrm>
      </p:grpSpPr>
      <p:sp>
        <p:nvSpPr>
          <p:cNvPr id="47" name="Google Shape;47;p2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8" name="Google Shape;48;p25"/>
          <p:cNvSpPr>
            <a:spLocks noGrp="1"/>
          </p:cNvSpPr>
          <p:nvPr>
            <p:ph type="pic" idx="2"/>
          </p:nvPr>
        </p:nvSpPr>
        <p:spPr>
          <a:xfrm>
            <a:off x="5183188" y="987425"/>
            <a:ext cx="6172200" cy="4873625"/>
          </a:xfrm>
          <a:prstGeom prst="rect">
            <a:avLst/>
          </a:prstGeom>
          <a:noFill/>
          <a:ln>
            <a:noFill/>
          </a:ln>
        </p:spPr>
      </p:sp>
      <p:sp>
        <p:nvSpPr>
          <p:cNvPr id="49" name="Google Shape;49;p2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50" name="Google Shape;50;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1" name="Google Shape;51;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2_Custom Layout">
  <p:cSld name="2_Custom Layout">
    <p:spTree>
      <p:nvGrpSpPr>
        <p:cNvPr id="1" name="Shape 53"/>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4"/>
        <p:cNvGrpSpPr/>
        <p:nvPr/>
      </p:nvGrpSpPr>
      <p:grpSpPr>
        <a:xfrm>
          <a:off x="0" y="0"/>
          <a:ext cx="0" cy="0"/>
          <a:chOff x="0" y="0"/>
          <a:chExt cx="0" cy="0"/>
        </a:xfrm>
      </p:grpSpPr>
      <p:sp>
        <p:nvSpPr>
          <p:cNvPr id="55" name="Google Shape;55;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6" name="Google Shape;56;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7" name="Google Shape;57;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8" name="Google Shape;58;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9"/>
        <p:cNvGrpSpPr/>
        <p:nvPr/>
      </p:nvGrpSpPr>
      <p:grpSpPr>
        <a:xfrm>
          <a:off x="0" y="0"/>
          <a:ext cx="0" cy="0"/>
          <a:chOff x="0" y="0"/>
          <a:chExt cx="0" cy="0"/>
        </a:xfrm>
      </p:grpSpPr>
      <p:sp>
        <p:nvSpPr>
          <p:cNvPr id="60" name="Google Shape;60;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61" name="Google Shape;61;p2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2" name="Google Shape;62;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3" name="Google Shape;63;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5"/>
        <p:cNvGrpSpPr/>
        <p:nvPr/>
      </p:nvGrpSpPr>
      <p:grpSpPr>
        <a:xfrm>
          <a:off x="0" y="0"/>
          <a:ext cx="0" cy="0"/>
          <a:chOff x="0" y="0"/>
          <a:chExt cx="0" cy="0"/>
        </a:xfrm>
      </p:grpSpPr>
      <p:sp>
        <p:nvSpPr>
          <p:cNvPr id="66" name="Google Shape;66;p2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67" name="Google Shape;67;p2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8" name="Google Shape;6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9" name="Google Shape;6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71"/>
        <p:cNvGrpSpPr/>
        <p:nvPr/>
      </p:nvGrpSpPr>
      <p:grpSpPr>
        <a:xfrm>
          <a:off x="0" y="0"/>
          <a:ext cx="0" cy="0"/>
          <a:chOff x="0" y="0"/>
          <a:chExt cx="0" cy="0"/>
        </a:xfrm>
      </p:grpSpPr>
      <p:sp>
        <p:nvSpPr>
          <p:cNvPr id="72" name="Google Shape;72;p30"/>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73"/>
        <p:cNvGrpSpPr/>
        <p:nvPr/>
      </p:nvGrpSpPr>
      <p:grpSpPr>
        <a:xfrm>
          <a:off x="0" y="0"/>
          <a:ext cx="0" cy="0"/>
          <a:chOff x="0" y="0"/>
          <a:chExt cx="0" cy="0"/>
        </a:xfrm>
      </p:grpSpPr>
      <p:sp>
        <p:nvSpPr>
          <p:cNvPr id="74" name="Google Shape;74;p31"/>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and Content" type="obj">
  <p:cSld name="OBJECT">
    <p:spTree>
      <p:nvGrpSpPr>
        <p:cNvPr id="1" name="Shape 75"/>
        <p:cNvGrpSpPr/>
        <p:nvPr/>
      </p:nvGrpSpPr>
      <p:grpSpPr>
        <a:xfrm>
          <a:off x="0" y="0"/>
          <a:ext cx="0" cy="0"/>
          <a:chOff x="0" y="0"/>
          <a:chExt cx="0" cy="0"/>
        </a:xfrm>
      </p:grpSpPr>
      <p:sp>
        <p:nvSpPr>
          <p:cNvPr id="76" name="Google Shape;76;p32"/>
          <p:cNvSpPr txBox="1">
            <a:spLocks noGrp="1"/>
          </p:cNvSpPr>
          <p:nvPr>
            <p:ph type="title"/>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7" name="Google Shape;77;p32"/>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8" name="Google Shape;78;p32"/>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79" name="Google Shape;79;p32"/>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4.jpg"/><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0"/>
          <p:cNvSpPr txBox="1"/>
          <p:nvPr/>
        </p:nvSpPr>
        <p:spPr>
          <a:xfrm>
            <a:off x="1531257" y="294320"/>
            <a:ext cx="9129486" cy="73796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4400"/>
              <a:buFont typeface="Calibri"/>
              <a:buNone/>
            </a:pPr>
            <a:endParaRPr sz="4400" b="0" i="0" u="none" strike="noStrike" cap="none">
              <a:solidFill>
                <a:schemeClr val="dk1"/>
              </a:solidFill>
              <a:latin typeface="Calibri"/>
              <a:ea typeface="Calibri"/>
              <a:cs typeface="Calibri"/>
              <a:sym typeface="Calibri"/>
            </a:endParaRPr>
          </a:p>
        </p:txBody>
      </p:sp>
      <p:sp>
        <p:nvSpPr>
          <p:cNvPr id="11" name="Google Shape;11;p20"/>
          <p:cNvSpPr txBox="1"/>
          <p:nvPr/>
        </p:nvSpPr>
        <p:spPr>
          <a:xfrm>
            <a:off x="432520" y="6373653"/>
            <a:ext cx="1941286" cy="365125"/>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lt1"/>
                </a:solidFill>
                <a:latin typeface="Times New Roman"/>
                <a:ea typeface="Times New Roman"/>
                <a:cs typeface="Times New Roman"/>
                <a:sym typeface="Times New Roman"/>
              </a:rPr>
              <a:t>3/1/2021</a:t>
            </a:r>
            <a:endParaRPr sz="1400" b="1" i="0" u="none" strike="noStrike" cap="none">
              <a:solidFill>
                <a:schemeClr val="lt1"/>
              </a:solidFill>
              <a:latin typeface="Times New Roman"/>
              <a:ea typeface="Times New Roman"/>
              <a:cs typeface="Times New Roman"/>
              <a:sym typeface="Times New Roman"/>
            </a:endParaRPr>
          </a:p>
        </p:txBody>
      </p:sp>
      <p:sp>
        <p:nvSpPr>
          <p:cNvPr id="12" name="Google Shape;12;p20"/>
          <p:cNvSpPr txBox="1"/>
          <p:nvPr/>
        </p:nvSpPr>
        <p:spPr>
          <a:xfrm>
            <a:off x="10986931" y="6347050"/>
            <a:ext cx="801914" cy="365125"/>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fld id="{00000000-1234-1234-1234-123412341234}" type="slidenum">
              <a:rPr lang="en-US" sz="1400" b="1" i="0" u="none" strike="noStrike" cap="none">
                <a:solidFill>
                  <a:schemeClr val="lt1"/>
                </a:solidFill>
                <a:latin typeface="Times New Roman"/>
                <a:ea typeface="Times New Roman"/>
                <a:cs typeface="Times New Roman"/>
                <a:sym typeface="Times New Roman"/>
              </a:rPr>
              <a:t>‹#›</a:t>
            </a:fld>
            <a:endParaRPr sz="1400" b="1" i="0" u="none" strike="noStrike" cap="none">
              <a:solidFill>
                <a:schemeClr val="lt1"/>
              </a:solidFill>
              <a:latin typeface="Times New Roman"/>
              <a:ea typeface="Times New Roman"/>
              <a:cs typeface="Times New Roman"/>
              <a:sym typeface="Times New Roman"/>
            </a:endParaRPr>
          </a:p>
        </p:txBody>
      </p:sp>
      <p:cxnSp>
        <p:nvCxnSpPr>
          <p:cNvPr id="13" name="Google Shape;13;p20"/>
          <p:cNvCxnSpPr/>
          <p:nvPr/>
        </p:nvCxnSpPr>
        <p:spPr>
          <a:xfrm>
            <a:off x="231906" y="524442"/>
            <a:ext cx="20026" cy="5873873"/>
          </a:xfrm>
          <a:prstGeom prst="straightConnector1">
            <a:avLst/>
          </a:prstGeom>
          <a:noFill/>
          <a:ln w="9525" cap="flat" cmpd="sng">
            <a:solidFill>
              <a:schemeClr val="accent2"/>
            </a:solidFill>
            <a:prstDash val="solid"/>
            <a:miter lim="800000"/>
            <a:headEnd type="none" w="sm" len="sm"/>
            <a:tailEnd type="none" w="sm" len="sm"/>
          </a:ln>
        </p:spPr>
      </p:cxnSp>
      <p:cxnSp>
        <p:nvCxnSpPr>
          <p:cNvPr id="14" name="Google Shape;14;p20"/>
          <p:cNvCxnSpPr/>
          <p:nvPr/>
        </p:nvCxnSpPr>
        <p:spPr>
          <a:xfrm>
            <a:off x="11945042" y="135448"/>
            <a:ext cx="19165" cy="6100958"/>
          </a:xfrm>
          <a:prstGeom prst="straightConnector1">
            <a:avLst/>
          </a:prstGeom>
          <a:noFill/>
          <a:ln w="9525" cap="flat" cmpd="sng">
            <a:solidFill>
              <a:schemeClr val="accent2"/>
            </a:solidFill>
            <a:prstDash val="solid"/>
            <a:miter lim="800000"/>
            <a:headEnd type="none" w="sm" len="sm"/>
            <a:tailEnd type="none" w="sm" len="sm"/>
          </a:ln>
        </p:spPr>
      </p:cxnSp>
      <p:cxnSp>
        <p:nvCxnSpPr>
          <p:cNvPr id="15" name="Google Shape;15;p20"/>
          <p:cNvCxnSpPr/>
          <p:nvPr/>
        </p:nvCxnSpPr>
        <p:spPr>
          <a:xfrm>
            <a:off x="572366" y="135448"/>
            <a:ext cx="11382258" cy="0"/>
          </a:xfrm>
          <a:prstGeom prst="straightConnector1">
            <a:avLst/>
          </a:prstGeom>
          <a:noFill/>
          <a:ln w="9525" cap="flat" cmpd="sng">
            <a:solidFill>
              <a:schemeClr val="accent2"/>
            </a:solidFill>
            <a:prstDash val="solid"/>
            <a:miter lim="800000"/>
            <a:headEnd type="none" w="sm" len="sm"/>
            <a:tailEnd type="none" w="sm" len="sm"/>
          </a:ln>
        </p:spPr>
      </p:cxnSp>
      <p:cxnSp>
        <p:nvCxnSpPr>
          <p:cNvPr id="16" name="Google Shape;16;p20"/>
          <p:cNvCxnSpPr/>
          <p:nvPr/>
        </p:nvCxnSpPr>
        <p:spPr>
          <a:xfrm>
            <a:off x="251932" y="6398315"/>
            <a:ext cx="320400" cy="293100"/>
          </a:xfrm>
          <a:prstGeom prst="curvedConnector3">
            <a:avLst>
              <a:gd name="adj1" fmla="val 50000"/>
            </a:avLst>
          </a:prstGeom>
          <a:noFill/>
          <a:ln w="9525" cap="flat" cmpd="sng">
            <a:solidFill>
              <a:schemeClr val="accent2"/>
            </a:solidFill>
            <a:prstDash val="solid"/>
            <a:miter lim="800000"/>
            <a:headEnd type="none" w="sm" len="sm"/>
            <a:tailEnd type="none" w="sm" len="sm"/>
          </a:ln>
        </p:spPr>
      </p:cxnSp>
      <p:cxnSp>
        <p:nvCxnSpPr>
          <p:cNvPr id="17" name="Google Shape;17;p20"/>
          <p:cNvCxnSpPr/>
          <p:nvPr/>
        </p:nvCxnSpPr>
        <p:spPr>
          <a:xfrm rot="5400000">
            <a:off x="11558309" y="6285306"/>
            <a:ext cx="454800" cy="357000"/>
          </a:xfrm>
          <a:prstGeom prst="curvedConnector3">
            <a:avLst>
              <a:gd name="adj1" fmla="val 50000"/>
            </a:avLst>
          </a:prstGeom>
          <a:noFill/>
          <a:ln w="9525" cap="flat" cmpd="sng">
            <a:solidFill>
              <a:schemeClr val="accent2"/>
            </a:solidFill>
            <a:prstDash val="solid"/>
            <a:miter lim="800000"/>
            <a:headEnd type="none" w="sm" len="sm"/>
            <a:tailEnd type="none" w="sm" len="sm"/>
          </a:ln>
        </p:spPr>
      </p:cxnSp>
      <p:pic>
        <p:nvPicPr>
          <p:cNvPr id="18" name="Google Shape;18;p20"/>
          <p:cNvPicPr preferRelativeResize="0"/>
          <p:nvPr/>
        </p:nvPicPr>
        <p:blipFill rotWithShape="1">
          <a:blip r:embed="rId14">
            <a:alphaModFix/>
          </a:blip>
          <a:srcRect/>
          <a:stretch/>
        </p:blipFill>
        <p:spPr>
          <a:xfrm>
            <a:off x="605" y="135448"/>
            <a:ext cx="566958" cy="6722552"/>
          </a:xfrm>
          <a:prstGeom prst="rect">
            <a:avLst/>
          </a:prstGeom>
          <a:noFill/>
          <a:ln>
            <a:noFill/>
          </a:ln>
        </p:spPr>
      </p:pic>
      <p:pic>
        <p:nvPicPr>
          <p:cNvPr id="19" name="Google Shape;19;p20"/>
          <p:cNvPicPr preferRelativeResize="0"/>
          <p:nvPr/>
        </p:nvPicPr>
        <p:blipFill rotWithShape="1">
          <a:blip r:embed="rId15">
            <a:alphaModFix/>
          </a:blip>
          <a:srcRect/>
          <a:stretch/>
        </p:blipFill>
        <p:spPr>
          <a:xfrm>
            <a:off x="572783" y="135448"/>
            <a:ext cx="204457" cy="5305232"/>
          </a:xfrm>
          <a:prstGeom prst="rect">
            <a:avLst/>
          </a:prstGeom>
          <a:noFill/>
          <a:ln>
            <a:noFill/>
          </a:ln>
        </p:spPr>
      </p:pic>
      <p:pic>
        <p:nvPicPr>
          <p:cNvPr id="20" name="Google Shape;20;p20" descr="A close up of a sign&#10;&#10;Description automatically generated"/>
          <p:cNvPicPr preferRelativeResize="0"/>
          <p:nvPr/>
        </p:nvPicPr>
        <p:blipFill rotWithShape="1">
          <a:blip r:embed="rId16">
            <a:alphaModFix/>
          </a:blip>
          <a:srcRect/>
          <a:stretch/>
        </p:blipFill>
        <p:spPr>
          <a:xfrm>
            <a:off x="11095526" y="6043824"/>
            <a:ext cx="868683" cy="647487"/>
          </a:xfrm>
          <a:prstGeom prst="rect">
            <a:avLst/>
          </a:prstGeom>
          <a:noFill/>
          <a:ln>
            <a:noFill/>
          </a:ln>
        </p:spPr>
      </p:pic>
      <p:pic>
        <p:nvPicPr>
          <p:cNvPr id="21" name="Google Shape;21;p20" descr="A picture containing drawing&#10;&#10;Description automatically generated"/>
          <p:cNvPicPr preferRelativeResize="0"/>
          <p:nvPr/>
        </p:nvPicPr>
        <p:blipFill rotWithShape="1">
          <a:blip r:embed="rId17">
            <a:alphaModFix/>
          </a:blip>
          <a:srcRect/>
          <a:stretch/>
        </p:blipFill>
        <p:spPr>
          <a:xfrm>
            <a:off x="605" y="6214968"/>
            <a:ext cx="2655568" cy="663892"/>
          </a:xfrm>
          <a:prstGeom prst="rect">
            <a:avLst/>
          </a:prstGeom>
          <a:noFill/>
          <a:ln>
            <a:noFill/>
          </a:ln>
        </p:spPr>
      </p:pic>
      <p:pic>
        <p:nvPicPr>
          <p:cNvPr id="22" name="Google Shape;22;p20"/>
          <p:cNvPicPr preferRelativeResize="0"/>
          <p:nvPr/>
        </p:nvPicPr>
        <p:blipFill rotWithShape="1">
          <a:blip r:embed="rId14">
            <a:alphaModFix/>
          </a:blip>
          <a:srcRect/>
          <a:stretch/>
        </p:blipFill>
        <p:spPr>
          <a:xfrm rot="5400000">
            <a:off x="6714494" y="2503271"/>
            <a:ext cx="385984" cy="8376080"/>
          </a:xfrm>
          <a:prstGeom prst="rect">
            <a:avLst/>
          </a:prstGeom>
          <a:noFill/>
          <a:ln>
            <a:noFill/>
          </a:ln>
        </p:spPr>
      </p:pic>
      <p:pic>
        <p:nvPicPr>
          <p:cNvPr id="23" name="Google Shape;23;p20"/>
          <p:cNvPicPr preferRelativeResize="0"/>
          <p:nvPr/>
        </p:nvPicPr>
        <p:blipFill rotWithShape="1">
          <a:blip r:embed="rId15">
            <a:alphaModFix/>
          </a:blip>
          <a:srcRect/>
          <a:stretch/>
        </p:blipFill>
        <p:spPr>
          <a:xfrm rot="5400000">
            <a:off x="6820534" y="2236938"/>
            <a:ext cx="173904" cy="837607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p:nvPr/>
        </p:nvSpPr>
        <p:spPr>
          <a:xfrm>
            <a:off x="2779059" y="2277035"/>
            <a:ext cx="7548282"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5" name="Google Shape;85;p1"/>
          <p:cNvSpPr txBox="1"/>
          <p:nvPr/>
        </p:nvSpPr>
        <p:spPr>
          <a:xfrm>
            <a:off x="994404" y="731041"/>
            <a:ext cx="10191942" cy="3173034"/>
          </a:xfrm>
          <a:prstGeom prst="rect">
            <a:avLst/>
          </a:prstGeom>
          <a:noFill/>
          <a:ln>
            <a:noFill/>
          </a:ln>
        </p:spPr>
        <p:txBody>
          <a:bodyPr spcFirstLastPara="1" wrap="square" lIns="91425" tIns="45700" rIns="91425" bIns="45700" anchor="b" anchorCtr="0">
            <a:normAutofit/>
          </a:bodyPr>
          <a:lstStyle/>
          <a:p>
            <a:pPr marL="0" marR="0" lvl="0" indent="0" algn="ctr" rtl="0">
              <a:lnSpc>
                <a:spcPct val="100000"/>
              </a:lnSpc>
              <a:spcBef>
                <a:spcPts val="0"/>
              </a:spcBef>
              <a:spcAft>
                <a:spcPts val="0"/>
              </a:spcAft>
              <a:buClr>
                <a:srgbClr val="FFFFFF"/>
              </a:buClr>
              <a:buSzPts val="6600"/>
              <a:buFont typeface="Arial"/>
              <a:buNone/>
            </a:pPr>
            <a:r>
              <a:rPr lang="en-US" sz="6600" b="0" i="0" u="none" strike="noStrike" cap="none">
                <a:solidFill>
                  <a:srgbClr val="FFFFFF"/>
                </a:solidFill>
                <a:latin typeface="Rockwell"/>
                <a:ea typeface="Rockwell"/>
                <a:cs typeface="Rockwell"/>
                <a:sym typeface="Rockwell"/>
              </a:rPr>
              <a:t>Indian Sign Language Recognition Using Deep Learning</a:t>
            </a:r>
            <a:endParaRPr sz="6600" b="0" i="0" u="none" strike="noStrike" cap="none">
              <a:solidFill>
                <a:srgbClr val="FFFFFF"/>
              </a:solidFill>
              <a:latin typeface="Rockwell"/>
              <a:ea typeface="Rockwell"/>
              <a:cs typeface="Rockwell"/>
              <a:sym typeface="Rockwell"/>
            </a:endParaRPr>
          </a:p>
        </p:txBody>
      </p:sp>
      <p:sp>
        <p:nvSpPr>
          <p:cNvPr id="86" name="Google Shape;86;p1"/>
          <p:cNvSpPr txBox="1"/>
          <p:nvPr/>
        </p:nvSpPr>
        <p:spPr>
          <a:xfrm>
            <a:off x="1524000" y="4069354"/>
            <a:ext cx="9144000" cy="1265285"/>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rgbClr val="7162FE"/>
              </a:buClr>
              <a:buSzPts val="2000"/>
              <a:buFont typeface="Avenir"/>
              <a:buNone/>
            </a:pPr>
            <a:r>
              <a:rPr lang="en-US" sz="2000" b="0" i="0" u="none" strike="noStrike" cap="none">
                <a:solidFill>
                  <a:srgbClr val="FFFFFF"/>
                </a:solidFill>
                <a:latin typeface="Quattrocento Sans"/>
                <a:ea typeface="Quattrocento Sans"/>
                <a:cs typeface="Quattrocento Sans"/>
                <a:sym typeface="Quattrocento Sans"/>
              </a:rPr>
              <a:t>Name: Nirmit Shah </a:t>
            </a:r>
            <a:endParaRPr sz="2000" b="0" i="0" u="none" strike="noStrike" cap="none">
              <a:solidFill>
                <a:srgbClr val="FFFFFF"/>
              </a:solidFill>
              <a:latin typeface="Quattrocento Sans"/>
              <a:ea typeface="Quattrocento Sans"/>
              <a:cs typeface="Quattrocento Sans"/>
              <a:sym typeface="Quattrocento Sans"/>
            </a:endParaRPr>
          </a:p>
          <a:p>
            <a:pPr marL="0" marR="0" lvl="0" indent="0" algn="ctr" rtl="0">
              <a:lnSpc>
                <a:spcPct val="100000"/>
              </a:lnSpc>
              <a:spcBef>
                <a:spcPts val="1000"/>
              </a:spcBef>
              <a:spcAft>
                <a:spcPts val="0"/>
              </a:spcAft>
              <a:buClr>
                <a:srgbClr val="7162FE"/>
              </a:buClr>
              <a:buSzPts val="2000"/>
              <a:buFont typeface="Avenir"/>
              <a:buNone/>
            </a:pPr>
            <a:r>
              <a:rPr lang="en-US" sz="2000" b="0" i="0" u="none" strike="noStrike" cap="none">
                <a:solidFill>
                  <a:srgbClr val="FFFFFF"/>
                </a:solidFill>
                <a:latin typeface="Quattrocento Sans"/>
                <a:ea typeface="Quattrocento Sans"/>
                <a:cs typeface="Quattrocento Sans"/>
                <a:sym typeface="Quattrocento Sans"/>
              </a:rPr>
              <a:t>Roll No.: 16034424025</a:t>
            </a:r>
            <a:endParaRPr/>
          </a:p>
          <a:p>
            <a:pPr marL="0" marR="0" lvl="0" indent="0" algn="ctr" rtl="0">
              <a:lnSpc>
                <a:spcPct val="100000"/>
              </a:lnSpc>
              <a:spcBef>
                <a:spcPts val="1000"/>
              </a:spcBef>
              <a:spcAft>
                <a:spcPts val="0"/>
              </a:spcAft>
              <a:buClr>
                <a:srgbClr val="7162FE"/>
              </a:buClr>
              <a:buSzPts val="2000"/>
              <a:buFont typeface="Avenir"/>
              <a:buNone/>
            </a:pPr>
            <a:r>
              <a:rPr lang="en-US" sz="2000" b="0" i="0" u="none" strike="noStrike" cap="none">
                <a:solidFill>
                  <a:srgbClr val="FFFFFF"/>
                </a:solidFill>
                <a:latin typeface="Quattrocento Sans"/>
                <a:ea typeface="Quattrocento Sans"/>
                <a:cs typeface="Quattrocento Sans"/>
                <a:sym typeface="Quattrocento Sans"/>
              </a:rPr>
              <a:t>Guide: Ms. Sujata Pathak</a:t>
            </a:r>
            <a:endParaRPr sz="2000" b="0" i="0" u="none" strike="noStrike" cap="none">
              <a:solidFill>
                <a:srgbClr val="FFFFFF"/>
              </a:solidFill>
              <a:latin typeface="Quattrocento Sans"/>
              <a:ea typeface="Quattrocento Sans"/>
              <a:cs typeface="Quattrocento Sans"/>
              <a:sym typeface="Quattrocento Sans"/>
            </a:endParaRPr>
          </a:p>
          <a:p>
            <a:pPr marL="0" marR="0" lvl="0" indent="0" algn="ctr" rtl="0">
              <a:lnSpc>
                <a:spcPct val="100000"/>
              </a:lnSpc>
              <a:spcBef>
                <a:spcPts val="1000"/>
              </a:spcBef>
              <a:spcAft>
                <a:spcPts val="0"/>
              </a:spcAft>
              <a:buClr>
                <a:srgbClr val="7162FE"/>
              </a:buClr>
              <a:buSzPts val="2000"/>
              <a:buFont typeface="Avenir"/>
              <a:buNone/>
            </a:pPr>
            <a:endParaRPr sz="2000" b="0" i="0" u="none" strike="noStrike" cap="none">
              <a:solidFill>
                <a:srgbClr val="FFFFFF"/>
              </a:solidFill>
              <a:latin typeface="Quattrocento Sans"/>
              <a:ea typeface="Quattrocento Sans"/>
              <a:cs typeface="Quattrocento Sans"/>
              <a:sym typeface="Quattrocento Sans"/>
            </a:endParaRPr>
          </a:p>
          <a:p>
            <a:pPr marL="0" marR="0" lvl="0" indent="0" algn="ctr" rtl="0">
              <a:lnSpc>
                <a:spcPct val="100000"/>
              </a:lnSpc>
              <a:spcBef>
                <a:spcPts val="1000"/>
              </a:spcBef>
              <a:spcAft>
                <a:spcPts val="0"/>
              </a:spcAft>
              <a:buClr>
                <a:srgbClr val="7162FE"/>
              </a:buClr>
              <a:buSzPts val="2000"/>
              <a:buFont typeface="Avenir"/>
              <a:buNone/>
            </a:pPr>
            <a:endParaRPr sz="2000" b="0" i="0" u="none" strike="noStrike" cap="none">
              <a:solidFill>
                <a:srgbClr val="FFFFFF"/>
              </a:solidFill>
              <a:latin typeface="Quattrocento Sans"/>
              <a:ea typeface="Quattrocento Sans"/>
              <a:cs typeface="Quattrocento Sans"/>
              <a:sym typeface="Quattrocento Sans"/>
            </a:endParaRPr>
          </a:p>
        </p:txBody>
      </p:sp>
      <p:sp>
        <p:nvSpPr>
          <p:cNvPr id="87" name="Google Shape;87;p1"/>
          <p:cNvSpPr txBox="1"/>
          <p:nvPr/>
        </p:nvSpPr>
        <p:spPr>
          <a:xfrm>
            <a:off x="1146804" y="883441"/>
            <a:ext cx="10191942" cy="2868234"/>
          </a:xfrm>
          <a:prstGeom prst="rect">
            <a:avLst/>
          </a:prstGeom>
          <a:noFill/>
          <a:ln>
            <a:noFill/>
          </a:ln>
        </p:spPr>
        <p:txBody>
          <a:bodyPr spcFirstLastPara="1" wrap="square" lIns="91425" tIns="45700" rIns="91425" bIns="45700" anchor="t" anchorCtr="0">
            <a:normAutofit/>
          </a:bodyPr>
          <a:lstStyle/>
          <a:p>
            <a:pPr lvl="0" algn="ctr"/>
            <a:r>
              <a:rPr lang="en-US" sz="5500" b="1" dirty="0"/>
              <a:t>Personal Chatbot for Stock Portfolio Management with Agentic AI Framework</a:t>
            </a:r>
            <a:endParaRPr lang="en-US" sz="5500" b="0" i="0" u="none" strike="noStrike" cap="none" dirty="0">
              <a:solidFill>
                <a:schemeClr val="dk1"/>
              </a:solidFill>
              <a:latin typeface="Times New Roman"/>
              <a:ea typeface="Times New Roman"/>
              <a:cs typeface="Times New Roman"/>
              <a:sym typeface="Times New Roman"/>
            </a:endParaRPr>
          </a:p>
        </p:txBody>
      </p:sp>
      <p:sp>
        <p:nvSpPr>
          <p:cNvPr id="88" name="Google Shape;88;p1"/>
          <p:cNvSpPr txBox="1"/>
          <p:nvPr/>
        </p:nvSpPr>
        <p:spPr>
          <a:xfrm>
            <a:off x="1676400" y="3904076"/>
            <a:ext cx="9144000" cy="1582964"/>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None/>
            </a:pPr>
            <a:r>
              <a:rPr lang="en-US" sz="2000" b="0" i="0" u="none" strike="noStrike" cap="none" dirty="0">
                <a:solidFill>
                  <a:schemeClr val="dk1"/>
                </a:solidFill>
                <a:latin typeface="Times New Roman"/>
                <a:ea typeface="Times New Roman"/>
                <a:cs typeface="Times New Roman"/>
                <a:sym typeface="Times New Roman"/>
              </a:rPr>
              <a:t>Name: KANDULA JITHENDRA SUBRAMANYAM</a:t>
            </a:r>
            <a:endParaRPr dirty="0"/>
          </a:p>
          <a:p>
            <a:pPr marL="0" marR="0" lvl="0" indent="0" algn="ctr" rtl="0">
              <a:lnSpc>
                <a:spcPct val="100000"/>
              </a:lnSpc>
              <a:spcBef>
                <a:spcPts val="0"/>
              </a:spcBef>
              <a:spcAft>
                <a:spcPts val="0"/>
              </a:spcAft>
              <a:buNone/>
            </a:pPr>
            <a:r>
              <a:rPr lang="en-US" sz="2000" b="0" i="0" u="none" strike="noStrike" cap="none" dirty="0">
                <a:solidFill>
                  <a:schemeClr val="dk1"/>
                </a:solidFill>
                <a:latin typeface="Times New Roman"/>
                <a:ea typeface="Times New Roman"/>
                <a:cs typeface="Times New Roman"/>
                <a:sym typeface="Times New Roman"/>
              </a:rPr>
              <a:t>Roll No.: 16034424030</a:t>
            </a:r>
            <a:endParaRPr dirty="0"/>
          </a:p>
          <a:p>
            <a:pPr marL="0" marR="0" lvl="0" indent="0" algn="ctr" rtl="0">
              <a:lnSpc>
                <a:spcPct val="100000"/>
              </a:lnSpc>
              <a:spcBef>
                <a:spcPts val="0"/>
              </a:spcBef>
              <a:spcAft>
                <a:spcPts val="0"/>
              </a:spcAft>
              <a:buNone/>
            </a:pPr>
            <a:r>
              <a:rPr lang="en-US" sz="2470" b="0" i="0" u="none" strike="noStrike" cap="none" dirty="0" err="1">
                <a:solidFill>
                  <a:schemeClr val="dk1"/>
                </a:solidFill>
                <a:latin typeface="Times New Roman"/>
                <a:ea typeface="Times New Roman"/>
                <a:cs typeface="Times New Roman"/>
                <a:sym typeface="Times New Roman"/>
              </a:rPr>
              <a:t>Guide:prof</a:t>
            </a:r>
            <a:r>
              <a:rPr lang="en-US" sz="2470" b="0" i="0" u="none" strike="noStrike" cap="none" dirty="0">
                <a:solidFill>
                  <a:schemeClr val="dk1"/>
                </a:solidFill>
                <a:latin typeface="Times New Roman"/>
                <a:ea typeface="Times New Roman"/>
                <a:cs typeface="Times New Roman"/>
                <a:sym typeface="Times New Roman"/>
              </a:rPr>
              <a:t> </a:t>
            </a:r>
            <a:r>
              <a:rPr lang="en-US" sz="1873" b="1" dirty="0">
                <a:solidFill>
                  <a:srgbClr val="1F1F1F"/>
                </a:solidFill>
                <a:highlight>
                  <a:srgbClr val="FFFFFF"/>
                </a:highlight>
                <a:latin typeface="Roboto"/>
                <a:ea typeface="Roboto"/>
                <a:cs typeface="Roboto"/>
                <a:sym typeface="Roboto"/>
              </a:rPr>
              <a:t>SUNAYANA JADHAV</a:t>
            </a:r>
            <a:endParaRPr sz="2223" dirty="0"/>
          </a:p>
          <a:p>
            <a:pPr marL="0" marR="0" lvl="0" indent="0" algn="ctr" rtl="0">
              <a:lnSpc>
                <a:spcPct val="100000"/>
              </a:lnSpc>
              <a:spcBef>
                <a:spcPts val="0"/>
              </a:spcBef>
              <a:spcAft>
                <a:spcPts val="0"/>
              </a:spcAft>
              <a:buNone/>
            </a:pPr>
            <a:endParaRPr sz="2000" b="0"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None/>
            </a:pPr>
            <a:endParaRPr dirty="0"/>
          </a:p>
          <a:p>
            <a:pPr marL="0" marR="0" lvl="0" indent="0" algn="ctr" rtl="0">
              <a:lnSpc>
                <a:spcPct val="100000"/>
              </a:lnSpc>
              <a:spcBef>
                <a:spcPts val="0"/>
              </a:spcBef>
              <a:spcAft>
                <a:spcPts val="0"/>
              </a:spcAft>
              <a:buNone/>
            </a:pPr>
            <a:endParaRPr sz="2000" b="0"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None/>
            </a:pPr>
            <a:endParaRPr sz="2000" b="0"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47943-BC0F-434F-79D1-C3903C169621}"/>
              </a:ext>
            </a:extLst>
          </p:cNvPr>
          <p:cNvSpPr>
            <a:spLocks noGrp="1"/>
          </p:cNvSpPr>
          <p:nvPr>
            <p:ph type="title"/>
          </p:nvPr>
        </p:nvSpPr>
        <p:spPr/>
        <p:txBody>
          <a:bodyPr/>
          <a:lstStyle/>
          <a:p>
            <a:r>
              <a:rPr lang="en-IN" dirty="0"/>
              <a:t>Table of Content</a:t>
            </a:r>
          </a:p>
        </p:txBody>
      </p:sp>
      <p:sp>
        <p:nvSpPr>
          <p:cNvPr id="3" name="Text Placeholder 2">
            <a:extLst>
              <a:ext uri="{FF2B5EF4-FFF2-40B4-BE49-F238E27FC236}">
                <a16:creationId xmlns:a16="http://schemas.microsoft.com/office/drawing/2014/main" id="{D7604BF6-CC7C-600E-5422-6F0024DCAEB5}"/>
              </a:ext>
            </a:extLst>
          </p:cNvPr>
          <p:cNvSpPr>
            <a:spLocks noGrp="1"/>
          </p:cNvSpPr>
          <p:nvPr>
            <p:ph type="body" idx="1"/>
          </p:nvPr>
        </p:nvSpPr>
        <p:spPr>
          <a:xfrm>
            <a:off x="885212" y="1089767"/>
            <a:ext cx="10972800" cy="4525963"/>
          </a:xfrm>
        </p:spPr>
        <p:txBody>
          <a:bodyPr>
            <a:normAutofit fontScale="85000" lnSpcReduction="20000"/>
          </a:bodyPr>
          <a:lstStyle/>
          <a:p>
            <a:pPr>
              <a:buFont typeface="Wingdings" panose="05000000000000000000" pitchFamily="2" charset="2"/>
              <a:buChar char="q"/>
            </a:pPr>
            <a:r>
              <a:rPr lang="en-IN" dirty="0"/>
              <a:t>Introduction</a:t>
            </a:r>
          </a:p>
          <a:p>
            <a:pPr>
              <a:buFont typeface="Wingdings" panose="05000000000000000000" pitchFamily="2" charset="2"/>
              <a:buChar char="q"/>
            </a:pPr>
            <a:r>
              <a:rPr lang="en-IN" dirty="0"/>
              <a:t>Motivation</a:t>
            </a:r>
          </a:p>
          <a:p>
            <a:pPr>
              <a:buFont typeface="Wingdings" panose="05000000000000000000" pitchFamily="2" charset="2"/>
              <a:buChar char="q"/>
            </a:pPr>
            <a:r>
              <a:rPr lang="en-IN" dirty="0"/>
              <a:t>Problem Definition</a:t>
            </a:r>
          </a:p>
          <a:p>
            <a:pPr>
              <a:buFont typeface="Wingdings" panose="05000000000000000000" pitchFamily="2" charset="2"/>
              <a:buChar char="q"/>
            </a:pPr>
            <a:r>
              <a:rPr lang="en-IN" dirty="0"/>
              <a:t>Objective</a:t>
            </a:r>
          </a:p>
          <a:p>
            <a:pPr>
              <a:buFont typeface="Wingdings" panose="05000000000000000000" pitchFamily="2" charset="2"/>
              <a:buChar char="q"/>
            </a:pPr>
            <a:r>
              <a:rPr lang="en-IN" dirty="0"/>
              <a:t>Literature Review</a:t>
            </a:r>
          </a:p>
          <a:p>
            <a:pPr>
              <a:buFont typeface="Wingdings" panose="05000000000000000000" pitchFamily="2" charset="2"/>
              <a:buChar char="q"/>
            </a:pPr>
            <a:r>
              <a:rPr lang="en-IN" dirty="0"/>
              <a:t>Scope</a:t>
            </a:r>
          </a:p>
          <a:p>
            <a:pPr>
              <a:buFont typeface="Wingdings" panose="05000000000000000000" pitchFamily="2" charset="2"/>
              <a:buChar char="q"/>
            </a:pPr>
            <a:r>
              <a:rPr lang="en-IN" dirty="0"/>
              <a:t>Novelty</a:t>
            </a:r>
          </a:p>
          <a:p>
            <a:pPr>
              <a:buFont typeface="Wingdings" panose="05000000000000000000" pitchFamily="2" charset="2"/>
              <a:buChar char="q"/>
            </a:pPr>
            <a:r>
              <a:rPr lang="en-IN" dirty="0"/>
              <a:t>Data Sources</a:t>
            </a:r>
          </a:p>
          <a:p>
            <a:pPr>
              <a:buFont typeface="Wingdings" panose="05000000000000000000" pitchFamily="2" charset="2"/>
              <a:buChar char="q"/>
            </a:pPr>
            <a:r>
              <a:rPr lang="en-IN" dirty="0"/>
              <a:t>Data Description</a:t>
            </a:r>
          </a:p>
          <a:p>
            <a:pPr>
              <a:buFont typeface="Wingdings" panose="05000000000000000000" pitchFamily="2" charset="2"/>
              <a:buChar char="q"/>
            </a:pPr>
            <a:r>
              <a:rPr lang="en-IN" dirty="0"/>
              <a:t>Conclusion</a:t>
            </a:r>
          </a:p>
          <a:p>
            <a:pPr>
              <a:buFont typeface="Wingdings" panose="05000000000000000000" pitchFamily="2" charset="2"/>
              <a:buChar char="q"/>
            </a:pPr>
            <a:r>
              <a:rPr lang="en-IN" dirty="0"/>
              <a:t> Future Work </a:t>
            </a:r>
          </a:p>
          <a:p>
            <a:pPr>
              <a:buFont typeface="Wingdings" panose="05000000000000000000" pitchFamily="2" charset="2"/>
              <a:buChar char="q"/>
            </a:pPr>
            <a:endParaRPr lang="en-IN" dirty="0"/>
          </a:p>
          <a:p>
            <a:pPr>
              <a:buFont typeface="Wingdings" panose="05000000000000000000" pitchFamily="2" charset="2"/>
              <a:buChar char="q"/>
            </a:pPr>
            <a:endParaRPr lang="en-IN" dirty="0"/>
          </a:p>
          <a:p>
            <a:pPr>
              <a:buFont typeface="Wingdings" panose="05000000000000000000" pitchFamily="2" charset="2"/>
              <a:buChar char="q"/>
            </a:pPr>
            <a:endParaRPr lang="en-IN" dirty="0"/>
          </a:p>
          <a:p>
            <a:pPr>
              <a:buFont typeface="Wingdings" panose="05000000000000000000" pitchFamily="2" charset="2"/>
              <a:buChar char="q"/>
            </a:pPr>
            <a:endParaRPr lang="en-IN" dirty="0"/>
          </a:p>
        </p:txBody>
      </p:sp>
    </p:spTree>
    <p:extLst>
      <p:ext uri="{BB962C8B-B14F-4D97-AF65-F5344CB8AC3E}">
        <p14:creationId xmlns:p14="http://schemas.microsoft.com/office/powerpoint/2010/main" val="2222316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8D7D7-7A55-C2AB-D787-9E75603757EB}"/>
              </a:ext>
            </a:extLst>
          </p:cNvPr>
          <p:cNvSpPr>
            <a:spLocks noGrp="1"/>
          </p:cNvSpPr>
          <p:nvPr>
            <p:ph type="title"/>
          </p:nvPr>
        </p:nvSpPr>
        <p:spPr/>
        <p:txBody>
          <a:bodyPr/>
          <a:lstStyle/>
          <a:p>
            <a:r>
              <a:rPr lang="en-IN" dirty="0"/>
              <a:t>Introduction</a:t>
            </a:r>
          </a:p>
        </p:txBody>
      </p:sp>
      <p:sp>
        <p:nvSpPr>
          <p:cNvPr id="4" name="Rectangle 1">
            <a:extLst>
              <a:ext uri="{FF2B5EF4-FFF2-40B4-BE49-F238E27FC236}">
                <a16:creationId xmlns:a16="http://schemas.microsoft.com/office/drawing/2014/main" id="{8C880A56-B504-BF73-644C-A96BE6C59E7D}"/>
              </a:ext>
            </a:extLst>
          </p:cNvPr>
          <p:cNvSpPr>
            <a:spLocks noGrp="1" noChangeArrowheads="1"/>
          </p:cNvSpPr>
          <p:nvPr>
            <p:ph type="body" idx="1"/>
          </p:nvPr>
        </p:nvSpPr>
        <p:spPr bwMode="auto">
          <a:xfrm>
            <a:off x="762001" y="1132458"/>
            <a:ext cx="10972799" cy="4355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Wingdings" panose="05000000000000000000" pitchFamily="2" charset="2"/>
              <a:buChar char="q"/>
            </a:pPr>
            <a:r>
              <a:rPr lang="en-US" b="1" dirty="0"/>
              <a:t>The Living Market:</a:t>
            </a:r>
            <a:r>
              <a:rPr lang="en-US" dirty="0"/>
              <a:t> A stock portfolio is not a static collection of assets; it is a highly volatile, living ecosystem driven by global events, algorithmic trading, and sudden shifts in human psychology.</a:t>
            </a:r>
          </a:p>
          <a:p>
            <a:pPr>
              <a:buFont typeface="Wingdings" panose="05000000000000000000" pitchFamily="2" charset="2"/>
              <a:buChar char="q"/>
            </a:pPr>
            <a:r>
              <a:rPr lang="en-US" b="1" dirty="0"/>
              <a:t>The Illusion of Isolation:</a:t>
            </a:r>
            <a:r>
              <a:rPr lang="en-US" dirty="0"/>
              <a:t> No stock operates in a vacuum. Hidden structural webs—such as shared institutional ownership—mean a ripple in one sector can instantly become a tidal wave in another.</a:t>
            </a:r>
          </a:p>
          <a:p>
            <a:pPr>
              <a:buFont typeface="Wingdings" panose="05000000000000000000" pitchFamily="2" charset="2"/>
              <a:buChar char="q"/>
            </a:pPr>
            <a:r>
              <a:rPr lang="en-US" b="1" dirty="0"/>
              <a:t>The Navigation Paradox:</a:t>
            </a:r>
            <a:r>
              <a:rPr lang="en-US" dirty="0"/>
              <a:t> To survive this complex environment, investors need dynamic, forward-looking intelligence. Yet, everyday users are equipped only with flat, historical dashboards that act like a rearview mirror during a storm.</a:t>
            </a:r>
          </a:p>
        </p:txBody>
      </p:sp>
    </p:spTree>
    <p:extLst>
      <p:ext uri="{BB962C8B-B14F-4D97-AF65-F5344CB8AC3E}">
        <p14:creationId xmlns:p14="http://schemas.microsoft.com/office/powerpoint/2010/main" val="41445457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CD0EC-77BC-1648-BD90-0DC13BF355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9F772A-7C7F-BEA5-B3C2-935C895683DF}"/>
              </a:ext>
            </a:extLst>
          </p:cNvPr>
          <p:cNvSpPr>
            <a:spLocks noGrp="1"/>
          </p:cNvSpPr>
          <p:nvPr>
            <p:ph type="title"/>
          </p:nvPr>
        </p:nvSpPr>
        <p:spPr/>
        <p:txBody>
          <a:bodyPr/>
          <a:lstStyle/>
          <a:p>
            <a:r>
              <a:rPr lang="en-IN" dirty="0"/>
              <a:t>Motivation</a:t>
            </a:r>
          </a:p>
        </p:txBody>
      </p:sp>
      <p:sp>
        <p:nvSpPr>
          <p:cNvPr id="3" name="Text Placeholder 2">
            <a:extLst>
              <a:ext uri="{FF2B5EF4-FFF2-40B4-BE49-F238E27FC236}">
                <a16:creationId xmlns:a16="http://schemas.microsoft.com/office/drawing/2014/main" id="{6F914967-5C3B-F747-A067-5292C306CFDD}"/>
              </a:ext>
            </a:extLst>
          </p:cNvPr>
          <p:cNvSpPr>
            <a:spLocks noGrp="1"/>
          </p:cNvSpPr>
          <p:nvPr>
            <p:ph type="body" idx="1"/>
          </p:nvPr>
        </p:nvSpPr>
        <p:spPr>
          <a:xfrm>
            <a:off x="923712" y="937368"/>
            <a:ext cx="11028801" cy="5311032"/>
          </a:xfrm>
        </p:spPr>
        <p:txBody>
          <a:bodyPr>
            <a:normAutofit/>
          </a:bodyPr>
          <a:lstStyle/>
          <a:p>
            <a:pPr>
              <a:buFont typeface="Wingdings" panose="05000000000000000000" pitchFamily="2" charset="2"/>
              <a:buChar char="q"/>
            </a:pPr>
            <a:r>
              <a:rPr lang="en-US" b="1" dirty="0"/>
              <a:t>The Regulatory &amp; Transparency Barrier:</a:t>
            </a:r>
            <a:r>
              <a:rPr lang="en-US" dirty="0"/>
              <a:t> While multi-agent AI offers immense power for institutional risk management, its "black box" nature fails strict compliance standards (e.g., MiFID II, GDPR) and prevents user trust.</a:t>
            </a:r>
          </a:p>
          <a:p>
            <a:pPr>
              <a:buFont typeface="Wingdings" panose="05000000000000000000" pitchFamily="2" charset="2"/>
              <a:buChar char="q"/>
            </a:pPr>
            <a:r>
              <a:rPr lang="en-US" b="1" dirty="0"/>
              <a:t>The Accessibility Gap:</a:t>
            </a:r>
            <a:r>
              <a:rPr lang="en-US" dirty="0"/>
              <a:t> Advanced portfolio governance—such as regime-switching and contagion detection—remains highly technical and entirely inaccessible to the everyday retail investor.</a:t>
            </a:r>
          </a:p>
          <a:p>
            <a:pPr>
              <a:buFont typeface="Wingdings" panose="05000000000000000000" pitchFamily="2" charset="2"/>
              <a:buChar char="q"/>
            </a:pPr>
            <a:r>
              <a:rPr lang="en-US" b="1" dirty="0"/>
              <a:t>The Core Objective:</a:t>
            </a:r>
            <a:r>
              <a:rPr lang="en-US" dirty="0"/>
              <a:t> The motivation of this thesis is to bridge this gap by taking a mathematically rigorous, institutional-grade risk framework and translating it into a transparent, conversational, and fully auditable financial assistant.</a:t>
            </a:r>
          </a:p>
        </p:txBody>
      </p:sp>
    </p:spTree>
    <p:extLst>
      <p:ext uri="{BB962C8B-B14F-4D97-AF65-F5344CB8AC3E}">
        <p14:creationId xmlns:p14="http://schemas.microsoft.com/office/powerpoint/2010/main" val="24912985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19AA0-7BED-D7ED-02B8-D5D12B9020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71DF64-6A43-4FFB-F562-5299F9C5BAC1}"/>
              </a:ext>
            </a:extLst>
          </p:cNvPr>
          <p:cNvSpPr>
            <a:spLocks noGrp="1"/>
          </p:cNvSpPr>
          <p:nvPr>
            <p:ph type="title"/>
          </p:nvPr>
        </p:nvSpPr>
        <p:spPr/>
        <p:txBody>
          <a:bodyPr/>
          <a:lstStyle/>
          <a:p>
            <a:r>
              <a:rPr lang="en-IN" dirty="0"/>
              <a:t>Problem Definition</a:t>
            </a:r>
          </a:p>
        </p:txBody>
      </p:sp>
      <p:sp>
        <p:nvSpPr>
          <p:cNvPr id="3" name="Text Placeholder 2">
            <a:extLst>
              <a:ext uri="{FF2B5EF4-FFF2-40B4-BE49-F238E27FC236}">
                <a16:creationId xmlns:a16="http://schemas.microsoft.com/office/drawing/2014/main" id="{995F9C62-5881-B958-46EE-67A0D0F8B29C}"/>
              </a:ext>
            </a:extLst>
          </p:cNvPr>
          <p:cNvSpPr>
            <a:spLocks noGrp="1"/>
          </p:cNvSpPr>
          <p:nvPr>
            <p:ph type="body" idx="1"/>
          </p:nvPr>
        </p:nvSpPr>
        <p:spPr>
          <a:xfrm>
            <a:off x="923713" y="1089767"/>
            <a:ext cx="10847984" cy="4995347"/>
          </a:xfrm>
        </p:spPr>
        <p:txBody>
          <a:bodyPr>
            <a:normAutofit fontScale="92500" lnSpcReduction="20000"/>
          </a:bodyPr>
          <a:lstStyle/>
          <a:p>
            <a:pPr algn="just">
              <a:buFont typeface="Wingdings" panose="05000000000000000000" pitchFamily="2" charset="2"/>
              <a:buChar char="q"/>
            </a:pPr>
            <a:r>
              <a:rPr lang="en-IN" b="1" dirty="0"/>
              <a:t>Algorithmic Brittleness:</a:t>
            </a:r>
            <a:r>
              <a:rPr lang="en-IN" dirty="0"/>
              <a:t> Traditional portfolio optimizers act as "error-</a:t>
            </a:r>
            <a:r>
              <a:rPr lang="en-IN" dirty="0" err="1"/>
              <a:t>maximizers</a:t>
            </a:r>
            <a:r>
              <a:rPr lang="en-IN" dirty="0"/>
              <a:t>" during market shocks, failing to adapt to rapid covariance drift and systemic contagion. </a:t>
            </a:r>
          </a:p>
          <a:p>
            <a:pPr algn="just">
              <a:buFont typeface="Wingdings" panose="05000000000000000000" pitchFamily="2" charset="2"/>
              <a:buChar char="q"/>
            </a:pPr>
            <a:r>
              <a:rPr lang="en-US" b="1" dirty="0"/>
              <a:t>The Compliance Deficit:</a:t>
            </a:r>
            <a:r>
              <a:rPr lang="en-US" dirty="0"/>
              <a:t> While probabilistic AI models can detect market shifts, they operate as un-auditable "black boxes." They require undocumented human judgment to execute trades, directly violating transparency regulations like MiFID II and GDPR Article 22.</a:t>
            </a:r>
          </a:p>
          <a:p>
            <a:pPr algn="just">
              <a:buFont typeface="Wingdings" panose="05000000000000000000" pitchFamily="2" charset="2"/>
              <a:buChar char="q"/>
            </a:pPr>
            <a:r>
              <a:rPr lang="en-US" b="1" dirty="0"/>
              <a:t>The UX &amp; Retail Disconnect:</a:t>
            </a:r>
            <a:r>
              <a:rPr lang="en-US" dirty="0"/>
              <a:t> Institutional-grade downside protection is entirely disconnected from the end-user. Retail investors are restricted to static dashboards that cannot offer real-time, conversational guidance or explain their risk exposure.</a:t>
            </a:r>
          </a:p>
          <a:p>
            <a:pPr algn="just">
              <a:buFont typeface="Wingdings" panose="05000000000000000000" pitchFamily="2" charset="2"/>
              <a:buChar char="q"/>
            </a:pPr>
            <a:r>
              <a:rPr lang="en-US" b="1" dirty="0"/>
              <a:t>The Core Problem Statement:</a:t>
            </a:r>
            <a:r>
              <a:rPr lang="en-US" dirty="0"/>
              <a:t> How can we engineer an AI system that delivers mathematically rigorous, crisis-resistant portfolio governance while remaining structurally isolated, fully auditable, and conversationally transparent?</a:t>
            </a:r>
            <a:endParaRPr lang="en-IN" dirty="0"/>
          </a:p>
        </p:txBody>
      </p:sp>
    </p:spTree>
    <p:extLst>
      <p:ext uri="{BB962C8B-B14F-4D97-AF65-F5344CB8AC3E}">
        <p14:creationId xmlns:p14="http://schemas.microsoft.com/office/powerpoint/2010/main" val="1186103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txBox="1"/>
          <p:nvPr/>
        </p:nvSpPr>
        <p:spPr>
          <a:xfrm>
            <a:off x="838200" y="136525"/>
            <a:ext cx="10515600"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1"/>
              </a:buClr>
              <a:buSzPts val="4400"/>
              <a:buFont typeface="Arial"/>
              <a:buNone/>
            </a:pPr>
            <a:r>
              <a:rPr lang="en-US" sz="4400" b="0" i="0" u="none" strike="noStrike" cap="none" dirty="0">
                <a:solidFill>
                  <a:srgbClr val="C00000"/>
                </a:solidFill>
                <a:latin typeface="Times New Roman"/>
                <a:ea typeface="Times New Roman"/>
                <a:cs typeface="Times New Roman"/>
                <a:sym typeface="Times New Roman"/>
              </a:rPr>
              <a:t>Objectives:</a:t>
            </a:r>
            <a:endParaRPr sz="4400" b="0" i="0" u="none" strike="noStrike" cap="none" dirty="0">
              <a:solidFill>
                <a:srgbClr val="C00000"/>
              </a:solidFill>
              <a:latin typeface="Times New Roman"/>
              <a:ea typeface="Times New Roman"/>
              <a:cs typeface="Times New Roman"/>
              <a:sym typeface="Times New Roman"/>
            </a:endParaRPr>
          </a:p>
        </p:txBody>
      </p:sp>
      <p:sp>
        <p:nvSpPr>
          <p:cNvPr id="95" name="Google Shape;95;p2"/>
          <p:cNvSpPr txBox="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900" b="0" i="0" u="none" strike="noStrike" cap="none">
                <a:solidFill>
                  <a:schemeClr val="dk1"/>
                </a:solidFill>
                <a:latin typeface="Times New Roman"/>
                <a:ea typeface="Times New Roman"/>
                <a:cs typeface="Times New Roman"/>
                <a:sym typeface="Times New Roman"/>
              </a:rPr>
              <a:t>07-03-25</a:t>
            </a:r>
            <a:endParaRPr/>
          </a:p>
        </p:txBody>
      </p:sp>
      <p:sp>
        <p:nvSpPr>
          <p:cNvPr id="96" name="Google Shape;96;p2"/>
          <p:cNvSpPr txBox="1"/>
          <p:nvPr/>
        </p:nvSpPr>
        <p:spPr>
          <a:xfrm>
            <a:off x="9906000" y="6356350"/>
            <a:ext cx="14478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900" b="0" i="0" u="none" strike="noStrike" cap="none">
                <a:solidFill>
                  <a:schemeClr val="dk1"/>
                </a:solidFill>
                <a:latin typeface="Times New Roman"/>
                <a:ea typeface="Times New Roman"/>
                <a:cs typeface="Times New Roman"/>
                <a:sym typeface="Times New Roman"/>
              </a:rPr>
              <a:t>6</a:t>
            </a:fld>
            <a:endParaRPr sz="900" b="0" i="0" u="none" strike="noStrike" cap="none">
              <a:solidFill>
                <a:schemeClr val="dk1"/>
              </a:solidFill>
              <a:latin typeface="Times New Roman"/>
              <a:ea typeface="Times New Roman"/>
              <a:cs typeface="Times New Roman"/>
              <a:sym typeface="Times New Roman"/>
            </a:endParaRPr>
          </a:p>
        </p:txBody>
      </p:sp>
      <p:pic>
        <p:nvPicPr>
          <p:cNvPr id="97" name="Google Shape;97;p2" descr="Bullseye"/>
          <p:cNvPicPr preferRelativeResize="0"/>
          <p:nvPr/>
        </p:nvPicPr>
        <p:blipFill rotWithShape="1">
          <a:blip r:embed="rId3">
            <a:alphaModFix/>
          </a:blip>
          <a:srcRect/>
          <a:stretch/>
        </p:blipFill>
        <p:spPr>
          <a:xfrm>
            <a:off x="10326536" y="2304546"/>
            <a:ext cx="1680754" cy="1680754"/>
          </a:xfrm>
          <a:prstGeom prst="rect">
            <a:avLst/>
          </a:prstGeom>
          <a:noFill/>
          <a:ln>
            <a:noFill/>
          </a:ln>
        </p:spPr>
      </p:pic>
      <p:sp>
        <p:nvSpPr>
          <p:cNvPr id="3" name="Rectangle 2">
            <a:extLst>
              <a:ext uri="{FF2B5EF4-FFF2-40B4-BE49-F238E27FC236}">
                <a16:creationId xmlns:a16="http://schemas.microsoft.com/office/drawing/2014/main" id="{81FCD54B-A70C-E14D-4D11-EA953E1D45F0}"/>
              </a:ext>
            </a:extLst>
          </p:cNvPr>
          <p:cNvSpPr>
            <a:spLocks noChangeArrowheads="1"/>
          </p:cNvSpPr>
          <p:nvPr/>
        </p:nvSpPr>
        <p:spPr bwMode="auto">
          <a:xfrm>
            <a:off x="1941663" y="3144923"/>
            <a:ext cx="9172650" cy="4283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eaLnBrk="0" fontAlgn="base" hangingPunct="0">
              <a:spcBef>
                <a:spcPct val="0"/>
              </a:spcBef>
              <a:spcAft>
                <a:spcPct val="0"/>
              </a:spcAft>
              <a:buClrTx/>
              <a:buFont typeface="Wingdings" panose="05000000000000000000" pitchFamily="2" charset="2"/>
              <a:buChar char="§"/>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3">
            <a:extLst>
              <a:ext uri="{FF2B5EF4-FFF2-40B4-BE49-F238E27FC236}">
                <a16:creationId xmlns:a16="http://schemas.microsoft.com/office/drawing/2014/main" id="{599B9BA4-30E7-F1E2-C5EB-0560ABBB02AF}"/>
              </a:ext>
            </a:extLst>
          </p:cNvPr>
          <p:cNvSpPr>
            <a:spLocks noChangeArrowheads="1"/>
          </p:cNvSpPr>
          <p:nvPr/>
        </p:nvSpPr>
        <p:spPr bwMode="auto">
          <a:xfrm>
            <a:off x="1048686" y="1219246"/>
            <a:ext cx="9720914" cy="5216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dirty="0">
                <a:ln>
                  <a:noFill/>
                </a:ln>
                <a:solidFill>
                  <a:schemeClr val="tx1"/>
                </a:solidFill>
                <a:effectLst/>
                <a:latin typeface="Google Sans Text"/>
              </a:rPr>
              <a:t>Architect a Data-Driven Multi-Agent Engine:</a:t>
            </a:r>
            <a:r>
              <a:rPr kumimoji="0" lang="en-US" altLang="en-US" sz="2400" b="0" i="0" u="none" strike="noStrike" cap="none" normalizeH="0" baseline="0" dirty="0">
                <a:ln>
                  <a:noFill/>
                </a:ln>
                <a:solidFill>
                  <a:schemeClr val="tx1"/>
                </a:solidFill>
                <a:effectLst/>
                <a:latin typeface="Google Sans Text"/>
              </a:rPr>
              <a:t> Integrate real-time data into a deterministic multi-agent framework designed to seamlessly handle portfolio diagnostics, risk assessment, forecasting, and optimization. </a:t>
            </a:r>
            <a:endParaRPr kumimoji="0" lang="en-US" altLang="en-US" sz="2400" b="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dirty="0">
                <a:ln>
                  <a:noFill/>
                </a:ln>
                <a:solidFill>
                  <a:schemeClr val="tx1"/>
                </a:solidFill>
                <a:effectLst/>
                <a:latin typeface="Google Sans Text"/>
              </a:rPr>
              <a:t>Integrate Dynamic Governance &amp; Human Oversight:</a:t>
            </a:r>
            <a:r>
              <a:rPr kumimoji="0" lang="en-US" altLang="en-US" sz="2400" b="0" i="0" u="none" strike="noStrike" cap="none" normalizeH="0" baseline="0" dirty="0">
                <a:ln>
                  <a:noFill/>
                </a:ln>
                <a:solidFill>
                  <a:schemeClr val="tx1"/>
                </a:solidFill>
                <a:effectLst/>
                <a:latin typeface="Google Sans Text"/>
              </a:rPr>
              <a:t> Deploy adaptive instability detection and incorporate a structured Human-in-the-Loop (HITL) mechanism to safely validate all AI-generated allocation decisions before execution. </a:t>
            </a:r>
            <a:endParaRPr kumimoji="0" lang="en-US" altLang="en-US" sz="2400" b="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dirty="0">
                <a:ln>
                  <a:noFill/>
                </a:ln>
                <a:solidFill>
                  <a:schemeClr val="tx1"/>
                </a:solidFill>
                <a:effectLst/>
                <a:latin typeface="Google Sans Text"/>
              </a:rPr>
              <a:t>Ensure Conversational Auditability:</a:t>
            </a:r>
            <a:r>
              <a:rPr kumimoji="0" lang="en-US" altLang="en-US" sz="2400" b="0" i="0" u="none" strike="noStrike" cap="none" normalizeH="0" baseline="0" dirty="0">
                <a:ln>
                  <a:noFill/>
                </a:ln>
                <a:solidFill>
                  <a:schemeClr val="tx1"/>
                </a:solidFill>
                <a:effectLst/>
                <a:latin typeface="Google Sans Text"/>
              </a:rPr>
              <a:t> Engineer a structurally isolated LLM to generate grounded, conversational explanations for each portfolio decision, translating complex math into auditable narratives. </a:t>
            </a:r>
            <a:endParaRPr kumimoji="0" lang="en-US" altLang="en-US" sz="2400" b="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dirty="0">
                <a:ln>
                  <a:noFill/>
                </a:ln>
                <a:solidFill>
                  <a:schemeClr val="tx1"/>
                </a:solidFill>
                <a:effectLst/>
                <a:latin typeface="Google Sans Text"/>
              </a:rPr>
              <a:t>Comprehensive Empirical Validation:</a:t>
            </a:r>
            <a:r>
              <a:rPr kumimoji="0" lang="en-US" altLang="en-US" sz="2400" b="0" i="0" u="none" strike="noStrike" cap="none" normalizeH="0" baseline="0" dirty="0">
                <a:ln>
                  <a:noFill/>
                </a:ln>
                <a:solidFill>
                  <a:schemeClr val="tx1"/>
                </a:solidFill>
                <a:effectLst/>
                <a:latin typeface="Google Sans Text"/>
              </a:rPr>
              <a:t> Evaluate both the portfolio's financial performance (e.g., drawdown reduction) and the AI's explanation reliability using standard metrics to prove system resilience and trustworthiness. </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3"/>
          <p:cNvSpPr txBox="1">
            <a:spLocks noGrp="1"/>
          </p:cNvSpPr>
          <p:nvPr>
            <p:ph type="title"/>
          </p:nvPr>
        </p:nvSpPr>
        <p:spPr>
          <a:xfrm>
            <a:off x="1089764" y="214816"/>
            <a:ext cx="9870510" cy="665717"/>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930B0B"/>
              </a:buClr>
              <a:buSzPts val="3600"/>
              <a:buFont typeface="Times New Roman"/>
              <a:buNone/>
            </a:pPr>
            <a:r>
              <a:rPr lang="en-US" dirty="0"/>
              <a:t>Literature survey</a:t>
            </a:r>
            <a:endParaRPr dirty="0"/>
          </a:p>
        </p:txBody>
      </p:sp>
      <p:graphicFrame>
        <p:nvGraphicFramePr>
          <p:cNvPr id="103" name="Google Shape;103;p3"/>
          <p:cNvGraphicFramePr/>
          <p:nvPr>
            <p:extLst>
              <p:ext uri="{D42A27DB-BD31-4B8C-83A1-F6EECF244321}">
                <p14:modId xmlns:p14="http://schemas.microsoft.com/office/powerpoint/2010/main" val="1530412818"/>
              </p:ext>
            </p:extLst>
          </p:nvPr>
        </p:nvGraphicFramePr>
        <p:xfrm>
          <a:off x="825500" y="1171542"/>
          <a:ext cx="11076309" cy="4987957"/>
        </p:xfrm>
        <a:graphic>
          <a:graphicData uri="http://schemas.openxmlformats.org/drawingml/2006/table">
            <a:tbl>
              <a:tblPr firstRow="1" bandRow="1">
                <a:noFill/>
                <a:tableStyleId>{48133A83-268A-4673-80D7-47B9B74EA727}</a:tableStyleId>
              </a:tblPr>
              <a:tblGrid>
                <a:gridCol w="767237">
                  <a:extLst>
                    <a:ext uri="{9D8B030D-6E8A-4147-A177-3AD203B41FA5}">
                      <a16:colId xmlns:a16="http://schemas.microsoft.com/office/drawing/2014/main" val="20000"/>
                    </a:ext>
                  </a:extLst>
                </a:gridCol>
                <a:gridCol w="2150425">
                  <a:extLst>
                    <a:ext uri="{9D8B030D-6E8A-4147-A177-3AD203B41FA5}">
                      <a16:colId xmlns:a16="http://schemas.microsoft.com/office/drawing/2014/main" val="20001"/>
                    </a:ext>
                  </a:extLst>
                </a:gridCol>
                <a:gridCol w="2712345">
                  <a:extLst>
                    <a:ext uri="{9D8B030D-6E8A-4147-A177-3AD203B41FA5}">
                      <a16:colId xmlns:a16="http://schemas.microsoft.com/office/drawing/2014/main" val="20002"/>
                    </a:ext>
                  </a:extLst>
                </a:gridCol>
                <a:gridCol w="2766376">
                  <a:extLst>
                    <a:ext uri="{9D8B030D-6E8A-4147-A177-3AD203B41FA5}">
                      <a16:colId xmlns:a16="http://schemas.microsoft.com/office/drawing/2014/main" val="3690596373"/>
                    </a:ext>
                  </a:extLst>
                </a:gridCol>
                <a:gridCol w="2679926">
                  <a:extLst>
                    <a:ext uri="{9D8B030D-6E8A-4147-A177-3AD203B41FA5}">
                      <a16:colId xmlns:a16="http://schemas.microsoft.com/office/drawing/2014/main" val="3841398597"/>
                    </a:ext>
                  </a:extLst>
                </a:gridCol>
              </a:tblGrid>
              <a:tr h="861146">
                <a:tc>
                  <a:txBody>
                    <a:bodyPr/>
                    <a:lstStyle/>
                    <a:p>
                      <a:pPr>
                        <a:buNone/>
                      </a:pPr>
                      <a:r>
                        <a:rPr lang="en-IN" sz="1600" dirty="0">
                          <a:latin typeface="Times New Roman" panose="02020603050405020304" pitchFamily="18" charset="0"/>
                          <a:cs typeface="Times New Roman" panose="02020603050405020304" pitchFamily="18" charset="0"/>
                        </a:rPr>
                        <a:t>Year</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Title</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Approach / Methodology</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Key Contribution</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Limitation / Gap</a:t>
                      </a:r>
                    </a:p>
                  </a:txBody>
                  <a:tcPr anchor="ctr"/>
                </a:tc>
                <a:extLst>
                  <a:ext uri="{0D108BD9-81ED-4DB2-BD59-A6C34878D82A}">
                    <a16:rowId xmlns:a16="http://schemas.microsoft.com/office/drawing/2014/main" val="10000"/>
                  </a:ext>
                </a:extLst>
              </a:tr>
              <a:tr h="1255034">
                <a:tc>
                  <a:txBody>
                    <a:bodyPr/>
                    <a:lstStyle/>
                    <a:p>
                      <a:pPr>
                        <a:lnSpc>
                          <a:spcPct val="115000"/>
                        </a:lnSpc>
                        <a:buNone/>
                      </a:pPr>
                      <a:r>
                        <a:rPr lang="en-IN" sz="1600" b="0">
                          <a:effectLst/>
                          <a:latin typeface="Arial" panose="020B0604020202020204" pitchFamily="34" charset="0"/>
                          <a:ea typeface="Arial" panose="020B0604020202020204" pitchFamily="34" charset="0"/>
                        </a:rPr>
                        <a:t>2024</a:t>
                      </a:r>
                    </a:p>
                  </a:txBody>
                  <a:tcPr marL="9525" marR="9525" marT="9525" marB="9525" anchor="ctr"/>
                </a:tc>
                <a:tc>
                  <a:txBody>
                    <a:bodyPr/>
                    <a:lstStyle/>
                    <a:p>
                      <a:pPr>
                        <a:lnSpc>
                          <a:spcPct val="115000"/>
                        </a:lnSpc>
                        <a:buNone/>
                      </a:pPr>
                      <a:r>
                        <a:rPr lang="en-IN" sz="1600" b="1">
                          <a:effectLst/>
                          <a:latin typeface="Arial" panose="020B0604020202020204" pitchFamily="34" charset="0"/>
                          <a:ea typeface="Arial" panose="020B0604020202020204" pitchFamily="34" charset="0"/>
                        </a:rPr>
                        <a:t>Limitations of LLMs in Financial Forecasting</a:t>
                      </a:r>
                    </a:p>
                  </a:txBody>
                  <a:tcPr marL="9525" marR="9525" marT="9525" marB="9525" anchor="ctr"/>
                </a:tc>
                <a:tc>
                  <a:txBody>
                    <a:bodyPr/>
                    <a:lstStyle/>
                    <a:p>
                      <a:pPr>
                        <a:lnSpc>
                          <a:spcPct val="115000"/>
                        </a:lnSpc>
                        <a:buNone/>
                      </a:pPr>
                      <a:r>
                        <a:rPr lang="en-IN" sz="1600" b="0">
                          <a:effectLst/>
                          <a:latin typeface="Arial" panose="020B0604020202020204" pitchFamily="34" charset="0"/>
                          <a:ea typeface="Arial" panose="020B0604020202020204" pitchFamily="34" charset="0"/>
                        </a:rPr>
                        <a:t>Conducted large-scale testing of LLM predictions vs actual stock movements using historical price datasets</a:t>
                      </a:r>
                    </a:p>
                  </a:txBody>
                  <a:tcPr marL="9525" marR="9525" marT="9525" marB="9525" anchor="ctr"/>
                </a:tc>
                <a:tc>
                  <a:txBody>
                    <a:bodyPr/>
                    <a:lstStyle/>
                    <a:p>
                      <a:pPr>
                        <a:lnSpc>
                          <a:spcPct val="115000"/>
                        </a:lnSpc>
                        <a:buNone/>
                      </a:pPr>
                      <a:r>
                        <a:rPr lang="en-IN" sz="1600" b="0">
                          <a:effectLst/>
                          <a:latin typeface="Arial" panose="020B0604020202020204" pitchFamily="34" charset="0"/>
                          <a:ea typeface="Arial" panose="020B0604020202020204" pitchFamily="34" charset="0"/>
                        </a:rPr>
                        <a:t>Demonstrates that LLMs frequently hallucinate numerical facts and fail to generate reliable forecasts</a:t>
                      </a:r>
                    </a:p>
                  </a:txBody>
                  <a:tcPr marL="9525" marR="9525" marT="9525" marB="9525" anchor="ctr"/>
                </a:tc>
                <a:tc>
                  <a:txBody>
                    <a:bodyPr/>
                    <a:lstStyle/>
                    <a:p>
                      <a:pPr>
                        <a:lnSpc>
                          <a:spcPct val="115000"/>
                        </a:lnSpc>
                        <a:buNone/>
                      </a:pPr>
                      <a:r>
                        <a:rPr lang="en-IN" sz="1600" b="0">
                          <a:effectLst/>
                          <a:latin typeface="Arial" panose="020B0604020202020204" pitchFamily="34" charset="0"/>
                          <a:ea typeface="Arial" panose="020B0604020202020204" pitchFamily="34" charset="0"/>
                        </a:rPr>
                        <a:t>Does not explore the impact of structured agents, tool-use, or planner-guided reasoning to reduce errors</a:t>
                      </a:r>
                    </a:p>
                  </a:txBody>
                  <a:tcPr marL="9525" marR="9525" marT="9525" marB="9525" anchor="ctr"/>
                </a:tc>
                <a:extLst>
                  <a:ext uri="{0D108BD9-81ED-4DB2-BD59-A6C34878D82A}">
                    <a16:rowId xmlns:a16="http://schemas.microsoft.com/office/drawing/2014/main" val="10001"/>
                  </a:ext>
                </a:extLst>
              </a:tr>
              <a:tr h="1255034">
                <a:tc>
                  <a:txBody>
                    <a:bodyPr/>
                    <a:lstStyle/>
                    <a:p>
                      <a:pPr>
                        <a:lnSpc>
                          <a:spcPct val="115000"/>
                        </a:lnSpc>
                        <a:buNone/>
                      </a:pPr>
                      <a:r>
                        <a:rPr lang="en-IN" sz="1600" b="0">
                          <a:effectLst/>
                          <a:latin typeface="Arial" panose="020B0604020202020204" pitchFamily="34" charset="0"/>
                          <a:ea typeface="Arial" panose="020B0604020202020204" pitchFamily="34" charset="0"/>
                        </a:rPr>
                        <a:t>2025</a:t>
                      </a:r>
                    </a:p>
                  </a:txBody>
                  <a:tcPr marL="9525" marR="9525" marT="9525" marB="9525" anchor="ctr"/>
                </a:tc>
                <a:tc>
                  <a:txBody>
                    <a:bodyPr/>
                    <a:lstStyle/>
                    <a:p>
                      <a:pPr>
                        <a:lnSpc>
                          <a:spcPct val="115000"/>
                        </a:lnSpc>
                        <a:buNone/>
                      </a:pPr>
                      <a:r>
                        <a:rPr lang="en-IN" sz="1600" b="1">
                          <a:effectLst/>
                          <a:latin typeface="Arial" panose="020B0604020202020204" pitchFamily="34" charset="0"/>
                          <a:ea typeface="Arial" panose="020B0604020202020204" pitchFamily="34" charset="0"/>
                        </a:rPr>
                        <a:t>The Unreliability of AI Chatbots in High-Stakes Decision-Making</a:t>
                      </a:r>
                    </a:p>
                  </a:txBody>
                  <a:tcPr marL="9525" marR="9525" marT="9525" marB="9525" anchor="ctr"/>
                </a:tc>
                <a:tc>
                  <a:txBody>
                    <a:bodyPr/>
                    <a:lstStyle/>
                    <a:p>
                      <a:pPr>
                        <a:lnSpc>
                          <a:spcPct val="115000"/>
                        </a:lnSpc>
                        <a:buNone/>
                      </a:pPr>
                      <a:r>
                        <a:rPr lang="en-IN" sz="1600" b="0" dirty="0">
                          <a:effectLst/>
                          <a:latin typeface="Arial" panose="020B0604020202020204" pitchFamily="34" charset="0"/>
                          <a:ea typeface="Arial" panose="020B0604020202020204" pitchFamily="34" charset="0"/>
                        </a:rPr>
                        <a:t>Ran </a:t>
                      </a:r>
                      <a:r>
                        <a:rPr lang="en-IN" sz="1600" b="0" dirty="0" err="1">
                          <a:effectLst/>
                          <a:latin typeface="Arial" panose="020B0604020202020204" pitchFamily="34" charset="0"/>
                          <a:ea typeface="Arial" panose="020B0604020202020204" pitchFamily="34" charset="0"/>
                        </a:rPr>
                        <a:t>behavioral</a:t>
                      </a:r>
                      <a:r>
                        <a:rPr lang="en-IN" sz="1600" b="0" dirty="0">
                          <a:effectLst/>
                          <a:latin typeface="Arial" panose="020B0604020202020204" pitchFamily="34" charset="0"/>
                          <a:ea typeface="Arial" panose="020B0604020202020204" pitchFamily="34" charset="0"/>
                        </a:rPr>
                        <a:t> experiments where users made investment decisions based on chatbot responses</a:t>
                      </a:r>
                    </a:p>
                  </a:txBody>
                  <a:tcPr marL="9525" marR="9525" marT="9525" marB="9525" anchor="ctr"/>
                </a:tc>
                <a:tc>
                  <a:txBody>
                    <a:bodyPr/>
                    <a:lstStyle/>
                    <a:p>
                      <a:pPr>
                        <a:lnSpc>
                          <a:spcPct val="115000"/>
                        </a:lnSpc>
                        <a:buNone/>
                      </a:pPr>
                      <a:r>
                        <a:rPr lang="en-IN" sz="1600" b="0" dirty="0">
                          <a:effectLst/>
                          <a:latin typeface="Arial" panose="020B0604020202020204" pitchFamily="34" charset="0"/>
                          <a:ea typeface="Arial" panose="020B0604020202020204" pitchFamily="34" charset="0"/>
                        </a:rPr>
                        <a:t>Shows financial chatbots produce inconsistent advice and amplify user risk due to misleading explanations</a:t>
                      </a:r>
                    </a:p>
                  </a:txBody>
                  <a:tcPr marL="9525" marR="9525" marT="9525" marB="9525" anchor="ctr"/>
                </a:tc>
                <a:tc>
                  <a:txBody>
                    <a:bodyPr/>
                    <a:lstStyle/>
                    <a:p>
                      <a:pPr>
                        <a:lnSpc>
                          <a:spcPct val="115000"/>
                        </a:lnSpc>
                        <a:buNone/>
                      </a:pPr>
                      <a:r>
                        <a:rPr lang="en-IN" sz="1600" b="0" dirty="0">
                          <a:effectLst/>
                          <a:latin typeface="Arial" panose="020B0604020202020204" pitchFamily="34" charset="0"/>
                          <a:ea typeface="Arial" panose="020B0604020202020204" pitchFamily="34" charset="0"/>
                        </a:rPr>
                        <a:t>Evaluates only generic chatbots, not specialized agentic systems designed for controlled financial analysis</a:t>
                      </a:r>
                    </a:p>
                  </a:txBody>
                  <a:tcPr marL="9525" marR="9525" marT="9525" marB="9525" anchor="ctr"/>
                </a:tc>
                <a:extLst>
                  <a:ext uri="{0D108BD9-81ED-4DB2-BD59-A6C34878D82A}">
                    <a16:rowId xmlns:a16="http://schemas.microsoft.com/office/drawing/2014/main" val="10002"/>
                  </a:ext>
                </a:extLst>
              </a:tr>
              <a:tr h="1616743">
                <a:tc>
                  <a:txBody>
                    <a:bodyPr/>
                    <a:lstStyle/>
                    <a:p>
                      <a:pPr>
                        <a:lnSpc>
                          <a:spcPct val="115000"/>
                        </a:lnSpc>
                        <a:buNone/>
                      </a:pPr>
                      <a:r>
                        <a:rPr lang="en-IN" sz="1600" b="0">
                          <a:effectLst/>
                          <a:latin typeface="Arial" panose="020B0604020202020204" pitchFamily="34" charset="0"/>
                          <a:ea typeface="Arial" panose="020B0604020202020204" pitchFamily="34" charset="0"/>
                        </a:rPr>
                        <a:t>2024</a:t>
                      </a:r>
                    </a:p>
                  </a:txBody>
                  <a:tcPr marL="9525" marR="9525" marT="9525" marB="9525" anchor="ctr"/>
                </a:tc>
                <a:tc>
                  <a:txBody>
                    <a:bodyPr/>
                    <a:lstStyle/>
                    <a:p>
                      <a:pPr>
                        <a:lnSpc>
                          <a:spcPct val="115000"/>
                        </a:lnSpc>
                        <a:buNone/>
                      </a:pPr>
                      <a:r>
                        <a:rPr lang="en-IN" sz="1600" b="1" dirty="0">
                          <a:effectLst/>
                          <a:latin typeface="Arial" panose="020B0604020202020204" pitchFamily="34" charset="0"/>
                          <a:ea typeface="Arial" panose="020B0604020202020204" pitchFamily="34" charset="0"/>
                        </a:rPr>
                        <a:t>Hallucinations in Financial LLMs: A Quantitative Study</a:t>
                      </a:r>
                    </a:p>
                  </a:txBody>
                  <a:tcPr marL="9525" marR="9525" marT="9525" marB="9525" anchor="ctr"/>
                </a:tc>
                <a:tc>
                  <a:txBody>
                    <a:bodyPr/>
                    <a:lstStyle/>
                    <a:p>
                      <a:pPr>
                        <a:lnSpc>
                          <a:spcPct val="115000"/>
                        </a:lnSpc>
                        <a:buNone/>
                      </a:pPr>
                      <a:r>
                        <a:rPr lang="en-IN" sz="1600" b="0" dirty="0">
                          <a:effectLst/>
                          <a:latin typeface="Arial" panose="020B0604020202020204" pitchFamily="34" charset="0"/>
                          <a:ea typeface="Arial" panose="020B0604020202020204" pitchFamily="34" charset="0"/>
                        </a:rPr>
                        <a:t>Benchmarked multiple LLMs on financial QA datasets and measured hallucination levels during market volatility</a:t>
                      </a:r>
                    </a:p>
                  </a:txBody>
                  <a:tcPr marL="9525" marR="9525" marT="9525" marB="9525" anchor="ctr"/>
                </a:tc>
                <a:tc>
                  <a:txBody>
                    <a:bodyPr/>
                    <a:lstStyle/>
                    <a:p>
                      <a:pPr>
                        <a:lnSpc>
                          <a:spcPct val="115000"/>
                        </a:lnSpc>
                        <a:buNone/>
                      </a:pPr>
                      <a:r>
                        <a:rPr lang="en-IN" sz="1600" b="0">
                          <a:effectLst/>
                          <a:latin typeface="Arial" panose="020B0604020202020204" pitchFamily="34" charset="0"/>
                          <a:ea typeface="Arial" panose="020B0604020202020204" pitchFamily="34" charset="0"/>
                        </a:rPr>
                        <a:t>Provides strong evidence that LLMs hallucinate more in finance than in other domains</a:t>
                      </a:r>
                    </a:p>
                  </a:txBody>
                  <a:tcPr marL="9525" marR="9525" marT="9525" marB="9525" anchor="ctr"/>
                </a:tc>
                <a:tc>
                  <a:txBody>
                    <a:bodyPr/>
                    <a:lstStyle/>
                    <a:p>
                      <a:pPr>
                        <a:lnSpc>
                          <a:spcPct val="115000"/>
                        </a:lnSpc>
                        <a:buNone/>
                      </a:pPr>
                      <a:r>
                        <a:rPr lang="en-IN" sz="1600" b="0" dirty="0">
                          <a:effectLst/>
                          <a:latin typeface="Arial" panose="020B0604020202020204" pitchFamily="34" charset="0"/>
                          <a:ea typeface="Arial" panose="020B0604020202020204" pitchFamily="34" charset="0"/>
                        </a:rPr>
                        <a:t>Lacks mechanisms for controlling hallucinations such as retrieval, modular agents, or fact-verification tools</a:t>
                      </a:r>
                    </a:p>
                  </a:txBody>
                  <a:tcPr marL="9525" marR="9525" marT="9525" marB="9525"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B13BEBA8-4346-8859-E10D-D646D7C013D9}"/>
            </a:ext>
          </a:extLst>
        </p:cNvPr>
        <p:cNvGrpSpPr/>
        <p:nvPr/>
      </p:nvGrpSpPr>
      <p:grpSpPr>
        <a:xfrm>
          <a:off x="0" y="0"/>
          <a:ext cx="0" cy="0"/>
          <a:chOff x="0" y="0"/>
          <a:chExt cx="0" cy="0"/>
        </a:xfrm>
      </p:grpSpPr>
      <p:sp>
        <p:nvSpPr>
          <p:cNvPr id="102" name="Google Shape;102;p3">
            <a:extLst>
              <a:ext uri="{FF2B5EF4-FFF2-40B4-BE49-F238E27FC236}">
                <a16:creationId xmlns:a16="http://schemas.microsoft.com/office/drawing/2014/main" id="{7635D979-D417-1F8B-CDB4-E1DC176E7096}"/>
              </a:ext>
            </a:extLst>
          </p:cNvPr>
          <p:cNvSpPr txBox="1">
            <a:spLocks noGrp="1"/>
          </p:cNvSpPr>
          <p:nvPr>
            <p:ph type="title"/>
          </p:nvPr>
        </p:nvSpPr>
        <p:spPr>
          <a:xfrm>
            <a:off x="1089764" y="214816"/>
            <a:ext cx="9870510" cy="665717"/>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930B0B"/>
              </a:buClr>
              <a:buSzPts val="3600"/>
              <a:buFont typeface="Times New Roman"/>
              <a:buNone/>
            </a:pPr>
            <a:r>
              <a:rPr lang="en-US"/>
              <a:t>Literature survey</a:t>
            </a:r>
            <a:endParaRPr/>
          </a:p>
        </p:txBody>
      </p:sp>
      <p:graphicFrame>
        <p:nvGraphicFramePr>
          <p:cNvPr id="103" name="Google Shape;103;p3">
            <a:extLst>
              <a:ext uri="{FF2B5EF4-FFF2-40B4-BE49-F238E27FC236}">
                <a16:creationId xmlns:a16="http://schemas.microsoft.com/office/drawing/2014/main" id="{D2B89F22-6937-CBC9-21C1-511A5150FC0D}"/>
              </a:ext>
            </a:extLst>
          </p:cNvPr>
          <p:cNvGraphicFramePr/>
          <p:nvPr>
            <p:extLst>
              <p:ext uri="{D42A27DB-BD31-4B8C-83A1-F6EECF244321}">
                <p14:modId xmlns:p14="http://schemas.microsoft.com/office/powerpoint/2010/main" val="420694877"/>
              </p:ext>
            </p:extLst>
          </p:nvPr>
        </p:nvGraphicFramePr>
        <p:xfrm>
          <a:off x="751115" y="880533"/>
          <a:ext cx="11157855" cy="5356982"/>
        </p:xfrm>
        <a:graphic>
          <a:graphicData uri="http://schemas.openxmlformats.org/drawingml/2006/table">
            <a:tbl>
              <a:tblPr firstRow="1" bandRow="1">
                <a:noFill/>
                <a:tableStyleId>{48133A83-268A-4673-80D7-47B9B74EA727}</a:tableStyleId>
              </a:tblPr>
              <a:tblGrid>
                <a:gridCol w="772885">
                  <a:extLst>
                    <a:ext uri="{9D8B030D-6E8A-4147-A177-3AD203B41FA5}">
                      <a16:colId xmlns:a16="http://schemas.microsoft.com/office/drawing/2014/main" val="20000"/>
                    </a:ext>
                  </a:extLst>
                </a:gridCol>
                <a:gridCol w="2146300">
                  <a:extLst>
                    <a:ext uri="{9D8B030D-6E8A-4147-A177-3AD203B41FA5}">
                      <a16:colId xmlns:a16="http://schemas.microsoft.com/office/drawing/2014/main" val="20001"/>
                    </a:ext>
                  </a:extLst>
                </a:gridCol>
                <a:gridCol w="2752271">
                  <a:extLst>
                    <a:ext uri="{9D8B030D-6E8A-4147-A177-3AD203B41FA5}">
                      <a16:colId xmlns:a16="http://schemas.microsoft.com/office/drawing/2014/main" val="20002"/>
                    </a:ext>
                  </a:extLst>
                </a:gridCol>
                <a:gridCol w="2786743">
                  <a:extLst>
                    <a:ext uri="{9D8B030D-6E8A-4147-A177-3AD203B41FA5}">
                      <a16:colId xmlns:a16="http://schemas.microsoft.com/office/drawing/2014/main" val="3690596373"/>
                    </a:ext>
                  </a:extLst>
                </a:gridCol>
                <a:gridCol w="2699656">
                  <a:extLst>
                    <a:ext uri="{9D8B030D-6E8A-4147-A177-3AD203B41FA5}">
                      <a16:colId xmlns:a16="http://schemas.microsoft.com/office/drawing/2014/main" val="3841398597"/>
                    </a:ext>
                  </a:extLst>
                </a:gridCol>
              </a:tblGrid>
              <a:tr h="815161">
                <a:tc>
                  <a:txBody>
                    <a:bodyPr/>
                    <a:lstStyle/>
                    <a:p>
                      <a:pPr>
                        <a:buNone/>
                      </a:pPr>
                      <a:r>
                        <a:rPr lang="en-IN" sz="1600" b="1" dirty="0">
                          <a:latin typeface="Times New Roman" panose="02020603050405020304" pitchFamily="18" charset="0"/>
                          <a:cs typeface="Times New Roman" panose="02020603050405020304" pitchFamily="18" charset="0"/>
                        </a:rPr>
                        <a:t>Year</a:t>
                      </a:r>
                    </a:p>
                  </a:txBody>
                  <a:tcPr anchor="ctr"/>
                </a:tc>
                <a:tc>
                  <a:txBody>
                    <a:bodyPr/>
                    <a:lstStyle/>
                    <a:p>
                      <a:pPr>
                        <a:buNone/>
                      </a:pPr>
                      <a:r>
                        <a:rPr lang="en-IN" sz="1600" b="1" dirty="0">
                          <a:latin typeface="Times New Roman" panose="02020603050405020304" pitchFamily="18" charset="0"/>
                          <a:cs typeface="Times New Roman" panose="02020603050405020304" pitchFamily="18" charset="0"/>
                        </a:rPr>
                        <a:t>Title</a:t>
                      </a:r>
                    </a:p>
                  </a:txBody>
                  <a:tcPr anchor="ctr"/>
                </a:tc>
                <a:tc>
                  <a:txBody>
                    <a:bodyPr/>
                    <a:lstStyle/>
                    <a:p>
                      <a:pPr>
                        <a:buNone/>
                      </a:pPr>
                      <a:r>
                        <a:rPr lang="en-IN" sz="1600" b="1" dirty="0">
                          <a:latin typeface="Times New Roman" panose="02020603050405020304" pitchFamily="18" charset="0"/>
                          <a:cs typeface="Times New Roman" panose="02020603050405020304" pitchFamily="18" charset="0"/>
                        </a:rPr>
                        <a:t>Approach / Methodology</a:t>
                      </a:r>
                    </a:p>
                  </a:txBody>
                  <a:tcPr anchor="ctr"/>
                </a:tc>
                <a:tc>
                  <a:txBody>
                    <a:bodyPr/>
                    <a:lstStyle/>
                    <a:p>
                      <a:pPr>
                        <a:buNone/>
                      </a:pPr>
                      <a:r>
                        <a:rPr lang="en-IN" sz="1600" b="1" dirty="0">
                          <a:latin typeface="Times New Roman" panose="02020603050405020304" pitchFamily="18" charset="0"/>
                          <a:cs typeface="Times New Roman" panose="02020603050405020304" pitchFamily="18" charset="0"/>
                        </a:rPr>
                        <a:t>Key Contribution</a:t>
                      </a:r>
                    </a:p>
                  </a:txBody>
                  <a:tcPr anchor="ctr"/>
                </a:tc>
                <a:tc>
                  <a:txBody>
                    <a:bodyPr/>
                    <a:lstStyle/>
                    <a:p>
                      <a:pPr>
                        <a:buNone/>
                      </a:pPr>
                      <a:r>
                        <a:rPr lang="en-IN" sz="1600" b="1" dirty="0">
                          <a:latin typeface="Times New Roman" panose="02020603050405020304" pitchFamily="18" charset="0"/>
                          <a:cs typeface="Times New Roman" panose="02020603050405020304" pitchFamily="18" charset="0"/>
                        </a:rPr>
                        <a:t>Limitation / Gap</a:t>
                      </a:r>
                    </a:p>
                  </a:txBody>
                  <a:tcPr anchor="ctr"/>
                </a:tc>
                <a:extLst>
                  <a:ext uri="{0D108BD9-81ED-4DB2-BD59-A6C34878D82A}">
                    <a16:rowId xmlns:a16="http://schemas.microsoft.com/office/drawing/2014/main" val="10000"/>
                  </a:ext>
                </a:extLst>
              </a:tr>
              <a:tr h="1505705">
                <a:tc>
                  <a:txBody>
                    <a:bodyPr/>
                    <a:lstStyle/>
                    <a:p>
                      <a:pPr>
                        <a:lnSpc>
                          <a:spcPct val="115000"/>
                        </a:lnSpc>
                        <a:buNone/>
                      </a:pPr>
                      <a:r>
                        <a:rPr lang="en-IN" sz="1600" b="1" dirty="0">
                          <a:effectLst/>
                          <a:latin typeface="Times New Roman" panose="02020603050405020304" pitchFamily="18" charset="0"/>
                          <a:ea typeface="Arial" panose="020B0604020202020204" pitchFamily="34" charset="0"/>
                          <a:cs typeface="Times New Roman" panose="02020603050405020304" pitchFamily="18" charset="0"/>
                        </a:rPr>
                        <a:t>2023</a:t>
                      </a:r>
                    </a:p>
                  </a:txBody>
                  <a:tcPr marL="9525" marR="9525" marT="9525" marB="9525" anchor="ctr"/>
                </a:tc>
                <a:tc>
                  <a:txBody>
                    <a:bodyPr/>
                    <a:lstStyle/>
                    <a:p>
                      <a:pPr>
                        <a:lnSpc>
                          <a:spcPct val="115000"/>
                        </a:lnSpc>
                        <a:buNone/>
                      </a:pPr>
                      <a:r>
                        <a:rPr lang="en-IN" sz="1600" b="1" i="0" dirty="0">
                          <a:effectLst/>
                          <a:latin typeface="Times New Roman" panose="02020603050405020304" pitchFamily="18" charset="0"/>
                          <a:ea typeface="Arial" panose="020B0604020202020204" pitchFamily="34" charset="0"/>
                          <a:cs typeface="Times New Roman" panose="02020603050405020304" pitchFamily="18" charset="0"/>
                        </a:rPr>
                        <a:t>Retrieval-Augmented Multi-Agent System for Financial Sentiment Analysis</a:t>
                      </a:r>
                    </a:p>
                  </a:txBody>
                  <a:tcPr marL="9525" marR="9525" marT="9525" marB="9525" anchor="ctr"/>
                </a:tc>
                <a:tc>
                  <a:txBody>
                    <a:bodyPr/>
                    <a:lstStyle/>
                    <a:p>
                      <a:pPr>
                        <a:lnSpc>
                          <a:spcPct val="115000"/>
                        </a:lnSpc>
                        <a:buNone/>
                      </a:pPr>
                      <a:r>
                        <a:rPr lang="en-IN" sz="1600" b="0">
                          <a:effectLst/>
                          <a:latin typeface="Times New Roman" panose="02020603050405020304" pitchFamily="18" charset="0"/>
                          <a:ea typeface="Arial" panose="020B0604020202020204" pitchFamily="34" charset="0"/>
                          <a:cs typeface="Times New Roman" panose="02020603050405020304" pitchFamily="18" charset="0"/>
                        </a:rPr>
                        <a:t>Retrieval-Augmented Generation (RAG) + multi-agent pipeline (retriever, analyzer, aggregator).</a:t>
                      </a:r>
                    </a:p>
                  </a:txBody>
                  <a:tcPr marL="9525" marR="9525" marT="9525" marB="9525" anchor="ctr"/>
                </a:tc>
                <a:tc>
                  <a:txBody>
                    <a:bodyPr/>
                    <a:lstStyle/>
                    <a:p>
                      <a:pPr>
                        <a:lnSpc>
                          <a:spcPct val="115000"/>
                        </a:lnSpc>
                        <a:buNone/>
                      </a:pPr>
                      <a:r>
                        <a:rPr lang="en-IN" sz="1600" b="0" dirty="0">
                          <a:effectLst/>
                          <a:latin typeface="Times New Roman" panose="02020603050405020304" pitchFamily="18" charset="0"/>
                          <a:ea typeface="Arial" panose="020B0604020202020204" pitchFamily="34" charset="0"/>
                          <a:cs typeface="Times New Roman" panose="02020603050405020304" pitchFamily="18" charset="0"/>
                        </a:rPr>
                        <a:t>Improves sentiment reliability; reduces hallucination through retrieval grounding.</a:t>
                      </a:r>
                    </a:p>
                  </a:txBody>
                  <a:tcPr marL="9525" marR="9525" marT="9525" marB="9525" anchor="ctr"/>
                </a:tc>
                <a:tc>
                  <a:txBody>
                    <a:bodyPr/>
                    <a:lstStyle/>
                    <a:p>
                      <a:pPr>
                        <a:lnSpc>
                          <a:spcPct val="115000"/>
                        </a:lnSpc>
                        <a:buNone/>
                      </a:pPr>
                      <a:r>
                        <a:rPr lang="en-IN" sz="1600" b="0" dirty="0">
                          <a:effectLst/>
                          <a:latin typeface="Times New Roman" panose="02020603050405020304" pitchFamily="18" charset="0"/>
                          <a:ea typeface="Arial" panose="020B0604020202020204" pitchFamily="34" charset="0"/>
                          <a:cs typeface="Times New Roman" panose="02020603050405020304" pitchFamily="18" charset="0"/>
                        </a:rPr>
                        <a:t>Dependent on retrieval quality; no integration with portfolio optimization; lacks uncertainty scoring.</a:t>
                      </a:r>
                    </a:p>
                  </a:txBody>
                  <a:tcPr marL="9525" marR="9525" marT="9525" marB="9525" anchor="ctr"/>
                </a:tc>
                <a:extLst>
                  <a:ext uri="{0D108BD9-81ED-4DB2-BD59-A6C34878D82A}">
                    <a16:rowId xmlns:a16="http://schemas.microsoft.com/office/drawing/2014/main" val="10001"/>
                  </a:ext>
                </a:extLst>
              </a:tr>
              <a:tr h="1505705">
                <a:tc>
                  <a:txBody>
                    <a:bodyPr/>
                    <a:lstStyle/>
                    <a:p>
                      <a:pPr>
                        <a:lnSpc>
                          <a:spcPct val="115000"/>
                        </a:lnSpc>
                        <a:buNone/>
                      </a:pPr>
                      <a:r>
                        <a:rPr lang="en-IN" sz="1600" b="1" dirty="0">
                          <a:effectLst/>
                          <a:latin typeface="Times New Roman" panose="02020603050405020304" pitchFamily="18" charset="0"/>
                          <a:ea typeface="Arial" panose="020B0604020202020204" pitchFamily="34" charset="0"/>
                          <a:cs typeface="Times New Roman" panose="02020603050405020304" pitchFamily="18" charset="0"/>
                        </a:rPr>
                        <a:t>2024</a:t>
                      </a:r>
                    </a:p>
                  </a:txBody>
                  <a:tcPr marL="9525" marR="9525" marT="9525" marB="9525" anchor="ctr"/>
                </a:tc>
                <a:tc>
                  <a:txBody>
                    <a:bodyPr/>
                    <a:lstStyle/>
                    <a:p>
                      <a:pPr>
                        <a:lnSpc>
                          <a:spcPct val="115000"/>
                        </a:lnSpc>
                        <a:buNone/>
                      </a:pPr>
                      <a:r>
                        <a:rPr lang="en-IN" sz="1600" b="1" i="0" dirty="0" err="1">
                          <a:effectLst/>
                          <a:latin typeface="Times New Roman" panose="02020603050405020304" pitchFamily="18" charset="0"/>
                          <a:ea typeface="Arial" panose="020B0604020202020204" pitchFamily="34" charset="0"/>
                          <a:cs typeface="Times New Roman" panose="02020603050405020304" pitchFamily="18" charset="0"/>
                        </a:rPr>
                        <a:t>Agentbase</a:t>
                      </a:r>
                      <a:r>
                        <a:rPr lang="en-IN" sz="1600" b="1" i="0" dirty="0">
                          <a:effectLst/>
                          <a:latin typeface="Times New Roman" panose="02020603050405020304" pitchFamily="18" charset="0"/>
                          <a:ea typeface="Arial" panose="020B0604020202020204" pitchFamily="34" charset="0"/>
                          <a:cs typeface="Times New Roman" panose="02020603050405020304" pitchFamily="18" charset="0"/>
                        </a:rPr>
                        <a:t>: A Framework for Handling Multiple Agents</a:t>
                      </a:r>
                    </a:p>
                  </a:txBody>
                  <a:tcPr marL="9525" marR="9525" marT="9525" marB="9525" anchor="ctr"/>
                </a:tc>
                <a:tc>
                  <a:txBody>
                    <a:bodyPr/>
                    <a:lstStyle/>
                    <a:p>
                      <a:pPr>
                        <a:lnSpc>
                          <a:spcPct val="115000"/>
                        </a:lnSpc>
                        <a:buNone/>
                      </a:pPr>
                      <a:r>
                        <a:rPr lang="en-IN" sz="1600" b="0" dirty="0">
                          <a:effectLst/>
                          <a:latin typeface="Times New Roman" panose="02020603050405020304" pitchFamily="18" charset="0"/>
                          <a:ea typeface="Arial" panose="020B0604020202020204" pitchFamily="34" charset="0"/>
                          <a:cs typeface="Times New Roman" panose="02020603050405020304" pitchFamily="18" charset="0"/>
                        </a:rPr>
                        <a:t>Framework for state-sharing, role delegation, and multi-agent tool-use.</a:t>
                      </a:r>
                    </a:p>
                  </a:txBody>
                  <a:tcPr marL="9525" marR="9525" marT="9525" marB="9525" anchor="ctr"/>
                </a:tc>
                <a:tc>
                  <a:txBody>
                    <a:bodyPr/>
                    <a:lstStyle/>
                    <a:p>
                      <a:pPr>
                        <a:lnSpc>
                          <a:spcPct val="115000"/>
                        </a:lnSpc>
                        <a:buNone/>
                      </a:pPr>
                      <a:r>
                        <a:rPr lang="en-IN" sz="1600" b="0">
                          <a:effectLst/>
                          <a:latin typeface="Times New Roman" panose="02020603050405020304" pitchFamily="18" charset="0"/>
                          <a:ea typeface="Arial" panose="020B0604020202020204" pitchFamily="34" charset="0"/>
                          <a:cs typeface="Times New Roman" panose="02020603050405020304" pitchFamily="18" charset="0"/>
                        </a:rPr>
                        <a:t>Modular and scalable MAS framework; improves construction of agent systems.</a:t>
                      </a:r>
                    </a:p>
                  </a:txBody>
                  <a:tcPr marL="9525" marR="9525" marT="9525" marB="9525" anchor="ctr"/>
                </a:tc>
                <a:tc>
                  <a:txBody>
                    <a:bodyPr/>
                    <a:lstStyle/>
                    <a:p>
                      <a:pPr>
                        <a:lnSpc>
                          <a:spcPct val="115000"/>
                        </a:lnSpc>
                        <a:buNone/>
                      </a:pPr>
                      <a:r>
                        <a:rPr lang="en-IN" sz="1600" b="0" dirty="0">
                          <a:effectLst/>
                          <a:latin typeface="Times New Roman" panose="02020603050405020304" pitchFamily="18" charset="0"/>
                          <a:ea typeface="Arial" panose="020B0604020202020204" pitchFamily="34" charset="0"/>
                          <a:cs typeface="Times New Roman" panose="02020603050405020304" pitchFamily="18" charset="0"/>
                        </a:rPr>
                        <a:t>No correctness guarantees; not evaluated in finance; lacks uncertainty and safety mechanisms.</a:t>
                      </a:r>
                    </a:p>
                  </a:txBody>
                  <a:tcPr marL="9525" marR="9525" marT="9525" marB="9525" anchor="ctr"/>
                </a:tc>
                <a:extLst>
                  <a:ext uri="{0D108BD9-81ED-4DB2-BD59-A6C34878D82A}">
                    <a16:rowId xmlns:a16="http://schemas.microsoft.com/office/drawing/2014/main" val="10002"/>
                  </a:ext>
                </a:extLst>
              </a:tr>
              <a:tr h="1530411">
                <a:tc>
                  <a:txBody>
                    <a:bodyPr/>
                    <a:lstStyle/>
                    <a:p>
                      <a:pPr>
                        <a:lnSpc>
                          <a:spcPct val="115000"/>
                        </a:lnSpc>
                        <a:buNone/>
                      </a:pPr>
                      <a:r>
                        <a:rPr lang="en-IN" sz="1600" b="0">
                          <a:effectLst/>
                          <a:latin typeface="Times New Roman" panose="02020603050405020304" pitchFamily="18" charset="0"/>
                          <a:ea typeface="Arial" panose="020B0604020202020204" pitchFamily="34" charset="0"/>
                          <a:cs typeface="Times New Roman" panose="02020603050405020304" pitchFamily="18" charset="0"/>
                        </a:rPr>
                        <a:t>2024</a:t>
                      </a:r>
                    </a:p>
                  </a:txBody>
                  <a:tcPr marL="9525" marR="9525" marT="9525" marB="9525" anchor="ctr"/>
                </a:tc>
                <a:tc>
                  <a:txBody>
                    <a:bodyPr/>
                    <a:lstStyle/>
                    <a:p>
                      <a:pPr>
                        <a:lnSpc>
                          <a:spcPct val="115000"/>
                        </a:lnSpc>
                        <a:buNone/>
                      </a:pPr>
                      <a:r>
                        <a:rPr lang="en-IN" sz="1600" b="1" dirty="0">
                          <a:effectLst/>
                          <a:latin typeface="Times New Roman" panose="02020603050405020304" pitchFamily="18" charset="0"/>
                          <a:ea typeface="Arial" panose="020B0604020202020204" pitchFamily="34" charset="0"/>
                          <a:cs typeface="Times New Roman" panose="02020603050405020304" pitchFamily="18" charset="0"/>
                        </a:rPr>
                        <a:t>Overfitting &amp; Instability in Algorithmic Advisors</a:t>
                      </a:r>
                    </a:p>
                  </a:txBody>
                  <a:tcPr marL="9525" marR="9525" marT="9525" marB="9525" anchor="ctr"/>
                </a:tc>
                <a:tc>
                  <a:txBody>
                    <a:bodyPr/>
                    <a:lstStyle/>
                    <a:p>
                      <a:pPr>
                        <a:lnSpc>
                          <a:spcPct val="115000"/>
                        </a:lnSpc>
                        <a:buNone/>
                      </a:pPr>
                      <a:r>
                        <a:rPr lang="en-IN" sz="1600" b="0">
                          <a:effectLst/>
                          <a:latin typeface="Times New Roman" panose="02020603050405020304" pitchFamily="18" charset="0"/>
                          <a:ea typeface="Arial" panose="020B0604020202020204" pitchFamily="34" charset="0"/>
                          <a:cs typeface="Times New Roman" panose="02020603050405020304" pitchFamily="18" charset="0"/>
                        </a:rPr>
                        <a:t>Analyzed machine learning–based robo-advisors on multiple datasets to detect overfitting patterns</a:t>
                      </a:r>
                    </a:p>
                  </a:txBody>
                  <a:tcPr marL="9525" marR="9525" marT="9525" marB="9525" anchor="ctr"/>
                </a:tc>
                <a:tc>
                  <a:txBody>
                    <a:bodyPr/>
                    <a:lstStyle/>
                    <a:p>
                      <a:pPr>
                        <a:lnSpc>
                          <a:spcPct val="115000"/>
                        </a:lnSpc>
                        <a:buNone/>
                      </a:pPr>
                      <a:r>
                        <a:rPr lang="en-IN" sz="1600" b="0">
                          <a:effectLst/>
                          <a:latin typeface="Times New Roman" panose="02020603050405020304" pitchFamily="18" charset="0"/>
                          <a:ea typeface="Arial" panose="020B0604020202020204" pitchFamily="34" charset="0"/>
                          <a:cs typeface="Times New Roman" panose="02020603050405020304" pitchFamily="18" charset="0"/>
                        </a:rPr>
                        <a:t>Shows automated portfolio models become unstable during market shocks and underperform simple strategies</a:t>
                      </a:r>
                    </a:p>
                  </a:txBody>
                  <a:tcPr marL="9525" marR="9525" marT="9525" marB="9525" anchor="ctr"/>
                </a:tc>
                <a:tc>
                  <a:txBody>
                    <a:bodyPr/>
                    <a:lstStyle/>
                    <a:p>
                      <a:pPr>
                        <a:lnSpc>
                          <a:spcPct val="115000"/>
                        </a:lnSpc>
                        <a:buNone/>
                      </a:pPr>
                      <a:r>
                        <a:rPr lang="en-IN" sz="1600" b="0" dirty="0">
                          <a:effectLst/>
                          <a:latin typeface="Times New Roman" panose="02020603050405020304" pitchFamily="18" charset="0"/>
                          <a:ea typeface="Arial" panose="020B0604020202020204" pitchFamily="34" charset="0"/>
                          <a:cs typeface="Times New Roman" panose="02020603050405020304" pitchFamily="18" charset="0"/>
                        </a:rPr>
                        <a:t>Study targets pure ML models; does not evaluate conversational systems that only provide insights, not predictions</a:t>
                      </a:r>
                    </a:p>
                  </a:txBody>
                  <a:tcPr marL="9525" marR="9525" marT="9525" marB="9525"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6761470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06048954-64B8-9E29-83AA-314541333254}"/>
            </a:ext>
          </a:extLst>
        </p:cNvPr>
        <p:cNvGrpSpPr/>
        <p:nvPr/>
      </p:nvGrpSpPr>
      <p:grpSpPr>
        <a:xfrm>
          <a:off x="0" y="0"/>
          <a:ext cx="0" cy="0"/>
          <a:chOff x="0" y="0"/>
          <a:chExt cx="0" cy="0"/>
        </a:xfrm>
      </p:grpSpPr>
      <p:sp>
        <p:nvSpPr>
          <p:cNvPr id="102" name="Google Shape;102;p3">
            <a:extLst>
              <a:ext uri="{FF2B5EF4-FFF2-40B4-BE49-F238E27FC236}">
                <a16:creationId xmlns:a16="http://schemas.microsoft.com/office/drawing/2014/main" id="{DEF8B0DA-B4B2-5517-2C46-47A78977031F}"/>
              </a:ext>
            </a:extLst>
          </p:cNvPr>
          <p:cNvSpPr txBox="1">
            <a:spLocks noGrp="1"/>
          </p:cNvSpPr>
          <p:nvPr>
            <p:ph type="title"/>
          </p:nvPr>
        </p:nvSpPr>
        <p:spPr>
          <a:xfrm>
            <a:off x="1089764" y="214816"/>
            <a:ext cx="9870510" cy="665717"/>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930B0B"/>
              </a:buClr>
              <a:buSzPts val="3600"/>
              <a:buFont typeface="Times New Roman"/>
              <a:buNone/>
            </a:pPr>
            <a:r>
              <a:rPr lang="en-US"/>
              <a:t>Literature survey</a:t>
            </a:r>
            <a:endParaRPr/>
          </a:p>
        </p:txBody>
      </p:sp>
      <p:graphicFrame>
        <p:nvGraphicFramePr>
          <p:cNvPr id="103" name="Google Shape;103;p3">
            <a:extLst>
              <a:ext uri="{FF2B5EF4-FFF2-40B4-BE49-F238E27FC236}">
                <a16:creationId xmlns:a16="http://schemas.microsoft.com/office/drawing/2014/main" id="{D882BA95-4B5E-8319-34AF-89AFC3A581D5}"/>
              </a:ext>
            </a:extLst>
          </p:cNvPr>
          <p:cNvGraphicFramePr/>
          <p:nvPr>
            <p:extLst>
              <p:ext uri="{D42A27DB-BD31-4B8C-83A1-F6EECF244321}">
                <p14:modId xmlns:p14="http://schemas.microsoft.com/office/powerpoint/2010/main" val="1423089162"/>
              </p:ext>
            </p:extLst>
          </p:nvPr>
        </p:nvGraphicFramePr>
        <p:xfrm>
          <a:off x="783772" y="868437"/>
          <a:ext cx="11168742" cy="5465839"/>
        </p:xfrm>
        <a:graphic>
          <a:graphicData uri="http://schemas.openxmlformats.org/drawingml/2006/table">
            <a:tbl>
              <a:tblPr firstRow="1" bandRow="1">
                <a:noFill/>
                <a:tableStyleId>{48133A83-268A-4673-80D7-47B9B74EA727}</a:tableStyleId>
              </a:tblPr>
              <a:tblGrid>
                <a:gridCol w="773639">
                  <a:extLst>
                    <a:ext uri="{9D8B030D-6E8A-4147-A177-3AD203B41FA5}">
                      <a16:colId xmlns:a16="http://schemas.microsoft.com/office/drawing/2014/main" val="20000"/>
                    </a:ext>
                  </a:extLst>
                </a:gridCol>
                <a:gridCol w="2048511">
                  <a:extLst>
                    <a:ext uri="{9D8B030D-6E8A-4147-A177-3AD203B41FA5}">
                      <a16:colId xmlns:a16="http://schemas.microsoft.com/office/drawing/2014/main" val="20001"/>
                    </a:ext>
                  </a:extLst>
                </a:gridCol>
                <a:gridCol w="2854840">
                  <a:extLst>
                    <a:ext uri="{9D8B030D-6E8A-4147-A177-3AD203B41FA5}">
                      <a16:colId xmlns:a16="http://schemas.microsoft.com/office/drawing/2014/main" val="20002"/>
                    </a:ext>
                  </a:extLst>
                </a:gridCol>
                <a:gridCol w="2789462">
                  <a:extLst>
                    <a:ext uri="{9D8B030D-6E8A-4147-A177-3AD203B41FA5}">
                      <a16:colId xmlns:a16="http://schemas.microsoft.com/office/drawing/2014/main" val="3690596373"/>
                    </a:ext>
                  </a:extLst>
                </a:gridCol>
                <a:gridCol w="2702290">
                  <a:extLst>
                    <a:ext uri="{9D8B030D-6E8A-4147-A177-3AD203B41FA5}">
                      <a16:colId xmlns:a16="http://schemas.microsoft.com/office/drawing/2014/main" val="3841398597"/>
                    </a:ext>
                  </a:extLst>
                </a:gridCol>
              </a:tblGrid>
              <a:tr h="831725">
                <a:tc>
                  <a:txBody>
                    <a:bodyPr/>
                    <a:lstStyle/>
                    <a:p>
                      <a:pPr>
                        <a:buNone/>
                      </a:pPr>
                      <a:r>
                        <a:rPr lang="en-IN" sz="1600" dirty="0">
                          <a:latin typeface="Times New Roman" panose="02020603050405020304" pitchFamily="18" charset="0"/>
                          <a:cs typeface="Times New Roman" panose="02020603050405020304" pitchFamily="18" charset="0"/>
                        </a:rPr>
                        <a:t>Year</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Title</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Approach / Methodology</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Key Contribution</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Limitation / Gap</a:t>
                      </a:r>
                    </a:p>
                  </a:txBody>
                  <a:tcPr anchor="ctr"/>
                </a:tc>
                <a:extLst>
                  <a:ext uri="{0D108BD9-81ED-4DB2-BD59-A6C34878D82A}">
                    <a16:rowId xmlns:a16="http://schemas.microsoft.com/office/drawing/2014/main" val="10000"/>
                  </a:ext>
                </a:extLst>
              </a:tr>
              <a:tr h="1536302">
                <a:tc>
                  <a:txBody>
                    <a:bodyPr/>
                    <a:lstStyle/>
                    <a:p>
                      <a:pPr>
                        <a:lnSpc>
                          <a:spcPct val="115000"/>
                        </a:lnSpc>
                        <a:buNone/>
                      </a:pPr>
                      <a:r>
                        <a:rPr lang="en-IN" sz="1600" b="1" dirty="0">
                          <a:effectLst/>
                          <a:latin typeface="Times New Roman" panose="02020603050405020304" pitchFamily="18" charset="0"/>
                          <a:ea typeface="Arial" panose="020B0604020202020204" pitchFamily="34" charset="0"/>
                          <a:cs typeface="Times New Roman" panose="02020603050405020304" pitchFamily="18" charset="0"/>
                        </a:rPr>
                        <a:t>2023</a:t>
                      </a:r>
                    </a:p>
                  </a:txBody>
                  <a:tcPr marL="9525" marR="9525" marT="9525" marB="9525" anchor="ctr"/>
                </a:tc>
                <a:tc>
                  <a:txBody>
                    <a:bodyPr/>
                    <a:lstStyle/>
                    <a:p>
                      <a:pPr>
                        <a:lnSpc>
                          <a:spcPct val="115000"/>
                        </a:lnSpc>
                        <a:buNone/>
                      </a:pPr>
                      <a:r>
                        <a:rPr lang="en-IN" sz="1600" b="1" i="0" dirty="0" err="1">
                          <a:effectLst/>
                          <a:latin typeface="Times New Roman" panose="02020603050405020304" pitchFamily="18" charset="0"/>
                          <a:ea typeface="Arial" panose="020B0604020202020204" pitchFamily="34" charset="0"/>
                          <a:cs typeface="Times New Roman" panose="02020603050405020304" pitchFamily="18" charset="0"/>
                        </a:rPr>
                        <a:t>TradingAgents</a:t>
                      </a:r>
                      <a:r>
                        <a:rPr lang="en-IN" sz="1600" b="1" i="0" dirty="0">
                          <a:effectLst/>
                          <a:latin typeface="Times New Roman" panose="02020603050405020304" pitchFamily="18" charset="0"/>
                          <a:ea typeface="Arial" panose="020B0604020202020204" pitchFamily="34" charset="0"/>
                          <a:cs typeface="Times New Roman" panose="02020603050405020304" pitchFamily="18" charset="0"/>
                        </a:rPr>
                        <a:t>: Multi-Agent LLM Trading Framework</a:t>
                      </a:r>
                    </a:p>
                  </a:txBody>
                  <a:tcPr marL="9525" marR="9525" marT="9525" marB="9525" anchor="ctr"/>
                </a:tc>
                <a:tc>
                  <a:txBody>
                    <a:bodyPr/>
                    <a:lstStyle/>
                    <a:p>
                      <a:pPr>
                        <a:lnSpc>
                          <a:spcPct val="115000"/>
                        </a:lnSpc>
                        <a:buNone/>
                      </a:pPr>
                      <a:r>
                        <a:rPr lang="en-IN" sz="1600" b="0" dirty="0">
                          <a:effectLst/>
                          <a:latin typeface="Times New Roman" panose="02020603050405020304" pitchFamily="18" charset="0"/>
                          <a:ea typeface="Arial" panose="020B0604020202020204" pitchFamily="34" charset="0"/>
                          <a:cs typeface="Times New Roman" panose="02020603050405020304" pitchFamily="18" charset="0"/>
                        </a:rPr>
                        <a:t>Multiple LLM roles (Analyst, Trader, Supervisor, Critic) with debate/verifier loops.</a:t>
                      </a:r>
                    </a:p>
                  </a:txBody>
                  <a:tcPr marL="9525" marR="9525" marT="9525" marB="9525" anchor="ctr"/>
                </a:tc>
                <a:tc>
                  <a:txBody>
                    <a:bodyPr/>
                    <a:lstStyle/>
                    <a:p>
                      <a:pPr>
                        <a:lnSpc>
                          <a:spcPct val="115000"/>
                        </a:lnSpc>
                        <a:buNone/>
                      </a:pPr>
                      <a:r>
                        <a:rPr lang="en-IN" sz="1600" b="0" dirty="0">
                          <a:effectLst/>
                          <a:latin typeface="Times New Roman" panose="02020603050405020304" pitchFamily="18" charset="0"/>
                          <a:ea typeface="Arial" panose="020B0604020202020204" pitchFamily="34" charset="0"/>
                          <a:cs typeface="Times New Roman" panose="02020603050405020304" pitchFamily="18" charset="0"/>
                        </a:rPr>
                        <a:t>Introduces LLM collaboration for trading; improved reasoning via agent debate.</a:t>
                      </a:r>
                    </a:p>
                  </a:txBody>
                  <a:tcPr marL="9525" marR="9525" marT="9525" marB="9525" anchor="ctr"/>
                </a:tc>
                <a:tc>
                  <a:txBody>
                    <a:bodyPr/>
                    <a:lstStyle/>
                    <a:p>
                      <a:pPr>
                        <a:lnSpc>
                          <a:spcPct val="115000"/>
                        </a:lnSpc>
                        <a:buNone/>
                      </a:pPr>
                      <a:r>
                        <a:rPr lang="en-IN" sz="1600" b="0" dirty="0">
                          <a:effectLst/>
                          <a:latin typeface="Times New Roman" panose="02020603050405020304" pitchFamily="18" charset="0"/>
                          <a:ea typeface="Arial" panose="020B0604020202020204" pitchFamily="34" charset="0"/>
                          <a:cs typeface="Times New Roman" panose="02020603050405020304" pitchFamily="18" charset="0"/>
                        </a:rPr>
                        <a:t>No formal guarantees; hallucinations persist; limited stress testing and crisis evaluation.</a:t>
                      </a:r>
                    </a:p>
                  </a:txBody>
                  <a:tcPr marL="9525" marR="9525" marT="9525" marB="9525" anchor="ctr"/>
                </a:tc>
                <a:extLst>
                  <a:ext uri="{0D108BD9-81ED-4DB2-BD59-A6C34878D82A}">
                    <a16:rowId xmlns:a16="http://schemas.microsoft.com/office/drawing/2014/main" val="10001"/>
                  </a:ext>
                </a:extLst>
              </a:tr>
              <a:tr h="1536302">
                <a:tc>
                  <a:txBody>
                    <a:bodyPr/>
                    <a:lstStyle/>
                    <a:p>
                      <a:pPr>
                        <a:buNone/>
                      </a:pPr>
                      <a:r>
                        <a:rPr lang="en-IN" b="1">
                          <a:latin typeface="Times New Roman" panose="02020603050405020304" pitchFamily="18" charset="0"/>
                          <a:cs typeface="Times New Roman" panose="02020603050405020304" pitchFamily="18" charset="0"/>
                        </a:rPr>
                        <a:t>2010</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US" b="1">
                          <a:latin typeface="Times New Roman" panose="02020603050405020304" pitchFamily="18" charset="0"/>
                          <a:cs typeface="Times New Roman" panose="02020603050405020304" pitchFamily="18" charset="0"/>
                        </a:rPr>
                        <a:t>A Methodology for Creating Ontology-Based Multi-Agent Systems (Financial Application)</a:t>
                      </a:r>
                      <a:endParaRPr lang="en-US">
                        <a:latin typeface="Times New Roman" panose="02020603050405020304" pitchFamily="18" charset="0"/>
                        <a:cs typeface="Times New Roman" panose="02020603050405020304" pitchFamily="18" charset="0"/>
                      </a:endParaRPr>
                    </a:p>
                  </a:txBody>
                  <a:tcPr anchor="ctr"/>
                </a:tc>
                <a:tc>
                  <a:txBody>
                    <a:bodyPr/>
                    <a:lstStyle/>
                    <a:p>
                      <a:pPr>
                        <a:buNone/>
                      </a:pPr>
                      <a:r>
                        <a:rPr lang="en-US" dirty="0">
                          <a:latin typeface="Times New Roman" panose="02020603050405020304" pitchFamily="18" charset="0"/>
                          <a:cs typeface="Times New Roman" panose="02020603050405020304" pitchFamily="18" charset="0"/>
                        </a:rPr>
                        <a:t>Ontology-driven MAS methodology applied to financial experiments — semantic models combined with agent workflows.</a:t>
                      </a:r>
                    </a:p>
                  </a:txBody>
                  <a:tcPr anchor="ctr"/>
                </a:tc>
                <a:tc>
                  <a:txBody>
                    <a:bodyPr/>
                    <a:lstStyle/>
                    <a:p>
                      <a:pPr>
                        <a:buNone/>
                      </a:pPr>
                      <a:r>
                        <a:rPr lang="en-US" dirty="0">
                          <a:latin typeface="Times New Roman" panose="02020603050405020304" pitchFamily="18" charset="0"/>
                          <a:cs typeface="Times New Roman" panose="02020603050405020304" pitchFamily="18" charset="0"/>
                        </a:rPr>
                        <a:t>Introduces a formal methodology (MOMA) for building ontology-based MAS and demonstrates a financial application.</a:t>
                      </a:r>
                    </a:p>
                  </a:txBody>
                  <a:tcPr anchor="ctr"/>
                </a:tc>
                <a:tc>
                  <a:txBody>
                    <a:bodyPr/>
                    <a:lstStyle/>
                    <a:p>
                      <a:pPr>
                        <a:buNone/>
                      </a:pPr>
                      <a:r>
                        <a:rPr lang="en-US">
                          <a:latin typeface="Times New Roman" panose="02020603050405020304" pitchFamily="18" charset="0"/>
                          <a:cs typeface="Times New Roman" panose="02020603050405020304" pitchFamily="18" charset="0"/>
                        </a:rPr>
                        <a:t>Ontologies are static vs dynamic language drift; limited coupling with statistical/ML forecasting models; no uncertainty quantification or portfolio-level testing.</a:t>
                      </a:r>
                    </a:p>
                  </a:txBody>
                  <a:tcPr anchor="ctr"/>
                </a:tc>
                <a:extLst>
                  <a:ext uri="{0D108BD9-81ED-4DB2-BD59-A6C34878D82A}">
                    <a16:rowId xmlns:a16="http://schemas.microsoft.com/office/drawing/2014/main" val="10002"/>
                  </a:ext>
                </a:extLst>
              </a:tr>
              <a:tr h="1561510">
                <a:tc>
                  <a:txBody>
                    <a:bodyPr/>
                    <a:lstStyle/>
                    <a:p>
                      <a:pPr>
                        <a:buNone/>
                      </a:pPr>
                      <a:r>
                        <a:rPr lang="en-IN" b="1">
                          <a:latin typeface="Times New Roman" panose="02020603050405020304" pitchFamily="18" charset="0"/>
                          <a:cs typeface="Times New Roman" panose="02020603050405020304" pitchFamily="18" charset="0"/>
                        </a:rPr>
                        <a:t>2017</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b="1" dirty="0">
                          <a:latin typeface="Times New Roman" panose="02020603050405020304" pitchFamily="18" charset="0"/>
                          <a:cs typeface="Times New Roman" panose="02020603050405020304" pitchFamily="18" charset="0"/>
                        </a:rPr>
                        <a:t>Hybrid Technical Analysis Decision Support (mmep_12.04_17.pdf)</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US" dirty="0">
                          <a:latin typeface="Times New Roman" panose="02020603050405020304" pitchFamily="18" charset="0"/>
                          <a:cs typeface="Times New Roman" panose="02020603050405020304" pitchFamily="18" charset="0"/>
                        </a:rPr>
                        <a:t>Technical indicator ensemble with decision support framework and basic ML components (rule ensembles or simple classifiers).</a:t>
                      </a:r>
                    </a:p>
                  </a:txBody>
                  <a:tcPr anchor="ctr"/>
                </a:tc>
                <a:tc>
                  <a:txBody>
                    <a:bodyPr/>
                    <a:lstStyle/>
                    <a:p>
                      <a:pPr>
                        <a:buNone/>
                      </a:pPr>
                      <a:r>
                        <a:rPr lang="en-US" dirty="0">
                          <a:latin typeface="Times New Roman" panose="02020603050405020304" pitchFamily="18" charset="0"/>
                          <a:cs typeface="Times New Roman" panose="02020603050405020304" pitchFamily="18" charset="0"/>
                        </a:rPr>
                        <a:t>Pragmatic decision support combining indicators and simple ML; shows improved signal filtering for tactical allocation.</a:t>
                      </a:r>
                    </a:p>
                  </a:txBody>
                  <a:tcPr anchor="ctr"/>
                </a:tc>
                <a:tc>
                  <a:txBody>
                    <a:bodyPr/>
                    <a:lstStyle/>
                    <a:p>
                      <a:pPr>
                        <a:buNone/>
                      </a:pPr>
                      <a:r>
                        <a:rPr lang="en-US" dirty="0">
                          <a:latin typeface="Times New Roman" panose="02020603050405020304" pitchFamily="18" charset="0"/>
                          <a:cs typeface="Times New Roman" panose="02020603050405020304" pitchFamily="18" charset="0"/>
                        </a:rPr>
                        <a:t>Over-dependence on technicals; lacks fundamentals/sentiment; not stress-tested across crises; no agentic coordination or post-hoc explainability.</a:t>
                      </a:r>
                    </a:p>
                  </a:txBody>
                  <a:tcPr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6655938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6"/>
          <p:cNvSpPr txBox="1">
            <a:spLocks noGrp="1"/>
          </p:cNvSpPr>
          <p:nvPr>
            <p:ph type="title"/>
          </p:nvPr>
        </p:nvSpPr>
        <p:spPr>
          <a:xfrm>
            <a:off x="973666" y="389466"/>
            <a:ext cx="10653651" cy="897467"/>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4400"/>
              <a:buNone/>
            </a:pPr>
            <a:r>
              <a:rPr lang="en-US" dirty="0">
                <a:solidFill>
                  <a:srgbClr val="C00000"/>
                </a:solidFill>
                <a:latin typeface="Times New Roman"/>
                <a:ea typeface="Times New Roman"/>
                <a:cs typeface="Times New Roman"/>
                <a:sym typeface="Times New Roman"/>
              </a:rPr>
              <a:t>Scope</a:t>
            </a:r>
            <a:r>
              <a:rPr lang="en-US" dirty="0">
                <a:solidFill>
                  <a:schemeClr val="accent5"/>
                </a:solidFill>
                <a:latin typeface="Times New Roman"/>
                <a:ea typeface="Times New Roman"/>
                <a:cs typeface="Times New Roman"/>
                <a:sym typeface="Times New Roman"/>
              </a:rPr>
              <a:t> </a:t>
            </a:r>
            <a:endParaRPr dirty="0"/>
          </a:p>
        </p:txBody>
      </p:sp>
      <p:sp>
        <p:nvSpPr>
          <p:cNvPr id="4" name="Rectangle 2">
            <a:extLst>
              <a:ext uri="{FF2B5EF4-FFF2-40B4-BE49-F238E27FC236}">
                <a16:creationId xmlns:a16="http://schemas.microsoft.com/office/drawing/2014/main" id="{23134B2B-609D-252B-6F30-C0C3940D4C52}"/>
              </a:ext>
            </a:extLst>
          </p:cNvPr>
          <p:cNvSpPr>
            <a:spLocks noGrp="1" noChangeArrowheads="1"/>
          </p:cNvSpPr>
          <p:nvPr>
            <p:ph type="body" idx="1"/>
          </p:nvPr>
        </p:nvSpPr>
        <p:spPr bwMode="auto">
          <a:xfrm>
            <a:off x="811106" y="1454178"/>
            <a:ext cx="10994814" cy="41088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Operational Domain &amp; Capabilities: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focuses exclusively on analyzing stock portfolios using real-time market data from public APIs, providing dynamic insights into gains, losses, diversification, and risk indicators.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Agentic Architecture &amp; Memory:</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framework utilizes Agentic AI to divide complex tasks across specialized agents (e.g., data fetching, mathematical reasoning) while maintaining continuous conversational memory for context-aware interactions.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Conversational User Experience:</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Rather than outputting raw data matrices or probabilities, the chatbot delivers all analytical outputs through simple, plain-language conversational responses for easy user understanding.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Strict Compliance &amp; Execution Limits: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includes a built-in compliance layer to ensure transparent, safe financial guidance. It operates strictly as a decision-support tool and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does not</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perform autonomous trading or financial transaction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7"/>
          <p:cNvSpPr txBox="1">
            <a:spLocks noGrp="1"/>
          </p:cNvSpPr>
          <p:nvPr>
            <p:ph type="title"/>
          </p:nvPr>
        </p:nvSpPr>
        <p:spPr>
          <a:xfrm>
            <a:off x="1089764" y="214816"/>
            <a:ext cx="9870510" cy="87495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930B0B"/>
              </a:buClr>
              <a:buSzPts val="3600"/>
              <a:buFont typeface="Times New Roman"/>
              <a:buNone/>
            </a:pPr>
            <a:r>
              <a:rPr lang="en-US" sz="3600" b="1" dirty="0"/>
              <a:t>Novelty</a:t>
            </a:r>
            <a:br>
              <a:rPr lang="en-US" sz="3600" b="1" dirty="0"/>
            </a:br>
            <a:endParaRPr dirty="0"/>
          </a:p>
        </p:txBody>
      </p:sp>
      <p:sp>
        <p:nvSpPr>
          <p:cNvPr id="5" name="Text Placeholder 4">
            <a:extLst>
              <a:ext uri="{FF2B5EF4-FFF2-40B4-BE49-F238E27FC236}">
                <a16:creationId xmlns:a16="http://schemas.microsoft.com/office/drawing/2014/main" id="{9CC7A5F7-A0F0-32FD-7F5E-92C129CD343A}"/>
              </a:ext>
            </a:extLst>
          </p:cNvPr>
          <p:cNvSpPr>
            <a:spLocks noGrp="1" noChangeArrowheads="1"/>
          </p:cNvSpPr>
          <p:nvPr>
            <p:ph type="body" idx="1"/>
          </p:nvPr>
        </p:nvSpPr>
        <p:spPr bwMode="auto">
          <a:xfrm>
            <a:off x="774700" y="1089767"/>
            <a:ext cx="11163299" cy="52475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600" b="1" i="0" u="none" strike="noStrike" cap="none" normalizeH="0" baseline="0" dirty="0">
                <a:ln>
                  <a:noFill/>
                </a:ln>
                <a:solidFill>
                  <a:schemeClr val="tx1"/>
                </a:solidFill>
                <a:effectLst/>
                <a:latin typeface="Google Sans Text"/>
              </a:rPr>
              <a:t>Planner-Driven Multi-Agent Architecture:</a:t>
            </a:r>
            <a:r>
              <a:rPr kumimoji="0" lang="en-US" altLang="en-US" sz="2600" b="0" i="0" u="none" strike="noStrike" cap="none" normalizeH="0" baseline="0" dirty="0">
                <a:ln>
                  <a:noFill/>
                </a:ln>
                <a:solidFill>
                  <a:schemeClr val="tx1"/>
                </a:solidFill>
                <a:effectLst/>
                <a:latin typeface="Google Sans Text"/>
              </a:rPr>
              <a:t> Employs a structured agentic AI framework using multiple specialized agents instead of a single monolithic model. This planner-driven approach ensures organized, reliable, and step-wise financial reasoning while maintaining strict fault isolation. </a:t>
            </a:r>
            <a:endParaRPr kumimoji="0" lang="en-US" altLang="en-US" sz="2600" b="0" i="0" u="none" strike="noStrike" cap="none" normalizeH="0" baseline="0" dirty="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600" b="1" i="0" u="none" strike="noStrike" cap="none" normalizeH="0" baseline="0" dirty="0">
                <a:ln>
                  <a:noFill/>
                </a:ln>
                <a:solidFill>
                  <a:schemeClr val="tx1"/>
                </a:solidFill>
                <a:effectLst/>
                <a:latin typeface="Google Sans Text"/>
              </a:rPr>
              <a:t>Deterministic Risk Governance:</a:t>
            </a:r>
            <a:r>
              <a:rPr kumimoji="0" lang="en-US" altLang="en-US" sz="2600" b="0" i="0" u="none" strike="noStrike" cap="none" normalizeH="0" baseline="0" dirty="0">
                <a:ln>
                  <a:noFill/>
                </a:ln>
                <a:solidFill>
                  <a:schemeClr val="tx1"/>
                </a:solidFill>
                <a:effectLst/>
                <a:latin typeface="Google Sans Text"/>
              </a:rPr>
              <a:t> Elevates personal finance by integrating institutional-grade mathematical models—specifically, deterministic instability detection (covariance drift) and graph-regularized contagion penalization—directly into the automated pipeline. </a:t>
            </a:r>
            <a:endParaRPr kumimoji="0" lang="en-US" altLang="en-US" sz="2600" b="0" i="0" u="none" strike="noStrike" cap="none" normalizeH="0" baseline="0" dirty="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600" b="1" i="0" u="none" strike="noStrike" cap="none" normalizeH="0" baseline="0" dirty="0">
                <a:ln>
                  <a:noFill/>
                </a:ln>
                <a:solidFill>
                  <a:schemeClr val="tx1"/>
                </a:solidFill>
                <a:effectLst/>
                <a:latin typeface="Google Sans Text"/>
              </a:rPr>
              <a:t>Structurally Isolated Transparency Layer:</a:t>
            </a:r>
            <a:r>
              <a:rPr kumimoji="0" lang="en-US" altLang="en-US" sz="2600" b="0" i="0" u="none" strike="noStrike" cap="none" normalizeH="0" baseline="0" dirty="0">
                <a:ln>
                  <a:noFill/>
                </a:ln>
                <a:solidFill>
                  <a:schemeClr val="tx1"/>
                </a:solidFill>
                <a:effectLst/>
                <a:latin typeface="Google Sans Text"/>
              </a:rPr>
              <a:t> Transforms traditional static portfolio dashboards into an engaging conversational assistant. By restricting the LLM to a "read-only" explainer role, the system creates a transparency layer that reveals exact reasoning steps using simple, human-friendly explanations rather than technical jargon, maximizing user trust. </a:t>
            </a:r>
            <a:endParaRPr kumimoji="0" lang="en-US" altLang="en-US" sz="26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ECDD339E-753F-DDBA-50D3-C74C020421A5}"/>
            </a:ext>
          </a:extLst>
        </p:cNvPr>
        <p:cNvGrpSpPr/>
        <p:nvPr/>
      </p:nvGrpSpPr>
      <p:grpSpPr>
        <a:xfrm>
          <a:off x="0" y="0"/>
          <a:ext cx="0" cy="0"/>
          <a:chOff x="0" y="0"/>
          <a:chExt cx="0" cy="0"/>
        </a:xfrm>
      </p:grpSpPr>
      <p:sp>
        <p:nvSpPr>
          <p:cNvPr id="115" name="Google Shape;115;p5">
            <a:extLst>
              <a:ext uri="{FF2B5EF4-FFF2-40B4-BE49-F238E27FC236}">
                <a16:creationId xmlns:a16="http://schemas.microsoft.com/office/drawing/2014/main" id="{CABC059D-3FFE-AADA-A423-3F0426E38724}"/>
              </a:ext>
            </a:extLst>
          </p:cNvPr>
          <p:cNvSpPr txBox="1">
            <a:spLocks noGrp="1"/>
          </p:cNvSpPr>
          <p:nvPr>
            <p:ph type="title"/>
          </p:nvPr>
        </p:nvSpPr>
        <p:spPr>
          <a:xfrm>
            <a:off x="1089764" y="214816"/>
            <a:ext cx="9870510" cy="874951"/>
          </a:xfrm>
          <a:prstGeom prst="rect">
            <a:avLst/>
          </a:prstGeom>
          <a:noFill/>
          <a:ln>
            <a:noFill/>
          </a:ln>
        </p:spPr>
        <p:txBody>
          <a:bodyPr spcFirstLastPara="1" wrap="square" lIns="91425" tIns="45700" rIns="91425" bIns="45700" anchor="t" anchorCtr="0">
            <a:noAutofit/>
          </a:bodyPr>
          <a:lstStyle/>
          <a:p>
            <a:pPr lvl="0">
              <a:lnSpc>
                <a:spcPct val="100000"/>
              </a:lnSpc>
              <a:buClr>
                <a:srgbClr val="C00000"/>
              </a:buClr>
              <a:buSzPts val="4400"/>
            </a:pPr>
            <a:r>
              <a:rPr lang="en-US" dirty="0">
                <a:solidFill>
                  <a:srgbClr val="C00000"/>
                </a:solidFill>
              </a:rPr>
              <a:t>Data sources </a:t>
            </a:r>
          </a:p>
        </p:txBody>
      </p:sp>
      <p:sp>
        <p:nvSpPr>
          <p:cNvPr id="116" name="Google Shape;116;p5">
            <a:extLst>
              <a:ext uri="{FF2B5EF4-FFF2-40B4-BE49-F238E27FC236}">
                <a16:creationId xmlns:a16="http://schemas.microsoft.com/office/drawing/2014/main" id="{F2D79BC3-0A0A-BA9B-B941-7FA11F004A22}"/>
              </a:ext>
            </a:extLst>
          </p:cNvPr>
          <p:cNvSpPr txBox="1">
            <a:spLocks noGrp="1"/>
          </p:cNvSpPr>
          <p:nvPr>
            <p:ph type="body" idx="1"/>
          </p:nvPr>
        </p:nvSpPr>
        <p:spPr>
          <a:xfrm>
            <a:off x="933338" y="1324628"/>
            <a:ext cx="10972800" cy="4525963"/>
          </a:xfrm>
          <a:prstGeom prst="rect">
            <a:avLst/>
          </a:prstGeom>
          <a:noFill/>
          <a:ln>
            <a:noFill/>
          </a:ln>
        </p:spPr>
        <p:txBody>
          <a:bodyPr spcFirstLastPara="1" wrap="square" lIns="91425" tIns="45700" rIns="91425" bIns="45700" anchor="t" anchorCtr="0">
            <a:normAutofit/>
          </a:bodyPr>
          <a:lstStyle/>
          <a:p>
            <a:pPr marL="50800" lvl="0" indent="0" algn="l" rtl="0">
              <a:lnSpc>
                <a:spcPct val="90000"/>
              </a:lnSpc>
              <a:spcBef>
                <a:spcPts val="1000"/>
              </a:spcBef>
              <a:spcAft>
                <a:spcPts val="0"/>
              </a:spcAft>
              <a:buSzPts val="2800"/>
              <a:buNone/>
            </a:pPr>
            <a:endParaRPr dirty="0"/>
          </a:p>
        </p:txBody>
      </p:sp>
      <p:graphicFrame>
        <p:nvGraphicFramePr>
          <p:cNvPr id="117" name="Google Shape;117;p5">
            <a:extLst>
              <a:ext uri="{FF2B5EF4-FFF2-40B4-BE49-F238E27FC236}">
                <a16:creationId xmlns:a16="http://schemas.microsoft.com/office/drawing/2014/main" id="{D0A42DF7-5DE7-2ABD-8EAD-14BA48A5A927}"/>
              </a:ext>
            </a:extLst>
          </p:cNvPr>
          <p:cNvGraphicFramePr/>
          <p:nvPr>
            <p:extLst>
              <p:ext uri="{D42A27DB-BD31-4B8C-83A1-F6EECF244321}">
                <p14:modId xmlns:p14="http://schemas.microsoft.com/office/powerpoint/2010/main" val="2132218630"/>
              </p:ext>
            </p:extLst>
          </p:nvPr>
        </p:nvGraphicFramePr>
        <p:xfrm>
          <a:off x="933338" y="1294479"/>
          <a:ext cx="10972800" cy="3432124"/>
        </p:xfrm>
        <a:graphic>
          <a:graphicData uri="http://schemas.openxmlformats.org/drawingml/2006/table">
            <a:tbl>
              <a:tblPr firstRow="1" bandRow="1">
                <a:noFill/>
                <a:tableStyleId>{48133A83-268A-4673-80D7-47B9B74EA727}</a:tableStyleId>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521390">
                <a:tc>
                  <a:txBody>
                    <a:bodyPr/>
                    <a:lstStyle/>
                    <a:p>
                      <a:pPr marL="0" lvl="0" indent="0" algn="ctr" rtl="0">
                        <a:lnSpc>
                          <a:spcPct val="115000"/>
                        </a:lnSpc>
                        <a:spcBef>
                          <a:spcPts val="0"/>
                        </a:spcBef>
                        <a:spcAft>
                          <a:spcPts val="0"/>
                        </a:spcAft>
                        <a:buNone/>
                      </a:pPr>
                      <a:r>
                        <a:rPr lang="en-US" sz="1800" b="1" dirty="0">
                          <a:latin typeface="Times New Roman" panose="02020603050405020304" pitchFamily="18" charset="0"/>
                          <a:cs typeface="Times New Roman" panose="02020603050405020304" pitchFamily="18" charset="0"/>
                        </a:rPr>
                        <a:t>Data Type</a:t>
                      </a:r>
                      <a:endParaRPr sz="1800" b="1"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lvl="0" indent="0" algn="ctr" rtl="0">
                        <a:lnSpc>
                          <a:spcPct val="115000"/>
                        </a:lnSpc>
                        <a:spcBef>
                          <a:spcPts val="0"/>
                        </a:spcBef>
                        <a:spcAft>
                          <a:spcPts val="0"/>
                        </a:spcAft>
                        <a:buNone/>
                      </a:pPr>
                      <a:r>
                        <a:rPr lang="en-US" sz="1800" b="1" dirty="0">
                          <a:latin typeface="Times New Roman" panose="02020603050405020304" pitchFamily="18" charset="0"/>
                          <a:cs typeface="Times New Roman" panose="02020603050405020304" pitchFamily="18" charset="0"/>
                        </a:rPr>
                        <a:t>Source</a:t>
                      </a:r>
                      <a:endParaRPr sz="1800" b="1"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lvl="0" indent="0" algn="ctr" rtl="0">
                        <a:lnSpc>
                          <a:spcPct val="115000"/>
                        </a:lnSpc>
                        <a:spcBef>
                          <a:spcPts val="0"/>
                        </a:spcBef>
                        <a:spcAft>
                          <a:spcPts val="0"/>
                        </a:spcAft>
                        <a:buNone/>
                      </a:pPr>
                      <a:r>
                        <a:rPr lang="en-US" sz="1800" b="1" dirty="0">
                          <a:latin typeface="Times New Roman" panose="02020603050405020304" pitchFamily="18" charset="0"/>
                          <a:cs typeface="Times New Roman" panose="02020603050405020304" pitchFamily="18" charset="0"/>
                        </a:rPr>
                        <a:t>Details</a:t>
                      </a:r>
                      <a:endParaRPr sz="1800" b="1" dirty="0">
                        <a:latin typeface="Times New Roman" panose="02020603050405020304" pitchFamily="18" charset="0"/>
                        <a:cs typeface="Times New Roman" panose="02020603050405020304" pitchFamily="18" charset="0"/>
                      </a:endParaRPr>
                    </a:p>
                  </a:txBody>
                  <a:tcPr marL="91425" marR="91425" marT="91425" marB="91425"/>
                </a:tc>
                <a:extLst>
                  <a:ext uri="{0D108BD9-81ED-4DB2-BD59-A6C34878D82A}">
                    <a16:rowId xmlns:a16="http://schemas.microsoft.com/office/drawing/2014/main" val="10000"/>
                  </a:ext>
                </a:extLst>
              </a:tr>
              <a:tr h="741447">
                <a:tc>
                  <a:txBody>
                    <a:bodyPr/>
                    <a:lstStyle/>
                    <a:p>
                      <a:pPr marL="0" lvl="0" indent="0" algn="l" rtl="0">
                        <a:spcBef>
                          <a:spcPts val="0"/>
                        </a:spcBef>
                        <a:spcAft>
                          <a:spcPts val="0"/>
                        </a:spcAft>
                        <a:buNone/>
                      </a:pPr>
                      <a:r>
                        <a:rPr lang="en-US" sz="1600" dirty="0">
                          <a:latin typeface="Times New Roman" panose="02020603050405020304" pitchFamily="18" charset="0"/>
                          <a:cs typeface="Times New Roman" panose="02020603050405020304" pitchFamily="18" charset="0"/>
                        </a:rPr>
                        <a:t>Historical Stock Prices</a:t>
                      </a:r>
                      <a:endParaRPr sz="1600"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lvl="0" indent="0" algn="l" rtl="0">
                        <a:spcBef>
                          <a:spcPts val="0"/>
                        </a:spcBef>
                        <a:spcAft>
                          <a:spcPts val="0"/>
                        </a:spcAft>
                        <a:buNone/>
                      </a:pPr>
                      <a:r>
                        <a:rPr lang="en-US" sz="1600" b="1" dirty="0">
                          <a:latin typeface="Times New Roman" panose="02020603050405020304" pitchFamily="18" charset="0"/>
                          <a:cs typeface="Times New Roman" panose="02020603050405020304" pitchFamily="18" charset="0"/>
                        </a:rPr>
                        <a:t>Yahoo Finance (</a:t>
                      </a:r>
                      <a:r>
                        <a:rPr lang="en-US" sz="1600" b="1" dirty="0" err="1">
                          <a:latin typeface="Times New Roman" panose="02020603050405020304" pitchFamily="18" charset="0"/>
                          <a:cs typeface="Times New Roman" panose="02020603050405020304" pitchFamily="18" charset="0"/>
                        </a:rPr>
                        <a:t>yfinance</a:t>
                      </a:r>
                      <a:r>
                        <a:rPr lang="en-US" sz="1600" b="1" dirty="0">
                          <a:latin typeface="Times New Roman" panose="02020603050405020304" pitchFamily="18" charset="0"/>
                          <a:cs typeface="Times New Roman" panose="02020603050405020304" pitchFamily="18" charset="0"/>
                        </a:rPr>
                        <a:t> API)</a:t>
                      </a:r>
                      <a:endParaRPr sz="1600" b="1"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lvl="0" indent="0" algn="l" rtl="0">
                        <a:spcBef>
                          <a:spcPts val="0"/>
                        </a:spcBef>
                        <a:spcAft>
                          <a:spcPts val="0"/>
                        </a:spcAft>
                        <a:buNone/>
                      </a:pPr>
                      <a:r>
                        <a:rPr lang="en-US" sz="1600" dirty="0">
                          <a:latin typeface="Times New Roman" panose="02020603050405020304" pitchFamily="18" charset="0"/>
                          <a:cs typeface="Times New Roman" panose="02020603050405020304" pitchFamily="18" charset="0"/>
                        </a:rPr>
                        <a:t>Daily OHLCV data (Open, High, Low, Close, Volume) for 10+ years.</a:t>
                      </a:r>
                      <a:endParaRPr sz="1600" dirty="0">
                        <a:latin typeface="Times New Roman" panose="02020603050405020304" pitchFamily="18" charset="0"/>
                        <a:cs typeface="Times New Roman" panose="02020603050405020304" pitchFamily="18" charset="0"/>
                      </a:endParaRPr>
                    </a:p>
                  </a:txBody>
                  <a:tcPr marL="91425" marR="91425" marT="91425" marB="91425"/>
                </a:tc>
                <a:extLst>
                  <a:ext uri="{0D108BD9-81ED-4DB2-BD59-A6C34878D82A}">
                    <a16:rowId xmlns:a16="http://schemas.microsoft.com/office/drawing/2014/main" val="10001"/>
                  </a:ext>
                </a:extLst>
              </a:tr>
              <a:tr h="1011077">
                <a:tc>
                  <a:txBody>
                    <a:bodyPr/>
                    <a:lstStyle/>
                    <a:p>
                      <a:pPr marL="0" lvl="0" indent="0" algn="l" rtl="0">
                        <a:spcBef>
                          <a:spcPts val="0"/>
                        </a:spcBef>
                        <a:spcAft>
                          <a:spcPts val="0"/>
                        </a:spcAft>
                        <a:buNone/>
                      </a:pPr>
                      <a:r>
                        <a:rPr lang="en-US" sz="1600" dirty="0">
                          <a:latin typeface="Times New Roman" panose="02020603050405020304" pitchFamily="18" charset="0"/>
                          <a:cs typeface="Times New Roman" panose="02020603050405020304" pitchFamily="18" charset="0"/>
                        </a:rPr>
                        <a:t>Market Benchmarks</a:t>
                      </a:r>
                      <a:endParaRPr sz="1600"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lvl="0" indent="0" algn="l" rtl="0">
                        <a:spcBef>
                          <a:spcPts val="0"/>
                        </a:spcBef>
                        <a:spcAft>
                          <a:spcPts val="0"/>
                        </a:spcAft>
                        <a:buNone/>
                      </a:pPr>
                      <a:r>
                        <a:rPr lang="en-US" sz="1600" b="1" dirty="0">
                          <a:latin typeface="Times New Roman" panose="02020603050405020304" pitchFamily="18" charset="0"/>
                          <a:cs typeface="Times New Roman" panose="02020603050405020304" pitchFamily="18" charset="0"/>
                        </a:rPr>
                        <a:t>Yahoo Finance / Index Data</a:t>
                      </a:r>
                      <a:endParaRPr sz="1600" b="1"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lvl="0" indent="0" algn="l" rtl="0">
                        <a:spcBef>
                          <a:spcPts val="0"/>
                        </a:spcBef>
                        <a:spcAft>
                          <a:spcPts val="0"/>
                        </a:spcAft>
                        <a:buNone/>
                      </a:pPr>
                      <a:r>
                        <a:rPr lang="en-US" sz="1600" dirty="0">
                          <a:latin typeface="Times New Roman" panose="02020603050405020304" pitchFamily="18" charset="0"/>
                          <a:cs typeface="Times New Roman" panose="02020603050405020304" pitchFamily="18" charset="0"/>
                        </a:rPr>
                        <a:t>S&amp;P 500, NASDAQ Composite, or NIFTY50 for relative performance comparison.</a:t>
                      </a:r>
                      <a:endParaRPr sz="1600" dirty="0">
                        <a:latin typeface="Times New Roman" panose="02020603050405020304" pitchFamily="18" charset="0"/>
                        <a:cs typeface="Times New Roman" panose="02020603050405020304" pitchFamily="18" charset="0"/>
                      </a:endParaRPr>
                    </a:p>
                  </a:txBody>
                  <a:tcPr marL="91425" marR="91425" marT="91425" marB="91425"/>
                </a:tc>
                <a:extLst>
                  <a:ext uri="{0D108BD9-81ED-4DB2-BD59-A6C34878D82A}">
                    <a16:rowId xmlns:a16="http://schemas.microsoft.com/office/drawing/2014/main" val="10002"/>
                  </a:ext>
                </a:extLst>
              </a:tr>
              <a:tr h="1055710">
                <a:tc>
                  <a:txBody>
                    <a:bodyPr/>
                    <a:lstStyle/>
                    <a:p>
                      <a:pPr marL="0" lvl="0" indent="0" algn="l" rtl="0">
                        <a:spcBef>
                          <a:spcPts val="0"/>
                        </a:spcBef>
                        <a:spcAft>
                          <a:spcPts val="0"/>
                        </a:spcAft>
                        <a:buNone/>
                      </a:pPr>
                      <a:r>
                        <a:rPr lang="en-IN" sz="1600" dirty="0"/>
                        <a:t>Company Information</a:t>
                      </a:r>
                      <a:endParaRPr sz="1600"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lvl="0" indent="0" algn="l" rtl="0">
                        <a:spcBef>
                          <a:spcPts val="0"/>
                        </a:spcBef>
                        <a:spcAft>
                          <a:spcPts val="0"/>
                        </a:spcAft>
                        <a:buNone/>
                      </a:pPr>
                      <a:r>
                        <a:rPr lang="en-IN" sz="1600" b="1" dirty="0" err="1"/>
                        <a:t>YFinance</a:t>
                      </a:r>
                      <a:r>
                        <a:rPr lang="en-IN" sz="1600" b="1" dirty="0"/>
                        <a:t> Metadata</a:t>
                      </a:r>
                      <a:endParaRPr sz="1600" b="1"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lvl="0" indent="0" algn="l" rtl="0">
                        <a:spcBef>
                          <a:spcPts val="0"/>
                        </a:spcBef>
                        <a:spcAft>
                          <a:spcPts val="0"/>
                        </a:spcAft>
                        <a:buNone/>
                      </a:pPr>
                      <a:r>
                        <a:rPr lang="en-US" sz="1600" dirty="0"/>
                        <a:t>Extracted from </a:t>
                      </a:r>
                      <a:r>
                        <a:rPr lang="en-US" sz="1400" b="0" i="0" u="none" strike="noStrike" cap="none" dirty="0">
                          <a:solidFill>
                            <a:schemeClr val="dk1"/>
                          </a:solidFill>
                          <a:latin typeface="Arial"/>
                          <a:ea typeface="Arial"/>
                          <a:cs typeface="Arial"/>
                          <a:sym typeface="Arial"/>
                        </a:rPr>
                        <a:t>ticker.info</a:t>
                      </a:r>
                      <a:r>
                        <a:rPr lang="en-US" sz="1600" dirty="0"/>
                        <a:t>: sector, industry, market cap, P/E ratio, dividend, business summary, and fundamentals.</a:t>
                      </a:r>
                      <a:endParaRPr sz="1600" dirty="0">
                        <a:latin typeface="Times New Roman" panose="02020603050405020304" pitchFamily="18" charset="0"/>
                        <a:cs typeface="Times New Roman" panose="02020603050405020304" pitchFamily="18" charset="0"/>
                      </a:endParaRPr>
                    </a:p>
                  </a:txBody>
                  <a:tcPr marL="91425" marR="91425" marT="91425" marB="91425"/>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8843685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C2AD9-6FBF-4A49-C142-2F9BB717E93D}"/>
              </a:ext>
            </a:extLst>
          </p:cNvPr>
          <p:cNvSpPr>
            <a:spLocks noGrp="1"/>
          </p:cNvSpPr>
          <p:nvPr>
            <p:ph type="title"/>
          </p:nvPr>
        </p:nvSpPr>
        <p:spPr/>
        <p:txBody>
          <a:bodyPr/>
          <a:lstStyle/>
          <a:p>
            <a:r>
              <a:rPr lang="en-IN" b="1" dirty="0"/>
              <a:t>Software / Hardware Requirements</a:t>
            </a:r>
            <a:br>
              <a:rPr lang="en-IN" dirty="0"/>
            </a:br>
            <a:br>
              <a:rPr lang="en-IN" dirty="0"/>
            </a:br>
            <a:endParaRPr lang="en-IN" dirty="0"/>
          </a:p>
        </p:txBody>
      </p:sp>
      <p:sp>
        <p:nvSpPr>
          <p:cNvPr id="3" name="Text Placeholder 2">
            <a:extLst>
              <a:ext uri="{FF2B5EF4-FFF2-40B4-BE49-F238E27FC236}">
                <a16:creationId xmlns:a16="http://schemas.microsoft.com/office/drawing/2014/main" id="{D77FE111-A93D-CCD2-FDBD-6F5FC9861345}"/>
              </a:ext>
            </a:extLst>
          </p:cNvPr>
          <p:cNvSpPr>
            <a:spLocks noGrp="1"/>
          </p:cNvSpPr>
          <p:nvPr>
            <p:ph type="body" idx="1"/>
          </p:nvPr>
        </p:nvSpPr>
        <p:spPr>
          <a:xfrm>
            <a:off x="857138" y="842028"/>
            <a:ext cx="10972800" cy="5673072"/>
          </a:xfrm>
        </p:spPr>
        <p:txBody>
          <a:bodyPr>
            <a:normAutofit/>
          </a:bodyPr>
          <a:lstStyle/>
          <a:p>
            <a:pPr>
              <a:buFont typeface="Wingdings" panose="05000000000000000000" pitchFamily="2" charset="2"/>
              <a:buChar char="q"/>
            </a:pPr>
            <a:r>
              <a:rPr lang="en-IN" dirty="0"/>
              <a:t>Input data:</a:t>
            </a:r>
          </a:p>
          <a:p>
            <a:pPr lvl="1" fontAlgn="base">
              <a:buFont typeface="Wingdings" panose="05000000000000000000" pitchFamily="2" charset="2"/>
              <a:buChar char="q"/>
            </a:pPr>
            <a:r>
              <a:rPr lang="en-IN" dirty="0"/>
              <a:t>Real-time stock market data (via APIs such as Yahoo Finance, Alpha Vantage, or Alpaca paper trading)</a:t>
            </a:r>
          </a:p>
          <a:p>
            <a:pPr lvl="1" fontAlgn="base">
              <a:buFont typeface="Wingdings" panose="05000000000000000000" pitchFamily="2" charset="2"/>
              <a:buChar char="q"/>
            </a:pPr>
            <a:r>
              <a:rPr lang="en-IN" dirty="0"/>
              <a:t>User portfolio data (simulated dataset or manually entered sample portfolio)</a:t>
            </a:r>
          </a:p>
          <a:p>
            <a:pPr>
              <a:buFont typeface="Wingdings" panose="05000000000000000000" pitchFamily="2" charset="2"/>
              <a:buChar char="q"/>
            </a:pPr>
            <a:r>
              <a:rPr lang="en-IN" dirty="0"/>
              <a:t>Software Requirements:</a:t>
            </a:r>
          </a:p>
          <a:p>
            <a:pPr lvl="1" fontAlgn="base">
              <a:buFont typeface="Wingdings" panose="05000000000000000000" pitchFamily="2" charset="2"/>
              <a:buChar char="q"/>
            </a:pPr>
            <a:r>
              <a:rPr lang="en-IN" dirty="0"/>
              <a:t>Python (v.3.9 or later)</a:t>
            </a:r>
          </a:p>
          <a:p>
            <a:pPr lvl="1" fontAlgn="base">
              <a:buFont typeface="Wingdings" panose="05000000000000000000" pitchFamily="2" charset="2"/>
              <a:buChar char="q"/>
            </a:pPr>
            <a:r>
              <a:rPr lang="en-IN" dirty="0" err="1"/>
              <a:t>LangChain</a:t>
            </a:r>
            <a:r>
              <a:rPr lang="en-IN" dirty="0"/>
              <a:t> / </a:t>
            </a:r>
            <a:r>
              <a:rPr lang="en-IN" dirty="0" err="1"/>
              <a:t>LangGraph</a:t>
            </a:r>
            <a:r>
              <a:rPr lang="en-IN" dirty="0"/>
              <a:t> framework for orchestration</a:t>
            </a:r>
          </a:p>
          <a:p>
            <a:pPr lvl="1" fontAlgn="base">
              <a:buFont typeface="Wingdings" panose="05000000000000000000" pitchFamily="2" charset="2"/>
              <a:buChar char="q"/>
            </a:pPr>
            <a:r>
              <a:rPr lang="en-IN" dirty="0" err="1"/>
              <a:t>YFinance</a:t>
            </a:r>
            <a:r>
              <a:rPr lang="en-IN" dirty="0"/>
              <a:t> / Alpha Vantage API for stock market data retrieval</a:t>
            </a:r>
          </a:p>
          <a:p>
            <a:pPr lvl="1" fontAlgn="base">
              <a:buFont typeface="Wingdings" panose="05000000000000000000" pitchFamily="2" charset="2"/>
              <a:buChar char="q"/>
            </a:pPr>
            <a:r>
              <a:rPr lang="en-IN" dirty="0"/>
              <a:t>LLM integration (OpenAI GPT or similar)</a:t>
            </a:r>
          </a:p>
          <a:p>
            <a:pPr lvl="1" fontAlgn="base">
              <a:buFont typeface="Wingdings" panose="05000000000000000000" pitchFamily="2" charset="2"/>
              <a:buChar char="q"/>
            </a:pPr>
            <a:r>
              <a:rPr lang="en-IN" dirty="0"/>
              <a:t>Database for memory/context (SQLite or vector DB like Chroma/FAISS)</a:t>
            </a:r>
          </a:p>
          <a:p>
            <a:pPr>
              <a:buFont typeface="Wingdings" panose="05000000000000000000" pitchFamily="2" charset="2"/>
              <a:buChar char="q"/>
            </a:pPr>
            <a:r>
              <a:rPr lang="en-IN" dirty="0"/>
              <a:t>Hardware Requirements:</a:t>
            </a:r>
          </a:p>
          <a:p>
            <a:pPr lvl="1" fontAlgn="base">
              <a:buFont typeface="Wingdings" panose="05000000000000000000" pitchFamily="2" charset="2"/>
              <a:buChar char="q"/>
            </a:pPr>
            <a:r>
              <a:rPr lang="en-IN" dirty="0"/>
              <a:t>Standard personal computer (8GB RAM, i5/i7 processor)</a:t>
            </a:r>
          </a:p>
          <a:p>
            <a:pPr lvl="1" fontAlgn="base">
              <a:buFont typeface="Wingdings" panose="05000000000000000000" pitchFamily="2" charset="2"/>
              <a:buChar char="q"/>
            </a:pPr>
            <a:r>
              <a:rPr lang="en-IN" dirty="0"/>
              <a:t>No GPU required (unless for large-scale model fine-tuning)</a:t>
            </a:r>
          </a:p>
          <a:p>
            <a:endParaRPr lang="en-IN" dirty="0"/>
          </a:p>
        </p:txBody>
      </p:sp>
    </p:spTree>
    <p:extLst>
      <p:ext uri="{BB962C8B-B14F-4D97-AF65-F5344CB8AC3E}">
        <p14:creationId xmlns:p14="http://schemas.microsoft.com/office/powerpoint/2010/main" val="3095914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10"/>
          <p:cNvSpPr txBox="1">
            <a:spLocks noGrp="1"/>
          </p:cNvSpPr>
          <p:nvPr>
            <p:ph type="title"/>
          </p:nvPr>
        </p:nvSpPr>
        <p:spPr>
          <a:xfrm>
            <a:off x="782036" y="149191"/>
            <a:ext cx="4781366" cy="707457"/>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1"/>
              </a:buClr>
              <a:buSzPts val="3200"/>
              <a:buFont typeface="Calibri"/>
              <a:buNone/>
            </a:pPr>
            <a:r>
              <a:rPr lang="en-US" b="1" dirty="0">
                <a:solidFill>
                  <a:srgbClr val="C00000"/>
                </a:solidFill>
              </a:rPr>
              <a:t>System Architecture</a:t>
            </a:r>
            <a:endParaRPr dirty="0"/>
          </a:p>
        </p:txBody>
      </p:sp>
      <p:pic>
        <p:nvPicPr>
          <p:cNvPr id="12" name="Picture 11">
            <a:extLst>
              <a:ext uri="{FF2B5EF4-FFF2-40B4-BE49-F238E27FC236}">
                <a16:creationId xmlns:a16="http://schemas.microsoft.com/office/drawing/2014/main" id="{6F59B2FA-504C-4811-09B6-CF42867A19E2}"/>
              </a:ext>
            </a:extLst>
          </p:cNvPr>
          <p:cNvPicPr>
            <a:picLocks noChangeAspect="1"/>
          </p:cNvPicPr>
          <p:nvPr/>
        </p:nvPicPr>
        <p:blipFill>
          <a:blip r:embed="rId3"/>
          <a:srcRect t="9318" r="-174"/>
          <a:stretch>
            <a:fillRect/>
          </a:stretch>
        </p:blipFill>
        <p:spPr>
          <a:xfrm>
            <a:off x="782036" y="856648"/>
            <a:ext cx="11356000" cy="566087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11"/>
          <p:cNvSpPr txBox="1">
            <a:spLocks noGrp="1"/>
          </p:cNvSpPr>
          <p:nvPr>
            <p:ph type="title"/>
          </p:nvPr>
        </p:nvSpPr>
        <p:spPr>
          <a:xfrm>
            <a:off x="1089763" y="214816"/>
            <a:ext cx="6040379" cy="874951"/>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3600"/>
              <a:buNone/>
            </a:pPr>
            <a:r>
              <a:rPr lang="en-US" sz="4000" b="1" dirty="0">
                <a:solidFill>
                  <a:srgbClr val="C00000"/>
                </a:solidFill>
              </a:rPr>
              <a:t>Chatbot Architecture </a:t>
            </a:r>
            <a:endParaRPr dirty="0"/>
          </a:p>
        </p:txBody>
      </p:sp>
      <p:pic>
        <p:nvPicPr>
          <p:cNvPr id="3" name="Picture 2">
            <a:extLst>
              <a:ext uri="{FF2B5EF4-FFF2-40B4-BE49-F238E27FC236}">
                <a16:creationId xmlns:a16="http://schemas.microsoft.com/office/drawing/2014/main" id="{9874BE83-5892-D640-81A2-E1999F0DF5D0}"/>
              </a:ext>
            </a:extLst>
          </p:cNvPr>
          <p:cNvPicPr>
            <a:picLocks noChangeAspect="1"/>
          </p:cNvPicPr>
          <p:nvPr/>
        </p:nvPicPr>
        <p:blipFill>
          <a:blip r:embed="rId3"/>
          <a:stretch>
            <a:fillRect/>
          </a:stretch>
        </p:blipFill>
        <p:spPr>
          <a:xfrm>
            <a:off x="771371" y="881742"/>
            <a:ext cx="11191769" cy="597625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5">
          <a:extLst>
            <a:ext uri="{FF2B5EF4-FFF2-40B4-BE49-F238E27FC236}">
              <a16:creationId xmlns:a16="http://schemas.microsoft.com/office/drawing/2014/main" id="{68FFC18B-F0EE-7C7E-8221-461B6E28131D}"/>
            </a:ext>
          </a:extLst>
        </p:cNvPr>
        <p:cNvGrpSpPr/>
        <p:nvPr/>
      </p:nvGrpSpPr>
      <p:grpSpPr>
        <a:xfrm>
          <a:off x="0" y="0"/>
          <a:ext cx="0" cy="0"/>
          <a:chOff x="0" y="0"/>
          <a:chExt cx="0" cy="0"/>
        </a:xfrm>
      </p:grpSpPr>
      <p:sp>
        <p:nvSpPr>
          <p:cNvPr id="156" name="Google Shape;156;p11">
            <a:extLst>
              <a:ext uri="{FF2B5EF4-FFF2-40B4-BE49-F238E27FC236}">
                <a16:creationId xmlns:a16="http://schemas.microsoft.com/office/drawing/2014/main" id="{C363BC77-E73E-F7B4-9EDB-824058D64262}"/>
              </a:ext>
            </a:extLst>
          </p:cNvPr>
          <p:cNvSpPr txBox="1">
            <a:spLocks noGrp="1"/>
          </p:cNvSpPr>
          <p:nvPr>
            <p:ph type="title"/>
          </p:nvPr>
        </p:nvSpPr>
        <p:spPr>
          <a:xfrm>
            <a:off x="1089764" y="214816"/>
            <a:ext cx="4561736" cy="874951"/>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3600"/>
              <a:buNone/>
            </a:pPr>
            <a:r>
              <a:rPr lang="en-IN" dirty="0"/>
              <a:t>HITL Architecture</a:t>
            </a:r>
            <a:endParaRPr dirty="0"/>
          </a:p>
        </p:txBody>
      </p:sp>
      <p:pic>
        <p:nvPicPr>
          <p:cNvPr id="6" name="Picture 5">
            <a:extLst>
              <a:ext uri="{FF2B5EF4-FFF2-40B4-BE49-F238E27FC236}">
                <a16:creationId xmlns:a16="http://schemas.microsoft.com/office/drawing/2014/main" id="{DB2F3AB6-D2B8-04D5-FC7D-150E27756A2E}"/>
              </a:ext>
            </a:extLst>
          </p:cNvPr>
          <p:cNvPicPr>
            <a:picLocks noChangeAspect="1"/>
          </p:cNvPicPr>
          <p:nvPr/>
        </p:nvPicPr>
        <p:blipFill>
          <a:blip r:embed="rId3"/>
          <a:stretch>
            <a:fillRect/>
          </a:stretch>
        </p:blipFill>
        <p:spPr>
          <a:xfrm>
            <a:off x="794657" y="927296"/>
            <a:ext cx="11114314" cy="5715888"/>
          </a:xfrm>
          <a:prstGeom prst="rect">
            <a:avLst/>
          </a:prstGeom>
        </p:spPr>
      </p:pic>
    </p:spTree>
    <p:extLst>
      <p:ext uri="{BB962C8B-B14F-4D97-AF65-F5344CB8AC3E}">
        <p14:creationId xmlns:p14="http://schemas.microsoft.com/office/powerpoint/2010/main" val="34279654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896600" cy="756104"/>
          </a:xfrm>
        </p:spPr>
        <p:txBody>
          <a:bodyPr/>
          <a:lstStyle/>
          <a:p>
            <a:r>
              <a:rPr lang="en-US" sz="3200" dirty="0">
                <a:solidFill>
                  <a:srgbClr val="C00000"/>
                </a:solidFill>
              </a:rPr>
              <a:t>Methodology – Composite Instability Detection</a:t>
            </a:r>
            <a:br>
              <a:rPr lang="en-US" sz="3200" dirty="0">
                <a:solidFill>
                  <a:srgbClr val="C00000"/>
                </a:solidFill>
              </a:rPr>
            </a:br>
            <a:endParaRPr sz="3200" dirty="0">
              <a:solidFill>
                <a:srgbClr val="C00000"/>
              </a:solidFill>
            </a:endParaRPr>
          </a:p>
        </p:txBody>
      </p:sp>
      <mc:AlternateContent xmlns:mc="http://schemas.openxmlformats.org/markup-compatibility/2006">
        <mc:Choice xmlns:a14="http://schemas.microsoft.com/office/drawing/2010/main" Requires="a14">
          <p:sp>
            <p:nvSpPr>
              <p:cNvPr id="4" name="TextBox 3"/>
              <p:cNvSpPr txBox="1"/>
              <p:nvPr/>
            </p:nvSpPr>
            <p:spPr>
              <a:xfrm>
                <a:off x="838199" y="1219197"/>
                <a:ext cx="11059887" cy="4797852"/>
              </a:xfrm>
              <a:prstGeom prst="rect">
                <a:avLst/>
              </a:prstGeom>
              <a:noFill/>
            </p:spPr>
            <p:txBody>
              <a:bodyPr wrap="square" anchor="t">
                <a:spAutoFit/>
              </a:bodyPr>
              <a:lstStyle/>
              <a:p>
                <a:pPr marL="285750" indent="-285750">
                  <a:lnSpc>
                    <a:spcPct val="115000"/>
                  </a:lnSpc>
                  <a:spcBef>
                    <a:spcPts val="200"/>
                  </a:spcBef>
                  <a:spcAft>
                    <a:spcPts val="200"/>
                  </a:spcAft>
                  <a:buFont typeface="Wingdings" panose="05000000000000000000" pitchFamily="2" charset="2"/>
                  <a:buChar char="q"/>
                  <a:defRPr sz="1300">
                    <a:solidFill>
                      <a:srgbClr val="000000"/>
                    </a:solidFill>
                  </a:defRPr>
                </a:pPr>
                <a:r>
                  <a:rPr sz="1800" b="1" dirty="0">
                    <a:latin typeface="Times New Roman" panose="02020603050405020304" pitchFamily="18" charset="0"/>
                    <a:cs typeface="Times New Roman" panose="02020603050405020304" pitchFamily="18" charset="0"/>
                  </a:rPr>
                  <a:t>Objective: </a:t>
                </a:r>
                <a:r>
                  <a:rPr sz="1800" dirty="0">
                    <a:latin typeface="Times New Roman" panose="02020603050405020304" pitchFamily="18" charset="0"/>
                    <a:cs typeface="Times New Roman" panose="02020603050405020304" pitchFamily="18" charset="0"/>
                  </a:rPr>
                  <a:t>To mathematically quantify systemic market stress before a severe</a:t>
                </a:r>
                <a:r>
                  <a:rPr lang="en-IN" sz="18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drawdown occurs.</a:t>
                </a:r>
                <a:endParaRPr lang="en-IN" sz="1800" dirty="0">
                  <a:latin typeface="Times New Roman" panose="02020603050405020304" pitchFamily="18" charset="0"/>
                  <a:cs typeface="Times New Roman" panose="02020603050405020304" pitchFamily="18" charset="0"/>
                </a:endParaRPr>
              </a:p>
              <a:p>
                <a:pPr marL="285750" indent="-285750">
                  <a:lnSpc>
                    <a:spcPct val="115000"/>
                  </a:lnSpc>
                  <a:spcBef>
                    <a:spcPts val="200"/>
                  </a:spcBef>
                  <a:spcAft>
                    <a:spcPts val="200"/>
                  </a:spcAft>
                  <a:buFont typeface="Wingdings" panose="05000000000000000000" pitchFamily="2" charset="2"/>
                  <a:buChar char="q"/>
                  <a:defRPr sz="1300">
                    <a:solidFill>
                      <a:srgbClr val="000000"/>
                    </a:solidFill>
                  </a:defRPr>
                </a:pPr>
                <a:r>
                  <a:rPr sz="1800" b="1" dirty="0">
                    <a:latin typeface="Times New Roman" panose="02020603050405020304" pitchFamily="18" charset="0"/>
                    <a:cs typeface="Times New Roman" panose="02020603050405020304" pitchFamily="18" charset="0"/>
                  </a:rPr>
                  <a:t>The Composite Instability Index (</a:t>
                </a:r>
                <a14:m>
                  <m:oMath xmlns:m="http://schemas.openxmlformats.org/officeDocument/2006/math">
                    <m:sSub>
                      <m:sSubPr>
                        <m:ctrlPr>
                          <a:rPr lang="en-IN" sz="1800" b="1" i="1" dirty="0" smtClean="0">
                            <a:latin typeface="Cambria Math" panose="02040503050406030204" pitchFamily="18" charset="0"/>
                          </a:rPr>
                        </m:ctrlPr>
                      </m:sSubPr>
                      <m:e>
                        <m:r>
                          <a:rPr lang="en-IN" sz="1800" b="1" i="1" dirty="0" smtClean="0">
                            <a:latin typeface="Cambria Math" panose="02040503050406030204" pitchFamily="18" charset="0"/>
                          </a:rPr>
                          <m:t>𝑰</m:t>
                        </m:r>
                      </m:e>
                      <m:sub>
                        <m:r>
                          <a:rPr lang="en-IN" sz="1800" b="1" i="1" dirty="0" smtClean="0">
                            <a:latin typeface="Cambria Math" panose="02040503050406030204" pitchFamily="18" charset="0"/>
                          </a:rPr>
                          <m:t>𝒕</m:t>
                        </m:r>
                      </m:sub>
                    </m:sSub>
                  </m:oMath>
                </a14:m>
                <a:r>
                  <a:rPr sz="1800" b="1" dirty="0">
                    <a:latin typeface="Times New Roman" panose="02020603050405020304" pitchFamily="18" charset="0"/>
                    <a:cs typeface="Times New Roman" panose="02020603050405020304" pitchFamily="18" charset="0"/>
                  </a:rPr>
                  <a:t>):</a:t>
                </a:r>
                <a:endParaRPr lang="en-IN" sz="1800" b="1" dirty="0">
                  <a:latin typeface="Times New Roman" panose="02020603050405020304" pitchFamily="18" charset="0"/>
                  <a:cs typeface="Times New Roman" panose="02020603050405020304" pitchFamily="18" charset="0"/>
                </a:endParaRPr>
              </a:p>
              <a:p>
                <a:pPr marL="285750" lvl="3" indent="-285750">
                  <a:lnSpc>
                    <a:spcPct val="115000"/>
                  </a:lnSpc>
                  <a:spcBef>
                    <a:spcPts val="200"/>
                  </a:spcBef>
                  <a:spcAft>
                    <a:spcPts val="200"/>
                  </a:spcAft>
                  <a:buFont typeface="Wingdings" panose="05000000000000000000" pitchFamily="2" charset="2"/>
                  <a:buChar char="Ø"/>
                  <a:defRPr sz="1300">
                    <a:solidFill>
                      <a:srgbClr val="000000"/>
                    </a:solidFill>
                  </a:defRPr>
                </a:pPr>
                <a:r>
                  <a:rPr lang="en-IN" sz="1800" dirty="0">
                    <a:latin typeface="Times New Roman" panose="02020603050405020304" pitchFamily="18" charset="0"/>
                    <a:cs typeface="Times New Roman" panose="02020603050405020304" pitchFamily="18" charset="0"/>
                  </a:rPr>
                  <a:t>The framework continuously calculates a normalized scalar index over a 60-day rolling window.</a:t>
                </a:r>
              </a:p>
              <a:p>
                <a:pPr marL="285750" lvl="3" indent="-285750">
                  <a:lnSpc>
                    <a:spcPct val="115000"/>
                  </a:lnSpc>
                  <a:spcBef>
                    <a:spcPts val="200"/>
                  </a:spcBef>
                  <a:spcAft>
                    <a:spcPts val="200"/>
                  </a:spcAft>
                  <a:buFont typeface="Wingdings" panose="05000000000000000000" pitchFamily="2" charset="2"/>
                  <a:buChar char="Ø"/>
                  <a:defRPr sz="1300">
                    <a:solidFill>
                      <a:srgbClr val="000000"/>
                    </a:solidFill>
                  </a:defRPr>
                </a:pPr>
                <a:r>
                  <a:rPr lang="en-IN" sz="1800" dirty="0">
                    <a:latin typeface="Times New Roman" panose="02020603050405020304" pitchFamily="18" charset="0"/>
                    <a:cs typeface="Times New Roman" panose="02020603050405020304" pitchFamily="18" charset="0"/>
                  </a:rPr>
                  <a:t>It aggregates the z-scores of three independent market signals to prevent false governance triggers.</a:t>
                </a:r>
              </a:p>
              <a:p>
                <a:pPr marL="285750" lvl="3" indent="-285750">
                  <a:lnSpc>
                    <a:spcPct val="115000"/>
                  </a:lnSpc>
                  <a:spcBef>
                    <a:spcPts val="200"/>
                  </a:spcBef>
                  <a:spcAft>
                    <a:spcPts val="200"/>
                  </a:spcAft>
                  <a:buFont typeface="Wingdings" panose="05000000000000000000" pitchFamily="2" charset="2"/>
                  <a:buChar char="Ø"/>
                  <a:defRPr sz="1300">
                    <a:solidFill>
                      <a:srgbClr val="000000"/>
                    </a:solidFill>
                  </a:defRPr>
                </a:pPr>
                <a:r>
                  <a:rPr lang="en-IN" sz="1800" dirty="0">
                    <a:latin typeface="Times New Roman" panose="02020603050405020304" pitchFamily="18" charset="0"/>
                    <a:cs typeface="Times New Roman" panose="02020603050405020304" pitchFamily="18" charset="0"/>
                  </a:rPr>
                  <a:t>Component 1: Cross-sectional volatility (</a:t>
                </a:r>
                <a14:m>
                  <m:oMath xmlns:m="http://schemas.openxmlformats.org/officeDocument/2006/math">
                    <m:sSub>
                      <m:sSubPr>
                        <m:ctrlPr>
                          <a:rPr lang="ar-AE" sz="1800" i="1" dirty="0">
                            <a:latin typeface="Cambria Math" panose="02040503050406030204" pitchFamily="18" charset="0"/>
                          </a:rPr>
                        </m:ctrlPr>
                      </m:sSubPr>
                      <m:e>
                        <m:r>
                          <a:rPr lang="ar-AE" sz="1800" i="1" dirty="0">
                            <a:latin typeface="Cambria Math" panose="02040503050406030204" pitchFamily="18" charset="0"/>
                          </a:rPr>
                          <m:t>𝜎</m:t>
                        </m:r>
                      </m:e>
                      <m:sub>
                        <m:r>
                          <a:rPr lang="ar-AE" sz="1800" i="1" dirty="0">
                            <a:latin typeface="Cambria Math" panose="02040503050406030204" pitchFamily="18" charset="0"/>
                          </a:rPr>
                          <m:t>𝑡</m:t>
                        </m:r>
                      </m:sub>
                    </m:sSub>
                  </m:oMath>
                </a14:m>
                <a:r>
                  <a:rPr lang="ar-AE" sz="1800"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capturing forward-looking changes in the return distribution.</a:t>
                </a:r>
              </a:p>
              <a:p>
                <a:pPr marL="285750" lvl="3" indent="-285750">
                  <a:lnSpc>
                    <a:spcPct val="115000"/>
                  </a:lnSpc>
                  <a:spcBef>
                    <a:spcPts val="200"/>
                  </a:spcBef>
                  <a:spcAft>
                    <a:spcPts val="200"/>
                  </a:spcAft>
                  <a:buFont typeface="Wingdings" panose="05000000000000000000" pitchFamily="2" charset="2"/>
                  <a:buChar char="Ø"/>
                  <a:defRPr sz="1300">
                    <a:solidFill>
                      <a:srgbClr val="000000"/>
                    </a:solidFill>
                  </a:defRPr>
                </a:pPr>
                <a:r>
                  <a:rPr lang="en-IN" sz="1800" dirty="0">
                    <a:latin typeface="Times New Roman" panose="02020603050405020304" pitchFamily="18" charset="0"/>
                    <a:cs typeface="Times New Roman" panose="02020603050405020304" pitchFamily="18" charset="0"/>
                  </a:rPr>
                  <a:t>Component 2: Mean pairwise correlation (</a:t>
                </a:r>
                <a14:m>
                  <m:oMath xmlns:m="http://schemas.openxmlformats.org/officeDocument/2006/math">
                    <m:sSub>
                      <m:sSubPr>
                        <m:ctrlPr>
                          <a:rPr lang="ar-AE" sz="1800" i="1" dirty="0">
                            <a:latin typeface="Cambria Math" panose="02040503050406030204" pitchFamily="18" charset="0"/>
                          </a:rPr>
                        </m:ctrlPr>
                      </m:sSubPr>
                      <m:e>
                        <m:r>
                          <a:rPr lang="ar-AE" sz="1800" i="1" dirty="0">
                            <a:latin typeface="Cambria Math" panose="02040503050406030204" pitchFamily="18" charset="0"/>
                          </a:rPr>
                          <m:t>𝜌</m:t>
                        </m:r>
                      </m:e>
                      <m:sub>
                        <m:r>
                          <a:rPr lang="ar-AE" sz="1800" i="1" dirty="0">
                            <a:latin typeface="Cambria Math" panose="02040503050406030204" pitchFamily="18" charset="0"/>
                          </a:rPr>
                          <m:t>𝑡</m:t>
                        </m:r>
                      </m:sub>
                    </m:sSub>
                  </m:oMath>
                </a14:m>
                <a:r>
                  <a:rPr lang="ar-AE" sz="1800"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measuring the loss of diversification benefits during downturns.</a:t>
                </a:r>
              </a:p>
              <a:p>
                <a:pPr marL="285750" lvl="3" indent="-285750">
                  <a:lnSpc>
                    <a:spcPct val="115000"/>
                  </a:lnSpc>
                  <a:spcBef>
                    <a:spcPts val="200"/>
                  </a:spcBef>
                  <a:spcAft>
                    <a:spcPts val="200"/>
                  </a:spcAft>
                  <a:buFont typeface="Wingdings" panose="05000000000000000000" pitchFamily="2" charset="2"/>
                  <a:buChar char="Ø"/>
                  <a:defRPr sz="1300">
                    <a:solidFill>
                      <a:srgbClr val="000000"/>
                    </a:solidFill>
                  </a:defRPr>
                </a:pPr>
                <a:r>
                  <a:rPr lang="en-IN" sz="1800" dirty="0">
                    <a:latin typeface="Times New Roman" panose="02020603050405020304" pitchFamily="18" charset="0"/>
                    <a:cs typeface="Times New Roman" panose="02020603050405020304" pitchFamily="18" charset="0"/>
                  </a:rPr>
                  <a:t>Component 3 (Novel): Covariance matrix drift (</a:t>
                </a:r>
                <a14:m>
                  <m:oMath xmlns:m="http://schemas.openxmlformats.org/officeDocument/2006/math">
                    <m:sSub>
                      <m:sSubPr>
                        <m:ctrlPr>
                          <a:rPr lang="ar-AE" sz="1800" i="1" dirty="0">
                            <a:latin typeface="Cambria Math" panose="02040503050406030204" pitchFamily="18" charset="0"/>
                          </a:rPr>
                        </m:ctrlPr>
                      </m:sSubPr>
                      <m:e>
                        <m:r>
                          <a:rPr lang="ar-AE" sz="1800" i="1" dirty="0">
                            <a:latin typeface="Cambria Math" panose="02040503050406030204" pitchFamily="18" charset="0"/>
                          </a:rPr>
                          <m:t>𝛿</m:t>
                        </m:r>
                      </m:e>
                      <m:sub>
                        <m:r>
                          <a:rPr lang="ar-AE" sz="1800" i="1" dirty="0">
                            <a:latin typeface="Cambria Math" panose="02040503050406030204" pitchFamily="18" charset="0"/>
                          </a:rPr>
                          <m:t>𝑡</m:t>
                        </m:r>
                      </m:sub>
                    </m:sSub>
                  </m:oMath>
                </a14:m>
                <a:r>
                  <a:rPr lang="ar-AE" sz="1800"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calculated using the</a:t>
                </a:r>
              </a:p>
              <a:p>
                <a:pPr>
                  <a:lnSpc>
                    <a:spcPct val="115000"/>
                  </a:lnSpc>
                  <a:spcBef>
                    <a:spcPts val="200"/>
                  </a:spcBef>
                  <a:spcAft>
                    <a:spcPts val="200"/>
                  </a:spcAft>
                  <a:defRPr sz="1300">
                    <a:solidFill>
                      <a:srgbClr val="000000"/>
                    </a:solidFill>
                  </a:defRPr>
                </a:pPr>
                <a:r>
                  <a:rPr lang="en-IN" sz="1800" dirty="0">
                    <a:latin typeface="Times New Roman" panose="02020603050405020304" pitchFamily="18" charset="0"/>
                    <a:cs typeface="Times New Roman" panose="02020603050405020304" pitchFamily="18" charset="0"/>
                  </a:rPr>
                  <a:t>Frobenius norm of successive estimation window differences.</a:t>
                </a:r>
              </a:p>
              <a:p>
                <a:pPr marL="285750" indent="-285750">
                  <a:lnSpc>
                    <a:spcPct val="115000"/>
                  </a:lnSpc>
                  <a:spcBef>
                    <a:spcPts val="200"/>
                  </a:spcBef>
                  <a:spcAft>
                    <a:spcPts val="200"/>
                  </a:spcAft>
                  <a:buFont typeface="Wingdings" panose="05000000000000000000" pitchFamily="2" charset="2"/>
                  <a:buChar char="q"/>
                  <a:defRPr sz="1300">
                    <a:solidFill>
                      <a:srgbClr val="000000"/>
                    </a:solidFill>
                  </a:defRPr>
                </a:pPr>
                <a:r>
                  <a:rPr sz="1800" b="1" dirty="0">
                    <a:latin typeface="Times New Roman" panose="02020603050405020304" pitchFamily="18" charset="0"/>
                    <a:cs typeface="Times New Roman" panose="02020603050405020304" pitchFamily="18" charset="0"/>
                  </a:rPr>
                  <a:t>The Mathematical Foundation:</a:t>
                </a:r>
              </a:p>
              <a:p>
                <a:pPr>
                  <a:lnSpc>
                    <a:spcPct val="115000"/>
                  </a:lnSpc>
                  <a:spcBef>
                    <a:spcPts val="200"/>
                  </a:spcBef>
                  <a:spcAft>
                    <a:spcPts val="200"/>
                  </a:spcAft>
                  <a:defRPr sz="1300">
                    <a:solidFill>
                      <a:srgbClr val="000000"/>
                    </a:solidFill>
                  </a:defRPr>
                </a:pPr>
                <a14:m>
                  <m:oMath xmlns:m="http://schemas.openxmlformats.org/officeDocument/2006/math">
                    <m:sSub>
                      <m:sSubPr>
                        <m:ctrlPr>
                          <a:rPr lang="en-IN" sz="1800" i="1" dirty="0" smtClean="0">
                            <a:latin typeface="Cambria Math" panose="02040503050406030204" pitchFamily="18" charset="0"/>
                          </a:rPr>
                        </m:ctrlPr>
                      </m:sSubPr>
                      <m:e>
                        <m:r>
                          <a:rPr lang="en-IN" sz="1800" i="1" dirty="0" smtClean="0">
                            <a:latin typeface="Cambria Math" panose="02040503050406030204" pitchFamily="18" charset="0"/>
                          </a:rPr>
                          <m:t>𝐼</m:t>
                        </m:r>
                      </m:e>
                      <m:sub>
                        <m:r>
                          <a:rPr lang="en-IN" sz="1800" i="1" dirty="0" smtClean="0">
                            <a:latin typeface="Cambria Math" panose="02040503050406030204" pitchFamily="18" charset="0"/>
                          </a:rPr>
                          <m:t>𝑡</m:t>
                        </m:r>
                      </m:sub>
                    </m:sSub>
                    <m:r>
                      <a:rPr lang="en-IN" sz="1800" i="1" dirty="0">
                        <a:latin typeface="Cambria Math" panose="02040503050406030204" pitchFamily="18" charset="0"/>
                      </a:rPr>
                      <m:t>=</m:t>
                    </m:r>
                    <m:d>
                      <m:dPr>
                        <m:ctrlPr>
                          <a:rPr lang="en-IN" sz="1800" i="1" dirty="0" smtClean="0">
                            <a:latin typeface="Cambria Math" panose="02040503050406030204" pitchFamily="18" charset="0"/>
                          </a:rPr>
                        </m:ctrlPr>
                      </m:dPr>
                      <m:e>
                        <m:r>
                          <a:rPr lang="en-IN" sz="1800" i="1" dirty="0">
                            <a:latin typeface="Cambria Math" panose="02040503050406030204" pitchFamily="18" charset="0"/>
                          </a:rPr>
                          <m:t>1</m:t>
                        </m:r>
                        <m:r>
                          <m:rPr>
                            <m:lit/>
                          </m:rPr>
                          <a:rPr lang="en-IN" sz="1800" i="1" dirty="0">
                            <a:latin typeface="Cambria Math" panose="02040503050406030204" pitchFamily="18" charset="0"/>
                          </a:rPr>
                          <m:t>/</m:t>
                        </m:r>
                        <m:r>
                          <a:rPr lang="en-IN" sz="1800" i="1" dirty="0">
                            <a:latin typeface="Cambria Math" panose="02040503050406030204" pitchFamily="18" charset="0"/>
                          </a:rPr>
                          <m:t>3</m:t>
                        </m:r>
                      </m:e>
                    </m:d>
                    <m:d>
                      <m:dPr>
                        <m:begChr m:val="["/>
                        <m:endChr m:val="]"/>
                        <m:ctrlPr>
                          <a:rPr lang="en-IN" sz="1800" i="1" dirty="0">
                            <a:latin typeface="Cambria Math" panose="02040503050406030204" pitchFamily="18" charset="0"/>
                          </a:rPr>
                        </m:ctrlPr>
                      </m:dPr>
                      <m:e>
                        <m:r>
                          <a:rPr lang="en-IN" sz="1800" i="1" dirty="0">
                            <a:latin typeface="Cambria Math" panose="02040503050406030204" pitchFamily="18" charset="0"/>
                          </a:rPr>
                          <m:t>𝑧</m:t>
                        </m:r>
                        <m:d>
                          <m:dPr>
                            <m:ctrlPr>
                              <a:rPr lang="en-IN" sz="1800" i="1" dirty="0">
                                <a:latin typeface="Cambria Math" panose="02040503050406030204" pitchFamily="18" charset="0"/>
                              </a:rPr>
                            </m:ctrlPr>
                          </m:dPr>
                          <m:e>
                            <m:sSub>
                              <m:sSubPr>
                                <m:ctrlPr>
                                  <a:rPr lang="en-IN" sz="1800" i="1" dirty="0" err="1">
                                    <a:latin typeface="Cambria Math" panose="02040503050406030204" pitchFamily="18" charset="0"/>
                                  </a:rPr>
                                </m:ctrlPr>
                              </m:sSubPr>
                              <m:e>
                                <m:r>
                                  <a:rPr lang="en-IN" sz="1800" i="1" dirty="0" err="1">
                                    <a:latin typeface="Cambria Math" panose="02040503050406030204" pitchFamily="18" charset="0"/>
                                  </a:rPr>
                                  <m:t>𝜎</m:t>
                                </m:r>
                              </m:e>
                              <m:sub>
                                <m:r>
                                  <a:rPr lang="en-IN" sz="1800" i="1" dirty="0" err="1">
                                    <a:latin typeface="Cambria Math" panose="02040503050406030204" pitchFamily="18" charset="0"/>
                                  </a:rPr>
                                  <m:t>𝑡</m:t>
                                </m:r>
                              </m:sub>
                            </m:sSub>
                          </m:e>
                        </m:d>
                        <m:r>
                          <a:rPr lang="en-IN" sz="1800" i="1" dirty="0">
                            <a:latin typeface="Cambria Math" panose="02040503050406030204" pitchFamily="18" charset="0"/>
                          </a:rPr>
                          <m:t>+</m:t>
                        </m:r>
                        <m:r>
                          <a:rPr lang="en-IN" sz="1800" i="1" dirty="0">
                            <a:latin typeface="Cambria Math" panose="02040503050406030204" pitchFamily="18" charset="0"/>
                          </a:rPr>
                          <m:t>𝑧</m:t>
                        </m:r>
                        <m:d>
                          <m:dPr>
                            <m:ctrlPr>
                              <a:rPr lang="en-IN" sz="1800" i="1" dirty="0">
                                <a:latin typeface="Cambria Math" panose="02040503050406030204" pitchFamily="18" charset="0"/>
                              </a:rPr>
                            </m:ctrlPr>
                          </m:dPr>
                          <m:e>
                            <m:sSub>
                              <m:sSubPr>
                                <m:ctrlPr>
                                  <a:rPr lang="en-IN" sz="1800" i="1" dirty="0" err="1">
                                    <a:latin typeface="Cambria Math" panose="02040503050406030204" pitchFamily="18" charset="0"/>
                                  </a:rPr>
                                </m:ctrlPr>
                              </m:sSubPr>
                              <m:e>
                                <m:r>
                                  <a:rPr lang="en-IN" sz="1800" i="1" dirty="0" err="1">
                                    <a:latin typeface="Cambria Math" panose="02040503050406030204" pitchFamily="18" charset="0"/>
                                  </a:rPr>
                                  <m:t>𝜌</m:t>
                                </m:r>
                              </m:e>
                              <m:sub>
                                <m:r>
                                  <a:rPr lang="en-IN" sz="1800" i="1" dirty="0" err="1">
                                    <a:latin typeface="Cambria Math" panose="02040503050406030204" pitchFamily="18" charset="0"/>
                                  </a:rPr>
                                  <m:t>𝑡</m:t>
                                </m:r>
                              </m:sub>
                            </m:sSub>
                          </m:e>
                        </m:d>
                        <m:r>
                          <a:rPr lang="en-IN" sz="1800" i="1" dirty="0">
                            <a:latin typeface="Cambria Math" panose="02040503050406030204" pitchFamily="18" charset="0"/>
                          </a:rPr>
                          <m:t>+</m:t>
                        </m:r>
                        <m:r>
                          <a:rPr lang="en-IN" sz="1800" i="1" dirty="0">
                            <a:latin typeface="Cambria Math" panose="02040503050406030204" pitchFamily="18" charset="0"/>
                          </a:rPr>
                          <m:t>𝑧</m:t>
                        </m:r>
                        <m:d>
                          <m:dPr>
                            <m:ctrlPr>
                              <a:rPr lang="en-IN" sz="1800" i="1" dirty="0">
                                <a:latin typeface="Cambria Math" panose="02040503050406030204" pitchFamily="18" charset="0"/>
                              </a:rPr>
                            </m:ctrlPr>
                          </m:dPr>
                          <m:e>
                            <m:sSub>
                              <m:sSubPr>
                                <m:ctrlPr>
                                  <a:rPr lang="en-IN" sz="1800" i="1" dirty="0" err="1">
                                    <a:latin typeface="Cambria Math" panose="02040503050406030204" pitchFamily="18" charset="0"/>
                                  </a:rPr>
                                </m:ctrlPr>
                              </m:sSubPr>
                              <m:e>
                                <m:r>
                                  <a:rPr lang="en-IN" sz="1800" i="1" dirty="0" err="1">
                                    <a:latin typeface="Cambria Math" panose="02040503050406030204" pitchFamily="18" charset="0"/>
                                  </a:rPr>
                                  <m:t>𝛿</m:t>
                                </m:r>
                              </m:e>
                              <m:sub>
                                <m:r>
                                  <a:rPr lang="en-IN" sz="1800" i="1" dirty="0" err="1">
                                    <a:latin typeface="Cambria Math" panose="02040503050406030204" pitchFamily="18" charset="0"/>
                                  </a:rPr>
                                  <m:t>𝑡</m:t>
                                </m:r>
                              </m:sub>
                            </m:sSub>
                          </m:e>
                        </m:d>
                      </m:e>
                    </m:d>
                  </m:oMath>
                </a14:m>
              </a:p>
              <a:p>
                <a:pPr marL="285750" indent="-285750">
                  <a:lnSpc>
                    <a:spcPct val="115000"/>
                  </a:lnSpc>
                  <a:spcBef>
                    <a:spcPts val="200"/>
                  </a:spcBef>
                  <a:spcAft>
                    <a:spcPts val="200"/>
                  </a:spcAft>
                  <a:buFont typeface="Wingdings" panose="05000000000000000000" pitchFamily="2" charset="2"/>
                  <a:buChar char="q"/>
                  <a:defRPr sz="1300">
                    <a:solidFill>
                      <a:srgbClr val="000000"/>
                    </a:solidFill>
                  </a:defRPr>
                </a:pPr>
                <a:r>
                  <a:rPr sz="1800" b="1" dirty="0">
                    <a:latin typeface="Times New Roman" panose="02020603050405020304" pitchFamily="18" charset="0"/>
                    <a:cs typeface="Times New Roman" panose="02020603050405020304" pitchFamily="18" charset="0"/>
                  </a:rPr>
                  <a:t>Key Innovation:</a:t>
                </a:r>
              </a:p>
              <a:p>
                <a:pPr marL="285750" indent="-285750">
                  <a:lnSpc>
                    <a:spcPct val="115000"/>
                  </a:lnSpc>
                  <a:spcBef>
                    <a:spcPts val="200"/>
                  </a:spcBef>
                  <a:spcAft>
                    <a:spcPts val="200"/>
                  </a:spcAft>
                  <a:buFont typeface="Wingdings" panose="05000000000000000000" pitchFamily="2" charset="2"/>
                  <a:buChar char="Ø"/>
                  <a:defRPr sz="1300">
                    <a:solidFill>
                      <a:srgbClr val="000000"/>
                    </a:solidFill>
                  </a:defRPr>
                </a:pPr>
                <a:r>
                  <a:rPr sz="1800" dirty="0">
                    <a:latin typeface="Times New Roman" panose="02020603050405020304" pitchFamily="18" charset="0"/>
                    <a:cs typeface="Times New Roman" panose="02020603050405020304" pitchFamily="18" charset="0"/>
                  </a:rPr>
                  <a:t>The covariance drift component (</a:t>
                </a:r>
                <a14:m>
                  <m:oMath xmlns:m="http://schemas.openxmlformats.org/officeDocument/2006/math">
                    <m:sSub>
                      <m:sSubPr>
                        <m:ctrlPr>
                          <a:rPr lang="en-IN" sz="1800" i="1" dirty="0" smtClean="0">
                            <a:latin typeface="Cambria Math" panose="02040503050406030204" pitchFamily="18" charset="0"/>
                          </a:rPr>
                        </m:ctrlPr>
                      </m:sSubPr>
                      <m:e>
                        <m:r>
                          <a:rPr lang="en-IN" sz="1800" i="1" dirty="0" smtClean="0">
                            <a:latin typeface="Cambria Math" panose="02040503050406030204" pitchFamily="18" charset="0"/>
                          </a:rPr>
                          <m:t>𝛿</m:t>
                        </m:r>
                      </m:e>
                      <m:sub>
                        <m:r>
                          <a:rPr lang="en-IN" sz="1800" i="1" dirty="0" smtClean="0">
                            <a:latin typeface="Cambria Math" panose="02040503050406030204" pitchFamily="18" charset="0"/>
                          </a:rPr>
                          <m:t>𝑡</m:t>
                        </m:r>
                      </m:sub>
                    </m:sSub>
                  </m:oMath>
                </a14:m>
                <a:r>
                  <a:rPr sz="1800" dirty="0">
                    <a:latin typeface="Times New Roman" panose="02020603050405020304" pitchFamily="18" charset="0"/>
                    <a:cs typeface="Times New Roman" panose="02020603050405020304" pitchFamily="18" charset="0"/>
                  </a:rPr>
                  <a:t>) is a novel formalization for portfolio</a:t>
                </a:r>
                <a:r>
                  <a:rPr lang="en-IN" sz="18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governance.</a:t>
                </a:r>
              </a:p>
              <a:p>
                <a:pPr marL="285750" indent="-285750">
                  <a:lnSpc>
                    <a:spcPct val="115000"/>
                  </a:lnSpc>
                  <a:spcBef>
                    <a:spcPts val="200"/>
                  </a:spcBef>
                  <a:spcAft>
                    <a:spcPts val="200"/>
                  </a:spcAft>
                  <a:buFont typeface="Wingdings" panose="05000000000000000000" pitchFamily="2" charset="2"/>
                  <a:buChar char="Ø"/>
                  <a:defRPr sz="1300">
                    <a:solidFill>
                      <a:srgbClr val="000000"/>
                    </a:solidFill>
                  </a:defRPr>
                </a:pPr>
                <a:r>
                  <a:rPr sz="1800" dirty="0">
                    <a:latin typeface="Times New Roman" panose="02020603050405020304" pitchFamily="18" charset="0"/>
                    <a:cs typeface="Times New Roman" panose="02020603050405020304" pitchFamily="18" charset="0"/>
                  </a:rPr>
                  <a:t>It exhibits a 6.02-fold mean-level separation during high-instability periods</a:t>
                </a:r>
                <a:r>
                  <a:rPr lang="en-IN" sz="18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compared to normal states.</a:t>
                </a:r>
              </a:p>
            </p:txBody>
          </p:sp>
        </mc:Choice>
        <mc:Fallback>
          <p:sp>
            <p:nvSpPr>
              <p:cNvPr id="4" name="TextBox 3"/>
              <p:cNvSpPr txBox="1">
                <a:spLocks noRot="1" noChangeAspect="1" noMove="1" noResize="1" noEditPoints="1" noAdjustHandles="1" noChangeArrowheads="1" noChangeShapeType="1" noTextEdit="1"/>
              </p:cNvSpPr>
              <p:nvPr/>
            </p:nvSpPr>
            <p:spPr>
              <a:xfrm>
                <a:off x="838199" y="1219197"/>
                <a:ext cx="11059887" cy="4797852"/>
              </a:xfrm>
              <a:prstGeom prst="rect">
                <a:avLst/>
              </a:prstGeom>
              <a:blipFill>
                <a:blip r:embed="rId2"/>
                <a:stretch>
                  <a:fillRect l="-441" t="-254" b="-1144"/>
                </a:stretch>
              </a:blipFill>
            </p:spPr>
            <p:txBody>
              <a:bodyPr/>
              <a:lstStyle/>
              <a:p>
                <a:r>
                  <a:rPr lang="en-IN">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1675"/>
          </a:xfrm>
        </p:spPr>
        <p:txBody>
          <a:bodyPr/>
          <a:lstStyle/>
          <a:p>
            <a:r>
              <a:rPr lang="en-US" sz="3200" dirty="0">
                <a:solidFill>
                  <a:srgbClr val="C00000"/>
                </a:solidFill>
                <a:latin typeface="Times New Roman" panose="02020603050405020304" pitchFamily="18" charset="0"/>
                <a:cs typeface="Times New Roman" panose="02020603050405020304" pitchFamily="18" charset="0"/>
              </a:rPr>
              <a:t>Methodology – Deterministic Decision &amp; Optimization</a:t>
            </a:r>
            <a:br>
              <a:rPr lang="en-US" dirty="0">
                <a:solidFill>
                  <a:srgbClr val="C00000"/>
                </a:solidFill>
                <a:latin typeface="Times New Roman" panose="02020603050405020304" pitchFamily="18" charset="0"/>
                <a:cs typeface="Times New Roman" panose="02020603050405020304" pitchFamily="18" charset="0"/>
              </a:rPr>
            </a:br>
            <a:endParaRPr dirty="0">
              <a:solidFill>
                <a:srgbClr val="C0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4" name="TextBox 3"/>
              <p:cNvSpPr txBox="1"/>
              <p:nvPr/>
            </p:nvSpPr>
            <p:spPr>
              <a:xfrm>
                <a:off x="838200" y="1066800"/>
                <a:ext cx="11125200" cy="4986622"/>
              </a:xfrm>
              <a:prstGeom prst="rect">
                <a:avLst/>
              </a:prstGeom>
              <a:noFill/>
            </p:spPr>
            <p:txBody>
              <a:bodyPr wrap="square" anchor="t">
                <a:spAutoFit/>
              </a:bodyPr>
              <a:lstStyle/>
              <a:p>
                <a:pPr marL="285750" indent="-285750">
                  <a:lnSpc>
                    <a:spcPct val="115000"/>
                  </a:lnSpc>
                  <a:spcBef>
                    <a:spcPts val="200"/>
                  </a:spcBef>
                  <a:spcAft>
                    <a:spcPts val="200"/>
                  </a:spcAft>
                  <a:buFont typeface="Wingdings" panose="05000000000000000000" pitchFamily="2" charset="2"/>
                  <a:buChar char="q"/>
                  <a:defRPr sz="1300">
                    <a:solidFill>
                      <a:srgbClr val="000000"/>
                    </a:solidFill>
                  </a:defRPr>
                </a:pPr>
                <a:r>
                  <a:rPr sz="1800" b="1" dirty="0"/>
                  <a:t>Objective: </a:t>
                </a:r>
                <a:r>
                  <a:rPr sz="1800" dirty="0"/>
                  <a:t>To map the instability signal into a fully reproducible, MiFID II-</a:t>
                </a:r>
                <a:r>
                  <a:rPr lang="en-IN" sz="1800" dirty="0"/>
                  <a:t> </a:t>
                </a:r>
                <a:r>
                  <a:rPr sz="1800" dirty="0"/>
                  <a:t>compliant portfolio instruction.</a:t>
                </a:r>
              </a:p>
              <a:p>
                <a:pPr marL="285750" indent="-285750">
                  <a:lnSpc>
                    <a:spcPct val="115000"/>
                  </a:lnSpc>
                  <a:spcBef>
                    <a:spcPts val="200"/>
                  </a:spcBef>
                  <a:spcAft>
                    <a:spcPts val="200"/>
                  </a:spcAft>
                  <a:buFont typeface="Wingdings" panose="05000000000000000000" pitchFamily="2" charset="2"/>
                  <a:buChar char="q"/>
                  <a:defRPr sz="1300">
                    <a:solidFill>
                      <a:srgbClr val="000000"/>
                    </a:solidFill>
                  </a:defRPr>
                </a:pPr>
                <a:r>
                  <a:rPr sz="1800" b="1" dirty="0"/>
                  <a:t>The Regime Operator R(</a:t>
                </a:r>
                <a14:m>
                  <m:oMath xmlns:m="http://schemas.openxmlformats.org/officeDocument/2006/math">
                    <m:sSub>
                      <m:sSubPr>
                        <m:ctrlPr>
                          <a:rPr lang="en-IN" sz="1800" b="1" i="1" dirty="0" smtClean="0">
                            <a:latin typeface="Cambria Math" panose="02040503050406030204" pitchFamily="18" charset="0"/>
                          </a:rPr>
                        </m:ctrlPr>
                      </m:sSubPr>
                      <m:e>
                        <m:r>
                          <a:rPr lang="en-IN" sz="1800" b="1" i="1" dirty="0" smtClean="0">
                            <a:latin typeface="Cambria Math" panose="02040503050406030204" pitchFamily="18" charset="0"/>
                          </a:rPr>
                          <m:t>𝑰</m:t>
                        </m:r>
                      </m:e>
                      <m:sub>
                        <m:r>
                          <a:rPr lang="en-IN" sz="1800" b="1" i="1" dirty="0" smtClean="0">
                            <a:latin typeface="Cambria Math" panose="02040503050406030204" pitchFamily="18" charset="0"/>
                          </a:rPr>
                          <m:t>𝒕</m:t>
                        </m:r>
                      </m:sub>
                    </m:sSub>
                  </m:oMath>
                </a14:m>
                <a:r>
                  <a:rPr sz="1800" b="1" dirty="0"/>
                  <a:t>):</a:t>
                </a:r>
              </a:p>
              <a:p>
                <a:pPr marL="285750" indent="-285750">
                  <a:lnSpc>
                    <a:spcPct val="115000"/>
                  </a:lnSpc>
                  <a:spcBef>
                    <a:spcPts val="200"/>
                  </a:spcBef>
                  <a:spcAft>
                    <a:spcPts val="200"/>
                  </a:spcAft>
                  <a:buFont typeface="Wingdings" panose="05000000000000000000" pitchFamily="2" charset="2"/>
                  <a:buChar char="Ø"/>
                  <a:defRPr sz="1300">
                    <a:solidFill>
                      <a:srgbClr val="000000"/>
                    </a:solidFill>
                  </a:defRPr>
                </a:pPr>
                <a:r>
                  <a:rPr sz="1800" dirty="0"/>
                  <a:t>A deterministic switching mechanism based on a strict threshold (</a:t>
                </a:r>
                <a14:m>
                  <m:oMath xmlns:m="http://schemas.openxmlformats.org/officeDocument/2006/math">
                    <m:sSub>
                      <m:sSubPr>
                        <m:ctrlPr>
                          <a:rPr lang="en-IN" sz="1800" i="1" dirty="0" smtClean="0">
                            <a:latin typeface="Cambria Math" panose="02040503050406030204" pitchFamily="18" charset="0"/>
                          </a:rPr>
                        </m:ctrlPr>
                      </m:sSubPr>
                      <m:e>
                        <m:r>
                          <a:rPr lang="en-IN" sz="1800" i="1" dirty="0" smtClean="0">
                            <a:latin typeface="Cambria Math" panose="02040503050406030204" pitchFamily="18" charset="0"/>
                          </a:rPr>
                          <m:t>𝜃</m:t>
                        </m:r>
                      </m:e>
                      <m:sub>
                        <m:r>
                          <a:rPr lang="en-IN" sz="1800" i="1" dirty="0" smtClean="0">
                            <a:latin typeface="Cambria Math" panose="02040503050406030204" pitchFamily="18" charset="0"/>
                          </a:rPr>
                          <m:t>𝐻</m:t>
                        </m:r>
                      </m:sub>
                    </m:sSub>
                    <m:r>
                      <a:rPr lang="en-IN" sz="1800" i="1" dirty="0">
                        <a:latin typeface="Cambria Math" panose="02040503050406030204" pitchFamily="18" charset="0"/>
                      </a:rPr>
                      <m:t>=1.0</m:t>
                    </m:r>
                  </m:oMath>
                </a14:m>
                <a:r>
                  <a:rPr sz="1800" dirty="0"/>
                  <a:t>).</a:t>
                </a:r>
              </a:p>
              <a:p>
                <a:pPr marL="285750" indent="-285750">
                  <a:lnSpc>
                    <a:spcPct val="115000"/>
                  </a:lnSpc>
                  <a:spcBef>
                    <a:spcPts val="200"/>
                  </a:spcBef>
                  <a:spcAft>
                    <a:spcPts val="200"/>
                  </a:spcAft>
                  <a:buFont typeface="Wingdings" panose="05000000000000000000" pitchFamily="2" charset="2"/>
                  <a:buChar char="Ø"/>
                  <a:defRPr sz="1300">
                    <a:solidFill>
                      <a:srgbClr val="000000"/>
                    </a:solidFill>
                  </a:defRPr>
                </a:pPr>
                <a:r>
                  <a:rPr sz="1800" dirty="0"/>
                  <a:t>High Instability (</a:t>
                </a:r>
                <a14:m>
                  <m:oMath xmlns:m="http://schemas.openxmlformats.org/officeDocument/2006/math">
                    <m:sSub>
                      <m:sSubPr>
                        <m:ctrlPr>
                          <a:rPr lang="en-IN" sz="1800" i="1" dirty="0" smtClean="0">
                            <a:latin typeface="Cambria Math" panose="02040503050406030204" pitchFamily="18" charset="0"/>
                          </a:rPr>
                        </m:ctrlPr>
                      </m:sSubPr>
                      <m:e>
                        <m:r>
                          <a:rPr lang="en-IN" sz="1800" i="1" dirty="0" smtClean="0">
                            <a:latin typeface="Cambria Math" panose="02040503050406030204" pitchFamily="18" charset="0"/>
                          </a:rPr>
                          <m:t>𝐼</m:t>
                        </m:r>
                      </m:e>
                      <m:sub>
                        <m:r>
                          <a:rPr lang="en-IN" sz="1800" i="1" dirty="0" smtClean="0">
                            <a:latin typeface="Cambria Math" panose="02040503050406030204" pitchFamily="18" charset="0"/>
                          </a:rPr>
                          <m:t>𝑡</m:t>
                        </m:r>
                      </m:sub>
                    </m:sSub>
                    <m:r>
                      <a:rPr lang="en-IN" sz="1800" i="1" dirty="0">
                        <a:latin typeface="Cambria Math" panose="02040503050406030204" pitchFamily="18" charset="0"/>
                      </a:rPr>
                      <m:t>&gt;1.0</m:t>
                    </m:r>
                  </m:oMath>
                </a14:m>
                <a:r>
                  <a:rPr sz="1800" dirty="0"/>
                  <a:t>): Unconditionally triggers a fallback Equal Weight</a:t>
                </a:r>
                <a:r>
                  <a:rPr lang="en-IN" sz="1800" dirty="0"/>
                  <a:t> </a:t>
                </a:r>
                <a:r>
                  <a:rPr sz="1800" dirty="0"/>
                  <a:t>allocation to maximize diversification during crashes.</a:t>
                </a:r>
              </a:p>
              <a:p>
                <a:pPr marL="285750" indent="-285750">
                  <a:lnSpc>
                    <a:spcPct val="115000"/>
                  </a:lnSpc>
                  <a:spcBef>
                    <a:spcPts val="200"/>
                  </a:spcBef>
                  <a:spcAft>
                    <a:spcPts val="200"/>
                  </a:spcAft>
                  <a:buFont typeface="Wingdings" panose="05000000000000000000" pitchFamily="2" charset="2"/>
                  <a:buChar char="Ø"/>
                  <a:defRPr sz="1300">
                    <a:solidFill>
                      <a:srgbClr val="000000"/>
                    </a:solidFill>
                  </a:defRPr>
                </a:pPr>
                <a:r>
                  <a:rPr sz="1800" dirty="0"/>
                  <a:t>Normal States (</a:t>
                </a:r>
                <a14:m>
                  <m:oMath xmlns:m="http://schemas.openxmlformats.org/officeDocument/2006/math">
                    <m:sSub>
                      <m:sSubPr>
                        <m:ctrlPr>
                          <a:rPr lang="en-IN" sz="1800" i="1" dirty="0" smtClean="0">
                            <a:latin typeface="Cambria Math" panose="02040503050406030204" pitchFamily="18" charset="0"/>
                          </a:rPr>
                        </m:ctrlPr>
                      </m:sSubPr>
                      <m:e>
                        <m:r>
                          <a:rPr lang="en-IN" sz="1800" i="1" dirty="0" smtClean="0">
                            <a:latin typeface="Cambria Math" panose="02040503050406030204" pitchFamily="18" charset="0"/>
                          </a:rPr>
                          <m:t>𝐼</m:t>
                        </m:r>
                      </m:e>
                      <m:sub>
                        <m:r>
                          <a:rPr lang="en-IN" sz="1800" i="1" dirty="0" smtClean="0">
                            <a:latin typeface="Cambria Math" panose="02040503050406030204" pitchFamily="18" charset="0"/>
                          </a:rPr>
                          <m:t>𝑡</m:t>
                        </m:r>
                      </m:sub>
                    </m:sSub>
                    <m:r>
                      <a:rPr lang="en-IN" sz="1800" i="1" dirty="0">
                        <a:latin typeface="Cambria Math" panose="02040503050406030204" pitchFamily="18" charset="0"/>
                      </a:rPr>
                      <m:t>≤1.0</m:t>
                    </m:r>
                  </m:oMath>
                </a14:m>
                <a:r>
                  <a:rPr sz="1800" dirty="0"/>
                  <a:t>): Activates the Shrunk Mean-Variance (</a:t>
                </a:r>
                <a:r>
                  <a:rPr sz="1800" dirty="0" err="1"/>
                  <a:t>ShrunkMV</a:t>
                </a:r>
                <a:r>
                  <a:rPr sz="1800" dirty="0"/>
                  <a:t>)</a:t>
                </a:r>
                <a:r>
                  <a:rPr lang="en-IN" sz="1800" dirty="0"/>
                  <a:t> </a:t>
                </a:r>
                <a:r>
                  <a:rPr sz="1800" dirty="0"/>
                  <a:t>optimization pipeline.</a:t>
                </a:r>
              </a:p>
              <a:p>
                <a:pPr marL="285750" indent="-285750">
                  <a:lnSpc>
                    <a:spcPct val="115000"/>
                  </a:lnSpc>
                  <a:spcBef>
                    <a:spcPts val="200"/>
                  </a:spcBef>
                  <a:spcAft>
                    <a:spcPts val="200"/>
                  </a:spcAft>
                  <a:buFont typeface="Wingdings" panose="05000000000000000000" pitchFamily="2" charset="2"/>
                  <a:buChar char="Ø"/>
                  <a:defRPr sz="1300">
                    <a:solidFill>
                      <a:srgbClr val="000000"/>
                    </a:solidFill>
                  </a:defRPr>
                </a:pPr>
                <a:r>
                  <a:rPr sz="1800" dirty="0"/>
                  <a:t>Shrunk Mean-Variance (</a:t>
                </a:r>
                <a:r>
                  <a:rPr sz="1800" dirty="0" err="1"/>
                  <a:t>ShrunkMV</a:t>
                </a:r>
                <a:r>
                  <a:rPr sz="1800" dirty="0"/>
                  <a:t>) Engine:</a:t>
                </a:r>
              </a:p>
              <a:p>
                <a:pPr marL="285750" indent="-285750">
                  <a:lnSpc>
                    <a:spcPct val="115000"/>
                  </a:lnSpc>
                  <a:spcBef>
                    <a:spcPts val="200"/>
                  </a:spcBef>
                  <a:spcAft>
                    <a:spcPts val="200"/>
                  </a:spcAft>
                  <a:buFont typeface="Wingdings" panose="05000000000000000000" pitchFamily="2" charset="2"/>
                  <a:buChar char="Ø"/>
                  <a:defRPr sz="1300">
                    <a:solidFill>
                      <a:srgbClr val="000000"/>
                    </a:solidFill>
                  </a:defRPr>
                </a:pPr>
                <a:r>
                  <a:rPr sz="1800" dirty="0"/>
                  <a:t>Return Regularization: Applies James-Stein shrinkage to pull noisy individual</a:t>
                </a:r>
                <a:r>
                  <a:rPr lang="en-IN" sz="1800" dirty="0"/>
                  <a:t> </a:t>
                </a:r>
                <a:r>
                  <a:rPr sz="1800" dirty="0"/>
                  <a:t>asset return estimates</a:t>
                </a:r>
                <a:r>
                  <a:rPr lang="en-IN" sz="1800" dirty="0"/>
                  <a:t> </a:t>
                </a:r>
                <a:r>
                  <a:rPr sz="1800" dirty="0"/>
                  <a:t>toward the cross-sectional mean.</a:t>
                </a:r>
              </a:p>
              <a:p>
                <a:pPr marL="285750" indent="-285750">
                  <a:lnSpc>
                    <a:spcPct val="115000"/>
                  </a:lnSpc>
                  <a:spcBef>
                    <a:spcPts val="200"/>
                  </a:spcBef>
                  <a:spcAft>
                    <a:spcPts val="200"/>
                  </a:spcAft>
                  <a:buFont typeface="Wingdings" panose="05000000000000000000" pitchFamily="2" charset="2"/>
                  <a:buChar char="Ø"/>
                  <a:defRPr sz="1300">
                    <a:solidFill>
                      <a:srgbClr val="000000"/>
                    </a:solidFill>
                  </a:defRPr>
                </a:pPr>
                <a:r>
                  <a:rPr sz="1800" dirty="0"/>
                  <a:t>Covariance Regularization: Applies </a:t>
                </a:r>
                <a:r>
                  <a:rPr sz="1800" dirty="0" err="1"/>
                  <a:t>Ledoit</a:t>
                </a:r>
                <a:r>
                  <a:rPr sz="1800" dirty="0"/>
                  <a:t>-Wolf shrinkage to ensure the</a:t>
                </a:r>
                <a:r>
                  <a:rPr lang="en-IN" sz="1800" dirty="0"/>
                  <a:t> </a:t>
                </a:r>
                <a:r>
                  <a:rPr sz="1800" dirty="0"/>
                  <a:t>covariance matrix remains numerically well-conditioned.</a:t>
                </a:r>
              </a:p>
              <a:p>
                <a:pPr marL="285750" indent="-285750">
                  <a:lnSpc>
                    <a:spcPct val="115000"/>
                  </a:lnSpc>
                  <a:spcBef>
                    <a:spcPts val="200"/>
                  </a:spcBef>
                  <a:spcAft>
                    <a:spcPts val="200"/>
                  </a:spcAft>
                  <a:buFont typeface="Wingdings" panose="05000000000000000000" pitchFamily="2" charset="2"/>
                  <a:buChar char="q"/>
                  <a:defRPr sz="1300">
                    <a:solidFill>
                      <a:srgbClr val="000000"/>
                    </a:solidFill>
                  </a:defRPr>
                </a:pPr>
                <a:r>
                  <a:rPr sz="1800" b="1" dirty="0"/>
                  <a:t>Governance Stability Metric:</a:t>
                </a:r>
              </a:p>
              <a:p>
                <a:pPr marL="285750" indent="-285750">
                  <a:lnSpc>
                    <a:spcPct val="115000"/>
                  </a:lnSpc>
                  <a:spcBef>
                    <a:spcPts val="200"/>
                  </a:spcBef>
                  <a:spcAft>
                    <a:spcPts val="200"/>
                  </a:spcAft>
                  <a:buFont typeface="Wingdings" panose="05000000000000000000" pitchFamily="2" charset="2"/>
                  <a:buChar char="Ø"/>
                  <a:defRPr sz="1300">
                    <a:solidFill>
                      <a:srgbClr val="000000"/>
                    </a:solidFill>
                  </a:defRPr>
                </a:pPr>
                <a:r>
                  <a:rPr sz="1800" dirty="0"/>
                  <a:t>The framework introduces a formal </a:t>
                </a:r>
                <a14:m>
                  <m:oMath xmlns:m="http://schemas.openxmlformats.org/officeDocument/2006/math">
                    <m:r>
                      <a:rPr lang="en-IN" sz="1800" i="1" dirty="0" smtClean="0">
                        <a:latin typeface="Cambria Math" panose="02040503050406030204" pitchFamily="18" charset="0"/>
                      </a:rPr>
                      <m:t>𝐺</m:t>
                    </m:r>
                    <m:sSub>
                      <m:sSubPr>
                        <m:ctrlPr>
                          <a:rPr lang="en-IN" sz="1800" i="1" dirty="0" smtClean="0">
                            <a:latin typeface="Cambria Math" panose="02040503050406030204" pitchFamily="18" charset="0"/>
                          </a:rPr>
                        </m:ctrlPr>
                      </m:sSubPr>
                      <m:e>
                        <m:r>
                          <a:rPr lang="en-IN" sz="1800" i="1" dirty="0" smtClean="0">
                            <a:latin typeface="Cambria Math" panose="02040503050406030204" pitchFamily="18" charset="0"/>
                          </a:rPr>
                          <m:t>𝑆</m:t>
                        </m:r>
                      </m:e>
                      <m:sub>
                        <m:r>
                          <a:rPr lang="en-IN" sz="1800" i="1" dirty="0" smtClean="0">
                            <a:latin typeface="Cambria Math" panose="02040503050406030204" pitchFamily="18" charset="0"/>
                          </a:rPr>
                          <m:t>𝑡</m:t>
                        </m:r>
                      </m:sub>
                    </m:sSub>
                  </m:oMath>
                </a14:m>
                <a:r>
                  <a:rPr sz="1800" dirty="0"/>
                  <a:t>metric to quantify the</a:t>
                </a:r>
                <a:r>
                  <a:rPr lang="en-IN" sz="1800" dirty="0"/>
                  <a:t> </a:t>
                </a:r>
                <a14:m>
                  <m:oMath xmlns:m="http://schemas.openxmlformats.org/officeDocument/2006/math">
                    <m:sSub>
                      <m:sSubPr>
                        <m:ctrlPr>
                          <a:rPr lang="en-IN" sz="1800" i="1" dirty="0" smtClean="0">
                            <a:latin typeface="Cambria Math" panose="02040503050406030204" pitchFamily="18" charset="0"/>
                          </a:rPr>
                        </m:ctrlPr>
                      </m:sSubPr>
                      <m:e>
                        <m:r>
                          <a:rPr lang="en-IN" sz="1800" i="1" dirty="0" smtClean="0">
                            <a:latin typeface="Cambria Math" panose="02040503050406030204" pitchFamily="18" charset="0"/>
                          </a:rPr>
                          <m:t>𝑙</m:t>
                        </m:r>
                      </m:e>
                      <m:sub>
                        <m:r>
                          <a:rPr lang="en-IN" sz="1800" i="1" dirty="0" smtClean="0">
                            <a:latin typeface="Cambria Math" panose="02040503050406030204" pitchFamily="18" charset="0"/>
                          </a:rPr>
                          <m:t>1</m:t>
                        </m:r>
                      </m:sub>
                    </m:sSub>
                  </m:oMath>
                </a14:m>
                <a:r>
                  <a:rPr lang="en-IN" sz="1800" dirty="0"/>
                  <a:t> </a:t>
                </a:r>
                <a:r>
                  <a:rPr sz="1800" dirty="0"/>
                  <a:t>weight change</a:t>
                </a:r>
                <a:r>
                  <a:rPr lang="en-IN" sz="1800" dirty="0"/>
                  <a:t> </a:t>
                </a:r>
                <a:r>
                  <a:rPr sz="1800" dirty="0"/>
                  <a:t>across rebalancing periods, directly targeting hidden transaction costs.</a:t>
                </a:r>
              </a:p>
            </p:txBody>
          </p:sp>
        </mc:Choice>
        <mc:Fallback>
          <p:sp>
            <p:nvSpPr>
              <p:cNvPr id="4" name="TextBox 3"/>
              <p:cNvSpPr txBox="1">
                <a:spLocks noRot="1" noChangeAspect="1" noMove="1" noResize="1" noEditPoints="1" noAdjustHandles="1" noChangeArrowheads="1" noChangeShapeType="1" noTextEdit="1"/>
              </p:cNvSpPr>
              <p:nvPr/>
            </p:nvSpPr>
            <p:spPr>
              <a:xfrm>
                <a:off x="838200" y="1066800"/>
                <a:ext cx="11125200" cy="4986622"/>
              </a:xfrm>
              <a:prstGeom prst="rect">
                <a:avLst/>
              </a:prstGeom>
              <a:blipFill>
                <a:blip r:embed="rId2"/>
                <a:stretch>
                  <a:fillRect l="-384" t="-244" b="-1100"/>
                </a:stretch>
              </a:blipFill>
            </p:spPr>
            <p:txBody>
              <a:bodyPr/>
              <a:lstStyle/>
              <a:p>
                <a:r>
                  <a:rPr lang="en-IN">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6"/>
            <a:ext cx="11005457" cy="527504"/>
          </a:xfrm>
        </p:spPr>
        <p:txBody>
          <a:bodyPr/>
          <a:lstStyle/>
          <a:p>
            <a:r>
              <a:rPr lang="en-IN" sz="3200" dirty="0">
                <a:solidFill>
                  <a:srgbClr val="C00000"/>
                </a:solidFill>
                <a:latin typeface="Times New Roman" panose="02020603050405020304" pitchFamily="18" charset="0"/>
                <a:cs typeface="Times New Roman" panose="02020603050405020304" pitchFamily="18" charset="0"/>
              </a:rPr>
              <a:t>Methodology – System Implementation &amp; Auditability</a:t>
            </a:r>
            <a:br>
              <a:rPr lang="en-IN" sz="3200" dirty="0">
                <a:solidFill>
                  <a:srgbClr val="C00000"/>
                </a:solidFill>
                <a:latin typeface="Times New Roman" panose="02020603050405020304" pitchFamily="18" charset="0"/>
                <a:cs typeface="Times New Roman" panose="02020603050405020304" pitchFamily="18" charset="0"/>
              </a:rPr>
            </a:br>
            <a:endParaRPr sz="3200" dirty="0">
              <a:solidFill>
                <a:srgbClr val="C00000"/>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838199" y="1099301"/>
            <a:ext cx="11201401" cy="5306709"/>
          </a:xfrm>
          <a:prstGeom prst="rect">
            <a:avLst/>
          </a:prstGeom>
          <a:noFill/>
        </p:spPr>
        <p:txBody>
          <a:bodyPr wrap="square" anchor="t">
            <a:spAutoFit/>
          </a:bodyPr>
          <a:lstStyle/>
          <a:p>
            <a:pPr marL="285750" indent="-285750">
              <a:lnSpc>
                <a:spcPct val="115000"/>
              </a:lnSpc>
              <a:spcBef>
                <a:spcPts val="200"/>
              </a:spcBef>
              <a:spcAft>
                <a:spcPts val="200"/>
              </a:spcAft>
              <a:buFont typeface="Wingdings" panose="05000000000000000000" pitchFamily="2" charset="2"/>
              <a:buChar char="q"/>
              <a:defRPr sz="1300">
                <a:solidFill>
                  <a:srgbClr val="000000"/>
                </a:solidFill>
              </a:defRPr>
            </a:pPr>
            <a:r>
              <a:rPr sz="1800" b="1" dirty="0">
                <a:latin typeface="Times New Roman" panose="02020603050405020304" pitchFamily="18" charset="0"/>
                <a:cs typeface="Times New Roman" panose="02020603050405020304" pitchFamily="18" charset="0"/>
              </a:rPr>
              <a:t>Objective: </a:t>
            </a:r>
            <a:r>
              <a:rPr sz="1800" dirty="0">
                <a:latin typeface="Times New Roman" panose="02020603050405020304" pitchFamily="18" charset="0"/>
                <a:cs typeface="Times New Roman" panose="02020603050405020304" pitchFamily="18" charset="0"/>
              </a:rPr>
              <a:t>To execute the governance math while guaranteeing 100% architectural</a:t>
            </a:r>
            <a:r>
              <a:rPr lang="en-IN" sz="18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isolation of the AI Language Model.</a:t>
            </a:r>
          </a:p>
          <a:p>
            <a:pPr marL="285750" indent="-285750">
              <a:lnSpc>
                <a:spcPct val="115000"/>
              </a:lnSpc>
              <a:spcBef>
                <a:spcPts val="200"/>
              </a:spcBef>
              <a:spcAft>
                <a:spcPts val="200"/>
              </a:spcAft>
              <a:buFont typeface="Wingdings" panose="05000000000000000000" pitchFamily="2" charset="2"/>
              <a:buChar char="q"/>
              <a:defRPr sz="1300">
                <a:solidFill>
                  <a:srgbClr val="000000"/>
                </a:solidFill>
              </a:defRPr>
            </a:pPr>
            <a:r>
              <a:rPr sz="1800" b="1" dirty="0">
                <a:latin typeface="Times New Roman" panose="02020603050405020304" pitchFamily="18" charset="0"/>
                <a:cs typeface="Times New Roman" panose="02020603050405020304" pitchFamily="18" charset="0"/>
              </a:rPr>
              <a:t>Seven-Agent Pipeline Architecture:</a:t>
            </a:r>
          </a:p>
          <a:p>
            <a:pPr marL="285750" indent="-285750">
              <a:lnSpc>
                <a:spcPct val="115000"/>
              </a:lnSpc>
              <a:spcBef>
                <a:spcPts val="200"/>
              </a:spcBef>
              <a:spcAft>
                <a:spcPts val="200"/>
              </a:spcAft>
              <a:buFont typeface="Wingdings" panose="05000000000000000000" pitchFamily="2" charset="2"/>
              <a:buChar char="Ø"/>
              <a:defRPr sz="1300">
                <a:solidFill>
                  <a:srgbClr val="000000"/>
                </a:solidFill>
              </a:defRPr>
            </a:pPr>
            <a:r>
              <a:rPr sz="1800" dirty="0">
                <a:latin typeface="Times New Roman" panose="02020603050405020304" pitchFamily="18" charset="0"/>
                <a:cs typeface="Times New Roman" panose="02020603050405020304" pitchFamily="18" charset="0"/>
              </a:rPr>
              <a:t>Coordinated by a central Orchestrator that enforces strict topological execution</a:t>
            </a:r>
            <a:r>
              <a:rPr lang="en-IN" sz="18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order without holding domain logic itself.</a:t>
            </a:r>
          </a:p>
          <a:p>
            <a:pPr marL="285750" indent="-285750">
              <a:lnSpc>
                <a:spcPct val="115000"/>
              </a:lnSpc>
              <a:spcBef>
                <a:spcPts val="200"/>
              </a:spcBef>
              <a:spcAft>
                <a:spcPts val="200"/>
              </a:spcAft>
              <a:buFont typeface="Wingdings" panose="05000000000000000000" pitchFamily="2" charset="2"/>
              <a:buChar char="Ø"/>
              <a:defRPr sz="1300">
                <a:solidFill>
                  <a:srgbClr val="000000"/>
                </a:solidFill>
              </a:defRPr>
            </a:pPr>
            <a:r>
              <a:rPr sz="1800" dirty="0">
                <a:latin typeface="Times New Roman" panose="02020603050405020304" pitchFamily="18" charset="0"/>
                <a:cs typeface="Times New Roman" panose="02020603050405020304" pitchFamily="18" charset="0"/>
              </a:rPr>
              <a:t>Utilizes a forward-only blackboard pattern, ensuring that the state at each</a:t>
            </a:r>
            <a:r>
              <a:rPr lang="en-IN" sz="18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checkpoint is a fully serializable, reproducible record.</a:t>
            </a:r>
          </a:p>
          <a:p>
            <a:pPr marL="285750" indent="-285750">
              <a:lnSpc>
                <a:spcPct val="115000"/>
              </a:lnSpc>
              <a:spcBef>
                <a:spcPts val="200"/>
              </a:spcBef>
              <a:spcAft>
                <a:spcPts val="200"/>
              </a:spcAft>
              <a:buFont typeface="Wingdings" panose="05000000000000000000" pitchFamily="2" charset="2"/>
              <a:buChar char="q"/>
              <a:defRPr sz="1300">
                <a:solidFill>
                  <a:srgbClr val="000000"/>
                </a:solidFill>
              </a:defRPr>
            </a:pPr>
            <a:r>
              <a:rPr sz="180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The Deterministic Core (Agents 1-6):</a:t>
            </a:r>
          </a:p>
          <a:p>
            <a:pPr marL="285750" indent="-285750">
              <a:lnSpc>
                <a:spcPct val="115000"/>
              </a:lnSpc>
              <a:spcBef>
                <a:spcPts val="200"/>
              </a:spcBef>
              <a:spcAft>
                <a:spcPts val="200"/>
              </a:spcAft>
              <a:buFont typeface="Wingdings" panose="05000000000000000000" pitchFamily="2" charset="2"/>
              <a:buChar char="Ø"/>
              <a:defRPr sz="1300">
                <a:solidFill>
                  <a:srgbClr val="000000"/>
                </a:solidFill>
              </a:defRPr>
            </a:pPr>
            <a:r>
              <a:rPr sz="1800" dirty="0">
                <a:latin typeface="Times New Roman" panose="02020603050405020304" pitchFamily="18" charset="0"/>
                <a:cs typeface="Times New Roman" panose="02020603050405020304" pitchFamily="18" charset="0"/>
              </a:rPr>
              <a:t>Dedicated agents sequentially handle data alignment, shrinkage, instability</a:t>
            </a:r>
            <a:r>
              <a:rPr lang="en-IN" sz="18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scoring, and optimization before committing the immutable governance log.</a:t>
            </a:r>
          </a:p>
          <a:p>
            <a:pPr marL="285750" indent="-285750">
              <a:lnSpc>
                <a:spcPct val="115000"/>
              </a:lnSpc>
              <a:spcBef>
                <a:spcPts val="200"/>
              </a:spcBef>
              <a:spcAft>
                <a:spcPts val="200"/>
              </a:spcAft>
              <a:buFont typeface="Wingdings" panose="05000000000000000000" pitchFamily="2" charset="2"/>
              <a:buChar char="q"/>
              <a:defRPr sz="1300">
                <a:solidFill>
                  <a:srgbClr val="000000"/>
                </a:solidFill>
              </a:defRPr>
            </a:pPr>
            <a:r>
              <a:rPr sz="180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Structural LLM Isolation (Agent 7):</a:t>
            </a:r>
          </a:p>
          <a:p>
            <a:pPr marL="285750" indent="-285750">
              <a:lnSpc>
                <a:spcPct val="115000"/>
              </a:lnSpc>
              <a:spcBef>
                <a:spcPts val="200"/>
              </a:spcBef>
              <a:spcAft>
                <a:spcPts val="200"/>
              </a:spcAft>
              <a:buFont typeface="Wingdings" panose="05000000000000000000" pitchFamily="2" charset="2"/>
              <a:buChar char="Ø"/>
              <a:defRPr sz="1300">
                <a:solidFill>
                  <a:srgbClr val="000000"/>
                </a:solidFill>
              </a:defRPr>
            </a:pPr>
            <a:r>
              <a:rPr sz="1800" dirty="0">
                <a:latin typeface="Times New Roman" panose="02020603050405020304" pitchFamily="18" charset="0"/>
                <a:cs typeface="Times New Roman" panose="02020603050405020304" pitchFamily="18" charset="0"/>
              </a:rPr>
              <a:t>The AI Reasoning Agent (LLM) is situated structurally outside the deterministic</a:t>
            </a:r>
            <a:r>
              <a:rPr lang="en-IN" sz="18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decision core.</a:t>
            </a:r>
          </a:p>
          <a:p>
            <a:pPr marL="285750" indent="-285750">
              <a:lnSpc>
                <a:spcPct val="115000"/>
              </a:lnSpc>
              <a:spcBef>
                <a:spcPts val="200"/>
              </a:spcBef>
              <a:spcAft>
                <a:spcPts val="200"/>
              </a:spcAft>
              <a:buFont typeface="Wingdings" panose="05000000000000000000" pitchFamily="2" charset="2"/>
              <a:buChar char="Ø"/>
              <a:defRPr sz="1300">
                <a:solidFill>
                  <a:srgbClr val="000000"/>
                </a:solidFill>
              </a:defRPr>
            </a:pPr>
            <a:r>
              <a:rPr sz="1800" dirty="0">
                <a:latin typeface="Times New Roman" panose="02020603050405020304" pitchFamily="18" charset="0"/>
                <a:cs typeface="Times New Roman" panose="02020603050405020304" pitchFamily="18" charset="0"/>
              </a:rPr>
              <a:t>It is granted strictly 'read-only' access to the committed governance record to</a:t>
            </a:r>
            <a:r>
              <a:rPr lang="en-IN" sz="18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generate conversational narratives.</a:t>
            </a:r>
          </a:p>
          <a:p>
            <a:pPr marL="285750" indent="-285750">
              <a:lnSpc>
                <a:spcPct val="115000"/>
              </a:lnSpc>
              <a:spcBef>
                <a:spcPts val="200"/>
              </a:spcBef>
              <a:spcAft>
                <a:spcPts val="200"/>
              </a:spcAft>
              <a:buFont typeface="Wingdings" panose="05000000000000000000" pitchFamily="2" charset="2"/>
              <a:buChar char="Ø"/>
              <a:defRPr sz="1300">
                <a:solidFill>
                  <a:srgbClr val="000000"/>
                </a:solidFill>
              </a:defRPr>
            </a:pPr>
            <a:r>
              <a:rPr sz="1800" dirty="0">
                <a:latin typeface="Times New Roman" panose="02020603050405020304" pitchFamily="18" charset="0"/>
                <a:cs typeface="Times New Roman" panose="02020603050405020304" pitchFamily="18" charset="0"/>
              </a:rPr>
              <a:t>There is zero write-path access to any upstream portfolio computation, physically</a:t>
            </a:r>
            <a:r>
              <a:rPr lang="en-IN" sz="18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preventing numerical hallucination.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6"/>
            <a:ext cx="11702143" cy="647246"/>
          </a:xfrm>
        </p:spPr>
        <p:txBody>
          <a:bodyPr/>
          <a:lstStyle/>
          <a:p>
            <a:r>
              <a:rPr lang="en-US" sz="3200" dirty="0">
                <a:solidFill>
                  <a:srgbClr val="C00000"/>
                </a:solidFill>
                <a:latin typeface="Times New Roman" panose="02020603050405020304" pitchFamily="18" charset="0"/>
                <a:cs typeface="Times New Roman" panose="02020603050405020304" pitchFamily="18" charset="0"/>
              </a:rPr>
              <a:t>Paper 2 Methodology – Graph-Regularized CVaR (G-CVaR)</a:t>
            </a:r>
            <a:br>
              <a:rPr lang="en-US" sz="3200" dirty="0">
                <a:solidFill>
                  <a:srgbClr val="C00000"/>
                </a:solidFill>
                <a:latin typeface="Times New Roman" panose="02020603050405020304" pitchFamily="18" charset="0"/>
                <a:cs typeface="Times New Roman" panose="02020603050405020304" pitchFamily="18" charset="0"/>
              </a:rPr>
            </a:br>
            <a:endParaRPr sz="3200" dirty="0">
              <a:solidFill>
                <a:srgbClr val="C0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4" name="TextBox 3"/>
              <p:cNvSpPr txBox="1"/>
              <p:nvPr/>
            </p:nvSpPr>
            <p:spPr>
              <a:xfrm>
                <a:off x="838199" y="1012372"/>
                <a:ext cx="11353801" cy="4751557"/>
              </a:xfrm>
              <a:prstGeom prst="rect">
                <a:avLst/>
              </a:prstGeom>
              <a:noFill/>
            </p:spPr>
            <p:txBody>
              <a:bodyPr wrap="square" anchor="t">
                <a:spAutoFit/>
              </a:bodyPr>
              <a:lstStyle/>
              <a:p>
                <a:pPr marL="285750" indent="-285750">
                  <a:lnSpc>
                    <a:spcPct val="115000"/>
                  </a:lnSpc>
                  <a:spcBef>
                    <a:spcPts val="200"/>
                  </a:spcBef>
                  <a:spcAft>
                    <a:spcPts val="200"/>
                  </a:spcAft>
                  <a:buFont typeface="Wingdings" panose="05000000000000000000" pitchFamily="2" charset="2"/>
                  <a:buChar char="q"/>
                  <a:defRPr sz="1300">
                    <a:solidFill>
                      <a:srgbClr val="000000"/>
                    </a:solidFill>
                  </a:defRPr>
                </a:pPr>
                <a:r>
                  <a:rPr sz="1800" b="1" dirty="0">
                    <a:latin typeface="Times New Roman" panose="02020603050405020304" pitchFamily="18" charset="0"/>
                    <a:cs typeface="Times New Roman" panose="02020603050405020304" pitchFamily="18" charset="0"/>
                  </a:rPr>
                  <a:t>Objective: </a:t>
                </a:r>
                <a:r>
                  <a:rPr sz="1800" dirty="0">
                    <a:latin typeface="Times New Roman" panose="02020603050405020304" pitchFamily="18" charset="0"/>
                    <a:cs typeface="Times New Roman" panose="02020603050405020304" pitchFamily="18" charset="0"/>
                  </a:rPr>
                  <a:t>To mathematically penalize portfolio concentration in stocks that are</a:t>
                </a:r>
                <a:r>
                  <a:rPr lang="en-IN" sz="18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heavily co-owned by large institutions, curbing systemic contagion risks.</a:t>
                </a:r>
              </a:p>
              <a:p>
                <a:pPr marL="285750" indent="-285750">
                  <a:lnSpc>
                    <a:spcPct val="115000"/>
                  </a:lnSpc>
                  <a:spcBef>
                    <a:spcPts val="200"/>
                  </a:spcBef>
                  <a:spcAft>
                    <a:spcPts val="200"/>
                  </a:spcAft>
                  <a:buFont typeface="Wingdings" panose="05000000000000000000" pitchFamily="2" charset="2"/>
                  <a:buChar char="q"/>
                  <a:defRPr sz="1300">
                    <a:solidFill>
                      <a:srgbClr val="000000"/>
                    </a:solidFill>
                  </a:defRPr>
                </a:pPr>
                <a:r>
                  <a:rPr sz="1800" b="1" dirty="0">
                    <a:latin typeface="Times New Roman" panose="02020603050405020304" pitchFamily="18" charset="0"/>
                    <a:cs typeface="Times New Roman" panose="02020603050405020304" pitchFamily="18" charset="0"/>
                  </a:rPr>
                  <a:t>The Bipartite Holdings Graph:</a:t>
                </a:r>
              </a:p>
              <a:p>
                <a:pPr marL="285750" indent="-285750">
                  <a:lnSpc>
                    <a:spcPct val="115000"/>
                  </a:lnSpc>
                  <a:spcBef>
                    <a:spcPts val="200"/>
                  </a:spcBef>
                  <a:spcAft>
                    <a:spcPts val="200"/>
                  </a:spcAft>
                  <a:buFont typeface="Wingdings" panose="05000000000000000000" pitchFamily="2" charset="2"/>
                  <a:buChar char="Ø"/>
                  <a:defRPr sz="1300">
                    <a:solidFill>
                      <a:srgbClr val="000000"/>
                    </a:solidFill>
                  </a:defRPr>
                </a:pPr>
                <a:r>
                  <a:rPr sz="1800" dirty="0">
                    <a:latin typeface="Times New Roman" panose="02020603050405020304" pitchFamily="18" charset="0"/>
                    <a:cs typeface="Times New Roman" panose="02020603050405020304" pitchFamily="18" charset="0"/>
                  </a:rPr>
                  <a:t>Constructs a bipartite graph (</a:t>
                </a:r>
                <a14:m>
                  <m:oMath xmlns:m="http://schemas.openxmlformats.org/officeDocument/2006/math">
                    <m:sSub>
                      <m:sSubPr>
                        <m:ctrlPr>
                          <a:rPr lang="en-IN" sz="1800" i="1" dirty="0" smtClean="0">
                            <a:latin typeface="Cambria Math" panose="02040503050406030204" pitchFamily="18" charset="0"/>
                          </a:rPr>
                        </m:ctrlPr>
                      </m:sSubPr>
                      <m:e>
                        <m:r>
                          <a:rPr lang="en-IN" sz="1800" i="1" dirty="0" smtClean="0">
                            <a:latin typeface="Cambria Math" panose="02040503050406030204" pitchFamily="18" charset="0"/>
                          </a:rPr>
                          <m:t>𝐵</m:t>
                        </m:r>
                      </m:e>
                      <m:sub>
                        <m:r>
                          <a:rPr lang="en-IN" sz="1800" i="1" dirty="0" smtClean="0">
                            <a:latin typeface="Cambria Math" panose="02040503050406030204" pitchFamily="18" charset="0"/>
                          </a:rPr>
                          <m:t>𝑤</m:t>
                        </m:r>
                      </m:sub>
                    </m:sSub>
                  </m:oMath>
                </a14:m>
                <a:r>
                  <a:rPr sz="1800" dirty="0">
                    <a:latin typeface="Times New Roman" panose="02020603050405020304" pitchFamily="18" charset="0"/>
                    <a:cs typeface="Times New Roman" panose="02020603050405020304" pitchFamily="18" charset="0"/>
                  </a:rPr>
                  <a:t>) connecting stocks to institutional holders</a:t>
                </a:r>
                <a:r>
                  <a:rPr lang="en-IN" sz="18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using SEC 13-F filing data.</a:t>
                </a:r>
              </a:p>
              <a:p>
                <a:pPr marL="285750" indent="-285750">
                  <a:lnSpc>
                    <a:spcPct val="115000"/>
                  </a:lnSpc>
                  <a:spcBef>
                    <a:spcPts val="200"/>
                  </a:spcBef>
                  <a:spcAft>
                    <a:spcPts val="200"/>
                  </a:spcAft>
                  <a:buFont typeface="Wingdings" panose="05000000000000000000" pitchFamily="2" charset="2"/>
                  <a:buChar char="Ø"/>
                  <a:defRPr sz="1300">
                    <a:solidFill>
                      <a:srgbClr val="000000"/>
                    </a:solidFill>
                  </a:defRPr>
                </a:pPr>
                <a:r>
                  <a:rPr sz="1800" dirty="0">
                    <a:latin typeface="Times New Roman" panose="02020603050405020304" pitchFamily="18" charset="0"/>
                    <a:cs typeface="Times New Roman" panose="02020603050405020304" pitchFamily="18" charset="0"/>
                  </a:rPr>
                  <a:t>Projects this into a stock-to-stock adjacency matrix and calculates the</a:t>
                </a:r>
                <a:r>
                  <a:rPr lang="en-IN" sz="18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eigenvector centrality (</a:t>
                </a:r>
                <a14:m>
                  <m:oMath xmlns:m="http://schemas.openxmlformats.org/officeDocument/2006/math">
                    <m:sSub>
                      <m:sSubPr>
                        <m:ctrlPr>
                          <a:rPr lang="en-IN" sz="1800" i="1" dirty="0" smtClean="0">
                            <a:latin typeface="Cambria Math" panose="02040503050406030204" pitchFamily="18" charset="0"/>
                          </a:rPr>
                        </m:ctrlPr>
                      </m:sSubPr>
                      <m:e>
                        <m:r>
                          <a:rPr lang="en-IN" sz="1800" i="1" dirty="0" smtClean="0">
                            <a:latin typeface="Cambria Math" panose="02040503050406030204" pitchFamily="18" charset="0"/>
                          </a:rPr>
                          <m:t>𝑐</m:t>
                        </m:r>
                      </m:e>
                      <m:sub>
                        <m:r>
                          <a:rPr lang="en-IN" sz="1800" i="1" dirty="0" smtClean="0">
                            <a:latin typeface="Cambria Math" panose="02040503050406030204" pitchFamily="18" charset="0"/>
                          </a:rPr>
                          <m:t>𝑤</m:t>
                        </m:r>
                      </m:sub>
                    </m:sSub>
                  </m:oMath>
                </a14:m>
                <a:r>
                  <a:rPr sz="1800" dirty="0">
                    <a:latin typeface="Times New Roman" panose="02020603050405020304" pitchFamily="18" charset="0"/>
                    <a:cs typeface="Times New Roman" panose="02020603050405020304" pitchFamily="18" charset="0"/>
                  </a:rPr>
                  <a:t>) for each asset</a:t>
                </a:r>
                <a:r>
                  <a:rPr lang="en-IN" sz="1800" dirty="0">
                    <a:latin typeface="Times New Roman" panose="02020603050405020304" pitchFamily="18" charset="0"/>
                    <a:cs typeface="Times New Roman" panose="02020603050405020304" pitchFamily="18" charset="0"/>
                  </a:rPr>
                  <a:t>.</a:t>
                </a:r>
              </a:p>
              <a:p>
                <a:pPr marL="285750" indent="-285750">
                  <a:lnSpc>
                    <a:spcPct val="115000"/>
                  </a:lnSpc>
                  <a:spcBef>
                    <a:spcPts val="200"/>
                  </a:spcBef>
                  <a:spcAft>
                    <a:spcPts val="200"/>
                  </a:spcAft>
                  <a:buFont typeface="Wingdings" panose="05000000000000000000" pitchFamily="2" charset="2"/>
                  <a:buChar char="q"/>
                  <a:defRPr sz="1300">
                    <a:solidFill>
                      <a:srgbClr val="000000"/>
                    </a:solidFill>
                  </a:defRPr>
                </a:pPr>
                <a:r>
                  <a:rPr sz="1800" b="1" dirty="0">
                    <a:latin typeface="Times New Roman" panose="02020603050405020304" pitchFamily="18" charset="0"/>
                    <a:cs typeface="Times New Roman" panose="02020603050405020304" pitchFamily="18" charset="0"/>
                  </a:rPr>
                  <a:t>Adaptive Contagion Penalization (ACP):</a:t>
                </a:r>
              </a:p>
              <a:p>
                <a:pPr marL="285750" indent="-285750">
                  <a:lnSpc>
                    <a:spcPct val="115000"/>
                  </a:lnSpc>
                  <a:spcBef>
                    <a:spcPts val="200"/>
                  </a:spcBef>
                  <a:spcAft>
                    <a:spcPts val="200"/>
                  </a:spcAft>
                  <a:buFont typeface="Wingdings" panose="05000000000000000000" pitchFamily="2" charset="2"/>
                  <a:buChar char="Ø"/>
                  <a:defRPr sz="1300">
                    <a:solidFill>
                      <a:srgbClr val="000000"/>
                    </a:solidFill>
                  </a:defRPr>
                </a:pPr>
                <a:r>
                  <a:rPr sz="1800" dirty="0">
                    <a:latin typeface="Times New Roman" panose="02020603050405020304" pitchFamily="18" charset="0"/>
                    <a:cs typeface="Times New Roman" panose="02020603050405020304" pitchFamily="18" charset="0"/>
                  </a:rPr>
                  <a:t>Introduces an adaptive sigmoid gate (</a:t>
                </a:r>
                <a14:m>
                  <m:oMath xmlns:m="http://schemas.openxmlformats.org/officeDocument/2006/math">
                    <m:sSub>
                      <m:sSubPr>
                        <m:ctrlPr>
                          <a:rPr lang="en-IN" sz="1800" i="1" dirty="0" smtClean="0">
                            <a:latin typeface="Cambria Math" panose="02040503050406030204" pitchFamily="18" charset="0"/>
                          </a:rPr>
                        </m:ctrlPr>
                      </m:sSubPr>
                      <m:e>
                        <m:r>
                          <a:rPr lang="en-IN" sz="1800" i="1" dirty="0" smtClean="0">
                            <a:latin typeface="Cambria Math" panose="02040503050406030204" pitchFamily="18" charset="0"/>
                          </a:rPr>
                          <m:t>𝜆</m:t>
                        </m:r>
                      </m:e>
                      <m:sub>
                        <m:r>
                          <a:rPr lang="en-IN" sz="1800" i="1" dirty="0" smtClean="0">
                            <a:latin typeface="Cambria Math" panose="02040503050406030204" pitchFamily="18" charset="0"/>
                          </a:rPr>
                          <m:t>𝑡</m:t>
                        </m:r>
                      </m:sub>
                    </m:sSub>
                  </m:oMath>
                </a14:m>
                <a:r>
                  <a:rPr sz="1800" dirty="0">
                    <a:latin typeface="Times New Roman" panose="02020603050405020304" pitchFamily="18" charset="0"/>
                    <a:cs typeface="Times New Roman" panose="02020603050405020304" pitchFamily="18" charset="0"/>
                  </a:rPr>
                  <a:t>) driven by the instability index </a:t>
                </a:r>
                <a14:m>
                  <m:oMath xmlns:m="http://schemas.openxmlformats.org/officeDocument/2006/math">
                    <m:r>
                      <a:rPr lang="en-IN" sz="1800" i="1" dirty="0" smtClean="0">
                        <a:latin typeface="Cambria Math" panose="02040503050406030204" pitchFamily="18" charset="0"/>
                      </a:rPr>
                      <m:t>(</m:t>
                    </m:r>
                    <m:sSub>
                      <m:sSubPr>
                        <m:ctrlPr>
                          <a:rPr lang="en-IN" sz="1800" i="1" dirty="0" err="1">
                            <a:latin typeface="Cambria Math" panose="02040503050406030204" pitchFamily="18" charset="0"/>
                          </a:rPr>
                        </m:ctrlPr>
                      </m:sSubPr>
                      <m:e>
                        <m:r>
                          <a:rPr lang="en-IN" sz="1800" i="1" dirty="0" err="1">
                            <a:latin typeface="Cambria Math" panose="02040503050406030204" pitchFamily="18" charset="0"/>
                          </a:rPr>
                          <m:t>𝐼</m:t>
                        </m:r>
                      </m:e>
                      <m:sub>
                        <m:r>
                          <a:rPr lang="en-IN" sz="1800" i="1" dirty="0" err="1">
                            <a:latin typeface="Cambria Math" panose="02040503050406030204" pitchFamily="18" charset="0"/>
                          </a:rPr>
                          <m:t>𝑡</m:t>
                        </m:r>
                      </m:sub>
                    </m:sSub>
                  </m:oMath>
                </a14:m>
                <a:r>
                  <a:rPr sz="1800" dirty="0">
                    <a:latin typeface="Times New Roman" panose="02020603050405020304" pitchFamily="18" charset="0"/>
                    <a:cs typeface="Times New Roman" panose="02020603050405020304" pitchFamily="18" charset="0"/>
                  </a:rPr>
                  <a:t>).</a:t>
                </a:r>
              </a:p>
              <a:p>
                <a:pPr marL="285750" indent="-285750">
                  <a:lnSpc>
                    <a:spcPct val="115000"/>
                  </a:lnSpc>
                  <a:spcBef>
                    <a:spcPts val="200"/>
                  </a:spcBef>
                  <a:spcAft>
                    <a:spcPts val="200"/>
                  </a:spcAft>
                  <a:buFont typeface="Wingdings" panose="05000000000000000000" pitchFamily="2" charset="2"/>
                  <a:buChar char="Ø"/>
                  <a:defRPr sz="1300">
                    <a:solidFill>
                      <a:srgbClr val="000000"/>
                    </a:solidFill>
                  </a:defRPr>
                </a:pPr>
                <a:r>
                  <a:rPr sz="1800" dirty="0">
                    <a:latin typeface="Times New Roman" panose="02020603050405020304" pitchFamily="18" charset="0"/>
                    <a:cs typeface="Times New Roman" panose="02020603050405020304" pitchFamily="18" charset="0"/>
                  </a:rPr>
                  <a:t>In calm markets, </a:t>
                </a:r>
                <a14:m>
                  <m:oMath xmlns:m="http://schemas.openxmlformats.org/officeDocument/2006/math">
                    <m:sSub>
                      <m:sSubPr>
                        <m:ctrlPr>
                          <a:rPr lang="en-IN" sz="1800" i="1" dirty="0" smtClean="0">
                            <a:latin typeface="Cambria Math" panose="02040503050406030204" pitchFamily="18" charset="0"/>
                          </a:rPr>
                        </m:ctrlPr>
                      </m:sSubPr>
                      <m:e>
                        <m:r>
                          <a:rPr lang="en-IN" sz="1800" i="1" dirty="0" smtClean="0">
                            <a:latin typeface="Cambria Math" panose="02040503050406030204" pitchFamily="18" charset="0"/>
                          </a:rPr>
                          <m:t>𝜆</m:t>
                        </m:r>
                      </m:e>
                      <m:sub>
                        <m:r>
                          <a:rPr lang="en-IN" sz="1800" i="1" dirty="0" smtClean="0">
                            <a:latin typeface="Cambria Math" panose="02040503050406030204" pitchFamily="18" charset="0"/>
                          </a:rPr>
                          <m:t>𝑡</m:t>
                        </m:r>
                      </m:sub>
                    </m:sSub>
                  </m:oMath>
                </a14:m>
                <a:r>
                  <a:rPr sz="1800" dirty="0">
                    <a:latin typeface="Times New Roman" panose="02020603050405020304" pitchFamily="18" charset="0"/>
                    <a:cs typeface="Times New Roman" panose="02020603050405020304" pitchFamily="18" charset="0"/>
                  </a:rPr>
                  <a:t>≈ 0. In crisis markets (</a:t>
                </a:r>
                <a14:m>
                  <m:oMath xmlns:m="http://schemas.openxmlformats.org/officeDocument/2006/math">
                    <m:sSub>
                      <m:sSubPr>
                        <m:ctrlPr>
                          <a:rPr lang="en-IN" sz="1800" i="1" dirty="0" smtClean="0">
                            <a:latin typeface="Cambria Math" panose="02040503050406030204" pitchFamily="18" charset="0"/>
                          </a:rPr>
                        </m:ctrlPr>
                      </m:sSubPr>
                      <m:e>
                        <m:r>
                          <a:rPr lang="en-IN" sz="1800" i="1" dirty="0" smtClean="0">
                            <a:latin typeface="Cambria Math" panose="02040503050406030204" pitchFamily="18" charset="0"/>
                          </a:rPr>
                          <m:t>𝐼</m:t>
                        </m:r>
                      </m:e>
                      <m:sub>
                        <m:r>
                          <a:rPr lang="en-IN" sz="1800" i="1" dirty="0" smtClean="0">
                            <a:latin typeface="Cambria Math" panose="02040503050406030204" pitchFamily="18" charset="0"/>
                          </a:rPr>
                          <m:t>𝑡</m:t>
                        </m:r>
                      </m:sub>
                    </m:sSub>
                    <m:r>
                      <a:rPr lang="en-IN" sz="1800" i="1" dirty="0">
                        <a:latin typeface="Cambria Math" panose="02040503050406030204" pitchFamily="18" charset="0"/>
                      </a:rPr>
                      <m:t>≥0.85</m:t>
                    </m:r>
                  </m:oMath>
                </a14:m>
                <a:r>
                  <a:rPr sz="1800" dirty="0">
                    <a:latin typeface="Times New Roman" panose="02020603050405020304" pitchFamily="18" charset="0"/>
                    <a:cs typeface="Times New Roman" panose="02020603050405020304" pitchFamily="18" charset="0"/>
                  </a:rPr>
                  <a:t>), </a:t>
                </a:r>
                <a14:m/>
              </a:p>
              <a:p>
                <a:pPr>
                  <a:lnSpc>
                    <a:spcPct val="115000"/>
                  </a:lnSpc>
                  <a:spcBef>
                    <a:spcPts val="200"/>
                  </a:spcBef>
                  <a:spcAft>
                    <a:spcPts val="200"/>
                  </a:spcAft>
                  <a:defRPr sz="1300">
                    <a:solidFill>
                      <a:srgbClr val="000000"/>
                    </a:solidFill>
                  </a:defRPr>
                </a:pPr>
              </a:p>
              <a:p>
                <a:pPr marL="285750" indent="-285750">
                  <a:lnSpc>
                    <a:spcPct val="115000"/>
                  </a:lnSpc>
                  <a:spcBef>
                    <a:spcPts val="200"/>
                  </a:spcBef>
                  <a:spcAft>
                    <a:spcPts val="200"/>
                  </a:spcAft>
                  <a:buFont typeface="Wingdings" panose="05000000000000000000" pitchFamily="2" charset="2"/>
                  <a:buChar char="q"/>
                  <a:defRPr sz="1300">
                    <a:solidFill>
                      <a:srgbClr val="000000"/>
                    </a:solidFill>
                  </a:defRPr>
                </a:pPr>
                <a:r>
                  <a:rPr sz="1800" b="1" dirty="0">
                    <a:latin typeface="Times New Roman" panose="02020603050405020304" pitchFamily="18" charset="0"/>
                    <a:cs typeface="Times New Roman" panose="02020603050405020304" pitchFamily="18" charset="0"/>
                  </a:rPr>
                  <a:t>The G-CVaR Optimization Objective:</a:t>
                </a:r>
              </a:p>
              <a:p>
                <a:pPr>
                  <a:lnSpc>
                    <a:spcPct val="115000"/>
                  </a:lnSpc>
                  <a:spcBef>
                    <a:spcPts val="200"/>
                  </a:spcBef>
                  <a:spcAft>
                    <a:spcPts val="200"/>
                  </a:spcAft>
                  <a:defRPr sz="1300">
                    <a:solidFill>
                      <a:srgbClr val="000000"/>
                    </a:solidFill>
                  </a:defRPr>
                </a:pPr>
                <a14:m>
                  <m:oMath xmlns:m="http://schemas.openxmlformats.org/officeDocument/2006/math">
                    <m:r>
                      <a:rPr lang="en-IN" sz="1800" i="1" dirty="0" smtClean="0">
                        <a:latin typeface="Cambria Math" panose="02040503050406030204" pitchFamily="18" charset="0"/>
                      </a:rPr>
                      <m:t>𝑚𝑖</m:t>
                    </m:r>
                    <m:func>
                      <m:funcPr>
                        <m:ctrlPr>
                          <a:rPr lang="en-IN" sz="1800" i="1" dirty="0" smtClean="0">
                            <a:latin typeface="Cambria Math" panose="02040503050406030204" pitchFamily="18" charset="0"/>
                          </a:rPr>
                        </m:ctrlPr>
                      </m:funcPr>
                      <m:fName>
                        <m:r>
                          <a:rPr lang="en-IN" sz="1800" i="1" dirty="0" smtClean="0">
                            <a:latin typeface="Cambria Math" panose="02040503050406030204" pitchFamily="18" charset="0"/>
                          </a:rPr>
                          <m:t>𝑛</m:t>
                        </m:r>
                      </m:fName>
                      <m:e>
                        <m:d>
                          <m:dPr>
                            <m:begChr m:val="["/>
                            <m:endChr m:val="]"/>
                            <m:ctrlPr>
                              <a:rPr lang="en-IN" sz="1800" i="1" dirty="0" smtClean="0">
                                <a:latin typeface="Cambria Math" panose="02040503050406030204" pitchFamily="18" charset="0"/>
                              </a:rPr>
                            </m:ctrlPr>
                          </m:dPr>
                          <m:e>
                            <m:r>
                              <a:rPr lang="en-IN" sz="1800" i="1" dirty="0" smtClean="0">
                                <a:latin typeface="Cambria Math" panose="02040503050406030204" pitchFamily="18" charset="0"/>
                              </a:rPr>
                              <m:t>𝜁</m:t>
                            </m:r>
                            <m:r>
                              <a:rPr lang="en-IN" sz="1800" i="1" dirty="0" smtClean="0">
                                <a:latin typeface="Cambria Math" panose="02040503050406030204" pitchFamily="18" charset="0"/>
                              </a:rPr>
                              <m:t>+</m:t>
                            </m:r>
                            <m:d>
                              <m:dPr>
                                <m:ctrlPr>
                                  <a:rPr lang="en-IN" sz="1800" i="1" dirty="0" smtClean="0">
                                    <a:latin typeface="Cambria Math" panose="02040503050406030204" pitchFamily="18" charset="0"/>
                                  </a:rPr>
                                </m:ctrlPr>
                              </m:dPr>
                              <m:e>
                                <m:r>
                                  <a:rPr lang="en-IN" sz="1800" i="1" dirty="0" smtClean="0">
                                    <a:latin typeface="Cambria Math" panose="02040503050406030204" pitchFamily="18" charset="0"/>
                                  </a:rPr>
                                  <m:t>1</m:t>
                                </m:r>
                                <m:r>
                                  <m:rPr>
                                    <m:lit/>
                                  </m:rPr>
                                  <a:rPr lang="en-IN" sz="1800" i="1" dirty="0" smtClean="0">
                                    <a:latin typeface="Cambria Math" panose="02040503050406030204" pitchFamily="18" charset="0"/>
                                  </a:rPr>
                                  <m:t>/</m:t>
                                </m:r>
                                <m:r>
                                  <a:rPr lang="en-IN" sz="1800" i="1" dirty="0" smtClean="0">
                                    <a:latin typeface="Cambria Math" panose="02040503050406030204" pitchFamily="18" charset="0"/>
                                  </a:rPr>
                                  <m:t>𝑇</m:t>
                                </m:r>
                                <m:d>
                                  <m:dPr>
                                    <m:ctrlPr>
                                      <a:rPr lang="en-IN" sz="1800" i="1" dirty="0" smtClean="0">
                                        <a:latin typeface="Cambria Math" panose="02040503050406030204" pitchFamily="18" charset="0"/>
                                      </a:rPr>
                                    </m:ctrlPr>
                                  </m:dPr>
                                  <m:e>
                                    <m:r>
                                      <a:rPr lang="en-IN" sz="1800" i="1" dirty="0" smtClean="0">
                                        <a:latin typeface="Cambria Math" panose="02040503050406030204" pitchFamily="18" charset="0"/>
                                      </a:rPr>
                                      <m:t>1−</m:t>
                                    </m:r>
                                    <m:r>
                                      <a:rPr lang="en-IN" sz="1800" i="1" dirty="0" smtClean="0">
                                        <a:latin typeface="Cambria Math" panose="02040503050406030204" pitchFamily="18" charset="0"/>
                                      </a:rPr>
                                      <m:t>𝛼</m:t>
                                    </m:r>
                                  </m:e>
                                </m:d>
                              </m:e>
                            </m:d>
                            <m:sSub>
                              <m:sSubPr>
                                <m:ctrlPr>
                                  <a:rPr lang="el-GR" sz="1800" i="1" dirty="0" err="1" smtClean="0">
                                    <a:latin typeface="Cambria Math" panose="02040503050406030204" pitchFamily="18" charset="0"/>
                                  </a:rPr>
                                </m:ctrlPr>
                              </m:sSubPr>
                              <m:e>
                                <m:r>
                                  <m:rPr>
                                    <m:sty m:val="p"/>
                                  </m:rPr>
                                  <a:rPr lang="el-GR" sz="1800" i="0" dirty="0" err="1">
                                    <a:latin typeface="Cambria Math" panose="02040503050406030204" pitchFamily="18" charset="0"/>
                                  </a:rPr>
                                  <m:t>Σ</m:t>
                                </m:r>
                              </m:e>
                              <m:sub>
                                <m:r>
                                  <a:rPr lang="el-GR" sz="1800" i="1" dirty="0" err="1">
                                    <a:latin typeface="Cambria Math" panose="02040503050406030204" pitchFamily="18" charset="0"/>
                                  </a:rPr>
                                  <m:t>𝑡</m:t>
                                </m:r>
                              </m:sub>
                            </m:sSub>
                            <m:sSub>
                              <m:sSubPr>
                                <m:ctrlPr>
                                  <a:rPr lang="el-GR" sz="1800" i="1" dirty="0" err="1">
                                    <a:latin typeface="Cambria Math" panose="02040503050406030204" pitchFamily="18" charset="0"/>
                                  </a:rPr>
                                </m:ctrlPr>
                              </m:sSubPr>
                              <m:e>
                                <m:r>
                                  <a:rPr lang="el-GR" sz="1800" i="1" dirty="0" err="1">
                                    <a:latin typeface="Cambria Math" panose="02040503050406030204" pitchFamily="18" charset="0"/>
                                  </a:rPr>
                                  <m:t>𝑧</m:t>
                                </m:r>
                              </m:e>
                              <m:sub>
                                <m:r>
                                  <a:rPr lang="el-GR" sz="1800" i="1" dirty="0" err="1">
                                    <a:latin typeface="Cambria Math" panose="02040503050406030204" pitchFamily="18" charset="0"/>
                                  </a:rPr>
                                  <m:t>𝑡</m:t>
                                </m:r>
                              </m:sub>
                            </m:sSub>
                            <m:r>
                              <a:rPr lang="el-GR" sz="1800" i="1" dirty="0">
                                <a:latin typeface="Cambria Math" panose="02040503050406030204" pitchFamily="18" charset="0"/>
                              </a:rPr>
                              <m:t>+</m:t>
                            </m:r>
                            <m:sSub>
                              <m:sSubPr>
                                <m:ctrlPr>
                                  <a:rPr lang="el-GR" sz="1800" i="1" dirty="0" err="1">
                                    <a:latin typeface="Cambria Math" panose="02040503050406030204" pitchFamily="18" charset="0"/>
                                  </a:rPr>
                                </m:ctrlPr>
                              </m:sSubPr>
                              <m:e>
                                <m:r>
                                  <a:rPr lang="el-GR" sz="1800" i="1" dirty="0" err="1">
                                    <a:latin typeface="Cambria Math" panose="02040503050406030204" pitchFamily="18" charset="0"/>
                                  </a:rPr>
                                  <m:t>𝜆</m:t>
                                </m:r>
                              </m:e>
                              <m:sub>
                                <m:r>
                                  <a:rPr lang="el-GR" sz="1800" i="1" dirty="0" err="1">
                                    <a:latin typeface="Cambria Math" panose="02040503050406030204" pitchFamily="18" charset="0"/>
                                  </a:rPr>
                                  <m:t>𝑡</m:t>
                                </m:r>
                              </m:sub>
                            </m:sSub>
                            <m:sSubSup>
                              <m:sSubSupPr>
                                <m:ctrlPr>
                                  <a:rPr lang="el-GR" sz="1800" i="1" dirty="0" err="1">
                                    <a:latin typeface="Cambria Math" panose="02040503050406030204" pitchFamily="18" charset="0"/>
                                  </a:rPr>
                                </m:ctrlPr>
                              </m:sSubSupPr>
                              <m:e>
                                <m:r>
                                  <a:rPr lang="el-GR" sz="1800" i="1" dirty="0" err="1">
                                    <a:latin typeface="Cambria Math" panose="02040503050406030204" pitchFamily="18" charset="0"/>
                                  </a:rPr>
                                  <m:t>𝑐</m:t>
                                </m:r>
                              </m:e>
                              <m:sub>
                                <m:r>
                                  <a:rPr lang="el-GR" sz="1800" i="1" dirty="0" err="1">
                                    <a:latin typeface="Cambria Math" panose="02040503050406030204" pitchFamily="18" charset="0"/>
                                  </a:rPr>
                                  <m:t>𝑤</m:t>
                                </m:r>
                              </m:sub>
                              <m:sup>
                                <m:r>
                                  <a:rPr lang="el-GR" sz="1800" i="1" dirty="0" err="1">
                                    <a:latin typeface="Cambria Math" panose="02040503050406030204" pitchFamily="18" charset="0"/>
                                  </a:rPr>
                                  <m:t>𝑇</m:t>
                                </m:r>
                              </m:sup>
                            </m:sSubSup>
                            <m:r>
                              <a:rPr lang="el-GR" sz="1800" i="1" dirty="0">
                                <a:latin typeface="Cambria Math" panose="02040503050406030204" pitchFamily="18" charset="0"/>
                              </a:rPr>
                              <m:t>𝑤</m:t>
                            </m:r>
                          </m:e>
                        </m:d>
                      </m:e>
                    </m:func>
                  </m:oMath>
                </a14:m>
              </a:p>
              <a:p>
                <a:pPr marL="285750" indent="-285750">
                  <a:lnSpc>
                    <a:spcPct val="115000"/>
                  </a:lnSpc>
                  <a:spcBef>
                    <a:spcPts val="200"/>
                  </a:spcBef>
                  <a:spcAft>
                    <a:spcPts val="200"/>
                  </a:spcAft>
                  <a:buFont typeface="Wingdings" panose="05000000000000000000" pitchFamily="2" charset="2"/>
                  <a:buChar char="q"/>
                  <a:defRPr sz="1300">
                    <a:solidFill>
                      <a:srgbClr val="000000"/>
                    </a:solidFill>
                  </a:defRPr>
                </a:pPr>
                <a:r>
                  <a:rPr sz="1800" b="1" dirty="0">
                    <a:latin typeface="Times New Roman" panose="02020603050405020304" pitchFamily="18" charset="0"/>
                    <a:cs typeface="Times New Roman" panose="02020603050405020304" pitchFamily="18" charset="0"/>
                  </a:rPr>
                  <a:t>Result: </a:t>
                </a:r>
                <a:r>
                  <a:rPr sz="1800" dirty="0">
                    <a:latin typeface="Times New Roman" panose="02020603050405020304" pitchFamily="18" charset="0"/>
                    <a:cs typeface="Times New Roman" panose="02020603050405020304" pitchFamily="18" charset="0"/>
                  </a:rPr>
                  <a:t>A formally proven joint-convex optimization problem that actively</a:t>
                </a:r>
                <a:r>
                  <a:rPr lang="en-IN" sz="18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penalizes highly central assets (</a:t>
                </a:r>
                <a14:m>
                  <m:oMath xmlns:m="http://schemas.openxmlformats.org/officeDocument/2006/math">
                    <m:r>
                      <a:rPr lang="en-IN" sz="1800" i="1" dirty="0" smtClean="0">
                        <a:latin typeface="Cambria Math" panose="02040503050406030204" pitchFamily="18" charset="0"/>
                      </a:rPr>
                      <m:t>𝑐</m:t>
                    </m:r>
                    <m:r>
                      <a:rPr lang="en-IN" sz="1800" i="1" dirty="0" smtClean="0">
                        <a:latin typeface="Cambria Math" panose="02040503050406030204" pitchFamily="18" charset="0"/>
                      </a:rPr>
                      <m:t>_</m:t>
                    </m:r>
                    <m:r>
                      <a:rPr lang="en-IN" sz="1800" i="1" dirty="0" smtClean="0">
                        <a:latin typeface="Cambria Math" panose="02040503050406030204" pitchFamily="18" charset="0"/>
                      </a:rPr>
                      <m:t>𝑤</m:t>
                    </m:r>
                    <m:r>
                      <a:rPr lang="en-IN" sz="1800" i="1" dirty="0" smtClean="0">
                        <a:latin typeface="Cambria Math" panose="02040503050406030204" pitchFamily="18" charset="0"/>
                      </a:rPr>
                      <m:t>^</m:t>
                    </m:r>
                    <m:r>
                      <a:rPr lang="en-IN" sz="1800" i="1" dirty="0" smtClean="0">
                        <a:latin typeface="Cambria Math" panose="02040503050406030204" pitchFamily="18" charset="0"/>
                      </a:rPr>
                      <m:t>𝑇</m:t>
                    </m:r>
                    <m:r>
                      <a:rPr lang="en-IN" sz="1800" i="1" dirty="0">
                        <a:latin typeface="Cambria Math" panose="02040503050406030204" pitchFamily="18" charset="0"/>
                      </a:rPr>
                      <m:t> </m:t>
                    </m:r>
                    <m:r>
                      <a:rPr lang="en-IN" sz="1800" i="1" dirty="0">
                        <a:latin typeface="Cambria Math" panose="02040503050406030204" pitchFamily="18" charset="0"/>
                      </a:rPr>
                      <m:t>𝑤</m:t>
                    </m:r>
                  </m:oMath>
                </a14:m>
                <a:r>
                  <a:rPr sz="1800" dirty="0">
                    <a:latin typeface="Times New Roman" panose="02020603050405020304" pitchFamily="18" charset="0"/>
                    <a:cs typeface="Times New Roman" panose="02020603050405020304" pitchFamily="18" charset="0"/>
                  </a:rPr>
                  <a:t>) only when the market is crashing (</a:t>
                </a:r>
                <a14:m>
                  <m:oMath xmlns:m="http://schemas.openxmlformats.org/officeDocument/2006/math">
                    <m:sSub>
                      <m:sSubPr>
                        <m:ctrlPr>
                          <a:rPr lang="en-IN" sz="1800" i="1" dirty="0" smtClean="0">
                            <a:latin typeface="Cambria Math" panose="02040503050406030204" pitchFamily="18" charset="0"/>
                          </a:rPr>
                        </m:ctrlPr>
                      </m:sSubPr>
                      <m:e>
                        <m:r>
                          <a:rPr lang="en-IN" sz="1800" i="1" dirty="0" smtClean="0">
                            <a:latin typeface="Cambria Math" panose="02040503050406030204" pitchFamily="18" charset="0"/>
                          </a:rPr>
                          <m:t>𝜆</m:t>
                        </m:r>
                      </m:e>
                      <m:sub>
                        <m:r>
                          <a:rPr lang="en-IN" sz="1800" i="1" dirty="0" smtClean="0">
                            <a:latin typeface="Cambria Math" panose="02040503050406030204" pitchFamily="18" charset="0"/>
                          </a:rPr>
                          <m:t>𝑡</m:t>
                        </m:r>
                      </m:sub>
                    </m:sSub>
                  </m:oMath>
                </a14:m>
                <a:r>
                  <a:rPr sz="1800" dirty="0">
                    <a:latin typeface="Times New Roman" panose="02020603050405020304" pitchFamily="18" charset="0"/>
                    <a:cs typeface="Times New Roman" panose="02020603050405020304" pitchFamily="18" charset="0"/>
                  </a:rPr>
                  <a:t>).</a:t>
                </a:r>
              </a:p>
            </p:txBody>
          </p:sp>
        </mc:Choice>
        <mc:Fallback>
          <p:sp>
            <p:nvSpPr>
              <p:cNvPr id="4" name="TextBox 3"/>
              <p:cNvSpPr txBox="1">
                <a:spLocks noRot="1" noChangeAspect="1" noMove="1" noResize="1" noEditPoints="1" noAdjustHandles="1" noChangeArrowheads="1" noChangeShapeType="1" noTextEdit="1"/>
              </p:cNvSpPr>
              <p:nvPr/>
            </p:nvSpPr>
            <p:spPr>
              <a:xfrm>
                <a:off x="838199" y="1012372"/>
                <a:ext cx="11353801" cy="4751557"/>
              </a:xfrm>
              <a:prstGeom prst="rect">
                <a:avLst/>
              </a:prstGeom>
              <a:blipFill>
                <a:blip r:embed="rId2"/>
                <a:stretch>
                  <a:fillRect l="-322" t="-256" b="-1026"/>
                </a:stretch>
              </a:blipFill>
            </p:spPr>
            <p:txBody>
              <a:bodyPr/>
              <a:lstStyle/>
              <a:p>
                <a:r>
                  <a:rPr lang="en-IN">
                    <a:noFill/>
                  </a:rPr>
                  <a:t> </a:t>
                </a:r>
              </a:p>
            </p:txBody>
          </p:sp>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14589"/>
          </a:xfrm>
        </p:spPr>
        <p:txBody>
          <a:bodyPr/>
          <a:lstStyle/>
          <a:p>
            <a:r>
              <a:rPr lang="en-US" sz="3200" dirty="0">
                <a:solidFill>
                  <a:srgbClr val="C00000"/>
                </a:solidFill>
                <a:latin typeface="Times New Roman" panose="02020603050405020304" pitchFamily="18" charset="0"/>
                <a:cs typeface="Times New Roman" panose="02020603050405020304" pitchFamily="18" charset="0"/>
              </a:rPr>
              <a:t>Paper 2 Architecture – The Five-Agent Blackboard</a:t>
            </a:r>
            <a:br>
              <a:rPr lang="en-US" sz="3200" dirty="0">
                <a:solidFill>
                  <a:srgbClr val="C00000"/>
                </a:solidFill>
                <a:latin typeface="Times New Roman" panose="02020603050405020304" pitchFamily="18" charset="0"/>
                <a:cs typeface="Times New Roman" panose="02020603050405020304" pitchFamily="18" charset="0"/>
              </a:rPr>
            </a:br>
            <a:endParaRPr sz="3200" dirty="0">
              <a:solidFill>
                <a:srgbClr val="C0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4" name="TextBox 3"/>
              <p:cNvSpPr txBox="1"/>
              <p:nvPr/>
            </p:nvSpPr>
            <p:spPr>
              <a:xfrm>
                <a:off x="838200" y="1058091"/>
                <a:ext cx="11197046" cy="5037918"/>
              </a:xfrm>
              <a:prstGeom prst="rect">
                <a:avLst/>
              </a:prstGeom>
              <a:noFill/>
            </p:spPr>
            <p:txBody>
              <a:bodyPr wrap="square" anchor="t">
                <a:spAutoFit/>
              </a:bodyPr>
              <a:lstStyle/>
              <a:p>
                <a:pPr>
                  <a:lnSpc>
                    <a:spcPct val="115000"/>
                  </a:lnSpc>
                  <a:spcBef>
                    <a:spcPts val="200"/>
                  </a:spcBef>
                  <a:spcAft>
                    <a:spcPts val="200"/>
                  </a:spcAft>
                  <a:defRPr sz="1300">
                    <a:solidFill>
                      <a:srgbClr val="000000"/>
                    </a:solidFill>
                  </a:defRPr>
                </a:pPr>
                <a:r>
                  <a:rPr sz="1800" dirty="0"/>
                  <a:t>❑ </a:t>
                </a:r>
                <a:r>
                  <a:rPr sz="1800" b="1" dirty="0"/>
                  <a:t>Objective: </a:t>
                </a:r>
                <a:r>
                  <a:rPr sz="1800" dirty="0"/>
                  <a:t>To establish a fault-isolated, reproducible, and explainable</a:t>
                </a:r>
                <a:r>
                  <a:rPr lang="en-IN" sz="1800" dirty="0"/>
                  <a:t> </a:t>
                </a:r>
                <a:r>
                  <a:rPr sz="1800" dirty="0"/>
                  <a:t>multi-agent system (MAS).</a:t>
                </a:r>
                <a:endParaRPr lang="en-IN" sz="1800" dirty="0"/>
              </a:p>
              <a:p>
                <a:pPr>
                  <a:lnSpc>
                    <a:spcPct val="115000"/>
                  </a:lnSpc>
                  <a:spcBef>
                    <a:spcPts val="200"/>
                  </a:spcBef>
                  <a:spcAft>
                    <a:spcPts val="200"/>
                  </a:spcAft>
                  <a:defRPr sz="1300">
                    <a:solidFill>
                      <a:srgbClr val="000000"/>
                    </a:solidFill>
                  </a:defRPr>
                </a:pPr>
                <a:endParaRPr sz="1800" dirty="0"/>
              </a:p>
              <a:p>
                <a:pPr marL="285750" indent="-285750">
                  <a:lnSpc>
                    <a:spcPct val="115000"/>
                  </a:lnSpc>
                  <a:spcBef>
                    <a:spcPts val="200"/>
                  </a:spcBef>
                  <a:spcAft>
                    <a:spcPts val="200"/>
                  </a:spcAft>
                  <a:buFont typeface="Wingdings" panose="05000000000000000000" pitchFamily="2" charset="2"/>
                  <a:buChar char="q"/>
                  <a:defRPr sz="1300">
                    <a:solidFill>
                      <a:srgbClr val="000000"/>
                    </a:solidFill>
                  </a:defRPr>
                </a:pPr>
                <a:r>
                  <a:rPr sz="1800" b="1" dirty="0"/>
                  <a:t>MongoDB Blackboard Paradigm:</a:t>
                </a:r>
                <a:endParaRPr lang="en-IN" sz="1800" b="1" dirty="0"/>
              </a:p>
              <a:p>
                <a:pPr lvl="1">
                  <a:lnSpc>
                    <a:spcPct val="115000"/>
                  </a:lnSpc>
                  <a:spcBef>
                    <a:spcPts val="200"/>
                  </a:spcBef>
                  <a:spcAft>
                    <a:spcPts val="200"/>
                  </a:spcAft>
                  <a:defRPr sz="1300">
                    <a:solidFill>
                      <a:srgbClr val="000000"/>
                    </a:solidFill>
                  </a:defRPr>
                </a:pPr>
                <a:r>
                  <a:rPr sz="1800" dirty="0"/>
                  <a:t>Agents do not communicate directly. All inter-agent data is written to a</a:t>
                </a:r>
                <a:r>
                  <a:rPr lang="en-IN" sz="1800" dirty="0"/>
                  <a:t> </a:t>
                </a:r>
                <a:r>
                  <a:rPr sz="1800" dirty="0"/>
                  <a:t>persistent MongoDB document </a:t>
                </a:r>
                <a:r>
                  <a:rPr lang="en-IN" sz="1800" dirty="0"/>
                  <a:t> </a:t>
                </a:r>
                <a:r>
                  <a:rPr sz="1800" dirty="0"/>
                  <a:t>store, ensuring complete fault isolation and full</a:t>
                </a:r>
                <a:r>
                  <a:rPr lang="en-IN" sz="1800" dirty="0"/>
                  <a:t> </a:t>
                </a:r>
                <a:r>
                  <a:rPr sz="1800" dirty="0" err="1"/>
                  <a:t>replayability</a:t>
                </a:r>
                <a:r>
                  <a:rPr sz="1800" dirty="0"/>
                  <a:t>.</a:t>
                </a:r>
                <a:endParaRPr lang="en-IN" sz="1800" dirty="0"/>
              </a:p>
              <a:p>
                <a:pPr>
                  <a:lnSpc>
                    <a:spcPct val="115000"/>
                  </a:lnSpc>
                  <a:spcBef>
                    <a:spcPts val="200"/>
                  </a:spcBef>
                  <a:spcAft>
                    <a:spcPts val="200"/>
                  </a:spcAft>
                  <a:defRPr sz="1300">
                    <a:solidFill>
                      <a:srgbClr val="000000"/>
                    </a:solidFill>
                  </a:defRPr>
                </a:pPr>
                <a:endParaRPr sz="1800" dirty="0"/>
              </a:p>
              <a:p>
                <a:pPr>
                  <a:lnSpc>
                    <a:spcPct val="115000"/>
                  </a:lnSpc>
                  <a:spcBef>
                    <a:spcPts val="200"/>
                  </a:spcBef>
                  <a:spcAft>
                    <a:spcPts val="200"/>
                  </a:spcAft>
                  <a:defRPr sz="1300">
                    <a:solidFill>
                      <a:srgbClr val="000000"/>
                    </a:solidFill>
                  </a:defRPr>
                </a:pPr>
                <a:r>
                  <a:rPr sz="1800" dirty="0"/>
                  <a:t>❑ </a:t>
                </a:r>
                <a:r>
                  <a:rPr sz="1800" b="1" dirty="0"/>
                  <a:t>The Five Specialized Agents:</a:t>
                </a:r>
              </a:p>
              <a:p>
                <a:pPr marL="285750" indent="-285750">
                  <a:lnSpc>
                    <a:spcPct val="115000"/>
                  </a:lnSpc>
                  <a:spcBef>
                    <a:spcPts val="200"/>
                  </a:spcBef>
                  <a:spcAft>
                    <a:spcPts val="200"/>
                  </a:spcAft>
                  <a:buFont typeface="Wingdings" panose="05000000000000000000" pitchFamily="2" charset="2"/>
                  <a:buChar char="Ø"/>
                  <a:defRPr sz="1300">
                    <a:solidFill>
                      <a:srgbClr val="000000"/>
                    </a:solidFill>
                  </a:defRPr>
                </a:pPr>
                <a:r>
                  <a:rPr sz="1800" dirty="0"/>
                  <a:t>Agent 0 (Data Sentinel): Retrieves prices and SEC 13-F institutional holdings.</a:t>
                </a:r>
              </a:p>
              <a:p>
                <a:pPr marL="285750" indent="-285750">
                  <a:lnSpc>
                    <a:spcPct val="115000"/>
                  </a:lnSpc>
                  <a:spcBef>
                    <a:spcPts val="200"/>
                  </a:spcBef>
                  <a:spcAft>
                    <a:spcPts val="200"/>
                  </a:spcAft>
                  <a:buFont typeface="Wingdings" panose="05000000000000000000" pitchFamily="2" charset="2"/>
                  <a:buChar char="Ø"/>
                  <a:defRPr sz="1300">
                    <a:solidFill>
                      <a:srgbClr val="000000"/>
                    </a:solidFill>
                  </a:defRPr>
                </a:pPr>
                <a:r>
                  <a:rPr sz="1800" dirty="0"/>
                  <a:t>Agent 1 (Time-Series Sentinel): Computes the instability index (</a:t>
                </a:r>
                <a14:m>
                  <m:oMath xmlns:m="http://schemas.openxmlformats.org/officeDocument/2006/math">
                    <m:sSub>
                      <m:sSubPr>
                        <m:ctrlPr>
                          <a:rPr lang="en-IN" sz="1800" i="1" dirty="0" smtClean="0">
                            <a:latin typeface="Cambria Math" panose="02040503050406030204" pitchFamily="18" charset="0"/>
                          </a:rPr>
                        </m:ctrlPr>
                      </m:sSubPr>
                      <m:e>
                        <m:r>
                          <a:rPr lang="en-IN" sz="1800" i="1" dirty="0" smtClean="0">
                            <a:latin typeface="Cambria Math" panose="02040503050406030204" pitchFamily="18" charset="0"/>
                          </a:rPr>
                          <m:t>𝐼</m:t>
                        </m:r>
                      </m:e>
                      <m:sub>
                        <m:r>
                          <a:rPr lang="en-IN" sz="1800" i="1" dirty="0" smtClean="0">
                            <a:latin typeface="Cambria Math" panose="02040503050406030204" pitchFamily="18" charset="0"/>
                          </a:rPr>
                          <m:t>𝑡</m:t>
                        </m:r>
                      </m:sub>
                    </m:sSub>
                  </m:oMath>
                </a14:m>
                <a:r>
                  <a:rPr sz="1800" dirty="0"/>
                  <a:t>) and</a:t>
                </a:r>
                <a:r>
                  <a:rPr lang="en-IN" sz="1800" dirty="0"/>
                  <a:t> </a:t>
                </a:r>
                <a:r>
                  <a:rPr sz="1800" dirty="0"/>
                  <a:t>assigns regime labels.</a:t>
                </a:r>
              </a:p>
              <a:p>
                <a:pPr marL="285750" indent="-285750">
                  <a:lnSpc>
                    <a:spcPct val="115000"/>
                  </a:lnSpc>
                  <a:spcBef>
                    <a:spcPts val="200"/>
                  </a:spcBef>
                  <a:spcAft>
                    <a:spcPts val="200"/>
                  </a:spcAft>
                  <a:buFont typeface="Wingdings" panose="05000000000000000000" pitchFamily="2" charset="2"/>
                  <a:buChar char="Ø"/>
                  <a:defRPr sz="1300">
                    <a:solidFill>
                      <a:srgbClr val="000000"/>
                    </a:solidFill>
                  </a:defRPr>
                </a:pPr>
                <a:r>
                  <a:rPr sz="1800" dirty="0"/>
                  <a:t>Agent 2 (Contagion Graph): Computes eigenvector centrality (</a:t>
                </a:r>
                <a14:m>
                  <m:oMath xmlns:m="http://schemas.openxmlformats.org/officeDocument/2006/math">
                    <m:sSub>
                      <m:sSubPr>
                        <m:ctrlPr>
                          <a:rPr lang="en-IN" sz="1800" i="1" dirty="0" smtClean="0">
                            <a:latin typeface="Cambria Math" panose="02040503050406030204" pitchFamily="18" charset="0"/>
                          </a:rPr>
                        </m:ctrlPr>
                      </m:sSubPr>
                      <m:e>
                        <m:r>
                          <a:rPr lang="en-IN" sz="1800" i="1" dirty="0" smtClean="0">
                            <a:latin typeface="Cambria Math" panose="02040503050406030204" pitchFamily="18" charset="0"/>
                          </a:rPr>
                          <m:t>𝑐</m:t>
                        </m:r>
                      </m:e>
                      <m:sub>
                        <m:r>
                          <a:rPr lang="en-IN" sz="1800" i="1" dirty="0" smtClean="0">
                            <a:latin typeface="Cambria Math" panose="02040503050406030204" pitchFamily="18" charset="0"/>
                          </a:rPr>
                          <m:t>𝑤</m:t>
                        </m:r>
                      </m:sub>
                    </m:sSub>
                  </m:oMath>
                </a14:m>
                <a:r>
                  <a:rPr sz="1800" dirty="0"/>
                  <a:t>) for all</a:t>
                </a:r>
                <a:r>
                  <a:rPr lang="en-IN" sz="1800" dirty="0"/>
                  <a:t> </a:t>
                </a:r>
                <a:r>
                  <a:rPr sz="1800" dirty="0"/>
                  <a:t>assets.</a:t>
                </a:r>
              </a:p>
              <a:p>
                <a:pPr marL="285750" indent="-285750">
                  <a:lnSpc>
                    <a:spcPct val="115000"/>
                  </a:lnSpc>
                  <a:spcBef>
                    <a:spcPts val="200"/>
                  </a:spcBef>
                  <a:spcAft>
                    <a:spcPts val="200"/>
                  </a:spcAft>
                  <a:buFont typeface="Wingdings" panose="05000000000000000000" pitchFamily="2" charset="2"/>
                  <a:buChar char="Ø"/>
                  <a:defRPr sz="1300">
                    <a:solidFill>
                      <a:srgbClr val="000000"/>
                    </a:solidFill>
                  </a:defRPr>
                </a:pPr>
                <a:r>
                  <a:rPr sz="1800" dirty="0"/>
                  <a:t>Agent 3 (G-CVaR Optimizer): Solves the convex objective and flags a</a:t>
                </a:r>
                <a:r>
                  <a:rPr lang="en-IN" sz="1800" dirty="0"/>
                  <a:t> </a:t>
                </a:r>
                <a:r>
                  <a:rPr sz="1800" dirty="0"/>
                  <a:t>Human-in-the-Loop (HITL) review if </a:t>
                </a:r>
                <a14:m>
                  <m:oMath xmlns:m="http://schemas.openxmlformats.org/officeDocument/2006/math">
                    <m:sSub>
                      <m:sSubPr>
                        <m:ctrlPr>
                          <a:rPr lang="en-IN" sz="1800" i="1" dirty="0" smtClean="0">
                            <a:latin typeface="Cambria Math" panose="02040503050406030204" pitchFamily="18" charset="0"/>
                          </a:rPr>
                        </m:ctrlPr>
                      </m:sSubPr>
                      <m:e>
                        <m:r>
                          <a:rPr lang="en-IN" sz="1800" i="1" dirty="0" smtClean="0">
                            <a:latin typeface="Cambria Math" panose="02040503050406030204" pitchFamily="18" charset="0"/>
                          </a:rPr>
                          <m:t>𝐼</m:t>
                        </m:r>
                      </m:e>
                      <m:sub>
                        <m:r>
                          <a:rPr lang="en-IN" sz="1800" i="1" dirty="0" smtClean="0">
                            <a:latin typeface="Cambria Math" panose="02040503050406030204" pitchFamily="18" charset="0"/>
                          </a:rPr>
                          <m:t>𝑡</m:t>
                        </m:r>
                      </m:sub>
                    </m:sSub>
                  </m:oMath>
                </a14:m>
                <a:r>
                  <a:rPr sz="1800" dirty="0"/>
                  <a:t>≥ 0.85 or turnover &gt; 0.40.</a:t>
                </a:r>
              </a:p>
              <a:p>
                <a:pPr marL="285750" indent="-285750">
                  <a:lnSpc>
                    <a:spcPct val="115000"/>
                  </a:lnSpc>
                  <a:spcBef>
                    <a:spcPts val="200"/>
                  </a:spcBef>
                  <a:spcAft>
                    <a:spcPts val="200"/>
                  </a:spcAft>
                  <a:buFont typeface="Wingdings" panose="05000000000000000000" pitchFamily="2" charset="2"/>
                  <a:buChar char="q"/>
                  <a:defRPr sz="1300">
                    <a:solidFill>
                      <a:srgbClr val="000000"/>
                    </a:solidFill>
                  </a:defRPr>
                </a:pPr>
                <a:r>
                  <a:rPr sz="1800" b="1" dirty="0"/>
                  <a:t>Agent 4 (XAI Explainer): </a:t>
                </a:r>
                <a:r>
                  <a:rPr sz="1800" dirty="0"/>
                  <a:t>A structurally isolated, read-only Large Language</a:t>
                </a:r>
                <a:r>
                  <a:rPr lang="en-IN" sz="1800" dirty="0"/>
                  <a:t> </a:t>
                </a:r>
                <a:r>
                  <a:rPr sz="1800" dirty="0"/>
                  <a:t>Model (</a:t>
                </a:r>
                <a:r>
                  <a:rPr lang="en-IN" sz="1800" dirty="0" err="1"/>
                  <a:t>Gpt-oss</a:t>
                </a:r>
                <a:r>
                  <a:rPr sz="1800" dirty="0"/>
                  <a:t>) that generates attribution narratives.</a:t>
                </a:r>
              </a:p>
            </p:txBody>
          </p:sp>
        </mc:Choice>
        <mc:Fallback>
          <p:sp>
            <p:nvSpPr>
              <p:cNvPr id="4" name="TextBox 3"/>
              <p:cNvSpPr txBox="1">
                <a:spLocks noRot="1" noChangeAspect="1" noMove="1" noResize="1" noEditPoints="1" noAdjustHandles="1" noChangeArrowheads="1" noChangeShapeType="1" noTextEdit="1"/>
              </p:cNvSpPr>
              <p:nvPr/>
            </p:nvSpPr>
            <p:spPr>
              <a:xfrm>
                <a:off x="838200" y="1058091"/>
                <a:ext cx="11197046" cy="5037918"/>
              </a:xfrm>
              <a:prstGeom prst="rect">
                <a:avLst/>
              </a:prstGeom>
              <a:blipFill>
                <a:blip r:embed="rId2"/>
                <a:stretch>
                  <a:fillRect l="-490" t="-363" r="-654" b="-1090"/>
                </a:stretch>
              </a:blipFill>
            </p:spPr>
            <p:txBody>
              <a:bodyPr/>
              <a:lstStyle/>
              <a:p>
                <a:r>
                  <a:rPr lang="en-IN">
                    <a:noFill/>
                  </a:rPr>
                  <a:t> </a:t>
                </a:r>
              </a:p>
            </p:txBody>
          </p:sp>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dirty="0">
                <a:solidFill>
                  <a:srgbClr val="C00000"/>
                </a:solidFill>
              </a:rPr>
              <a:t>Comparative Results – Validating G-CVaR Performance</a:t>
            </a:r>
            <a:br>
              <a:rPr lang="en-IN" sz="3200" dirty="0">
                <a:solidFill>
                  <a:srgbClr val="C00000"/>
                </a:solidFill>
              </a:rPr>
            </a:br>
            <a:endParaRPr sz="3200" dirty="0">
              <a:solidFill>
                <a:srgbClr val="C00000"/>
              </a:solidFill>
            </a:endParaRPr>
          </a:p>
        </p:txBody>
      </p:sp>
      <mc:AlternateContent xmlns:mc="http://schemas.openxmlformats.org/markup-compatibility/2006">
        <mc:Choice xmlns:a14="http://schemas.microsoft.com/office/drawing/2010/main" Requires="a14">
          <p:sp>
            <p:nvSpPr>
              <p:cNvPr id="4" name="TextBox 3"/>
              <p:cNvSpPr txBox="1"/>
              <p:nvPr/>
            </p:nvSpPr>
            <p:spPr>
              <a:xfrm>
                <a:off x="838199" y="1166949"/>
                <a:ext cx="11070771" cy="4668073"/>
              </a:xfrm>
              <a:prstGeom prst="rect">
                <a:avLst/>
              </a:prstGeom>
              <a:noFill/>
            </p:spPr>
            <p:txBody>
              <a:bodyPr wrap="square" anchor="t">
                <a:spAutoFit/>
              </a:bodyPr>
              <a:lstStyle/>
              <a:p>
                <a:pPr marL="285750" indent="-285750">
                  <a:lnSpc>
                    <a:spcPct val="115000"/>
                  </a:lnSpc>
                  <a:spcBef>
                    <a:spcPts val="200"/>
                  </a:spcBef>
                  <a:spcAft>
                    <a:spcPts val="200"/>
                  </a:spcAft>
                  <a:buFont typeface="Wingdings" panose="05000000000000000000" pitchFamily="2" charset="2"/>
                  <a:buChar char="q"/>
                  <a:defRPr sz="1300">
                    <a:solidFill>
                      <a:srgbClr val="000000"/>
                    </a:solidFill>
                  </a:defRPr>
                </a:pPr>
                <a:r>
                  <a:rPr sz="1800" b="1" dirty="0"/>
                  <a:t>Empirical Scope: </a:t>
                </a:r>
                <a:r>
                  <a:rPr sz="1800" dirty="0"/>
                  <a:t>Evaluated across 11 GICS sector universes, 218 equities, and</a:t>
                </a:r>
                <a:r>
                  <a:rPr lang="en-IN" sz="1800" dirty="0"/>
                  <a:t> </a:t>
                </a:r>
                <a:r>
                  <a:rPr sz="1800" dirty="0"/>
                  <a:t>552 rolling windows from 2005 to 2025 (capturing 2008, 2020, and 2022 crises).</a:t>
                </a:r>
              </a:p>
              <a:p>
                <a:pPr marL="285750" indent="-285750">
                  <a:lnSpc>
                    <a:spcPct val="115000"/>
                  </a:lnSpc>
                  <a:spcBef>
                    <a:spcPts val="200"/>
                  </a:spcBef>
                  <a:spcAft>
                    <a:spcPts val="200"/>
                  </a:spcAft>
                  <a:buFont typeface="Wingdings" panose="05000000000000000000" pitchFamily="2" charset="2"/>
                  <a:buChar char="q"/>
                  <a:defRPr sz="1300">
                    <a:solidFill>
                      <a:srgbClr val="000000"/>
                    </a:solidFill>
                  </a:defRPr>
                </a:pPr>
                <a:r>
                  <a:rPr sz="1800" b="1" dirty="0"/>
                  <a:t>Overall Tail-Risk Reduction:</a:t>
                </a:r>
              </a:p>
              <a:p>
                <a:pPr marL="285750" indent="-285750">
                  <a:lnSpc>
                    <a:spcPct val="115000"/>
                  </a:lnSpc>
                  <a:spcBef>
                    <a:spcPts val="200"/>
                  </a:spcBef>
                  <a:spcAft>
                    <a:spcPts val="200"/>
                  </a:spcAft>
                  <a:buFont typeface="Wingdings" panose="05000000000000000000" pitchFamily="2" charset="2"/>
                  <a:buChar char="Ø"/>
                  <a:defRPr sz="1300">
                    <a:solidFill>
                      <a:srgbClr val="000000"/>
                    </a:solidFill>
                  </a:defRPr>
                </a:pPr>
                <a:r>
                  <a:rPr sz="1800" dirty="0"/>
                  <a:t>G-CVaR reduced mean CVaR@95% by 25.9% compared to Equal Weight baselines.</a:t>
                </a:r>
              </a:p>
              <a:p>
                <a:pPr marL="285750" indent="-285750">
                  <a:lnSpc>
                    <a:spcPct val="115000"/>
                  </a:lnSpc>
                  <a:spcBef>
                    <a:spcPts val="200"/>
                  </a:spcBef>
                  <a:spcAft>
                    <a:spcPts val="200"/>
                  </a:spcAft>
                  <a:buFont typeface="Wingdings" panose="05000000000000000000" pitchFamily="2" charset="2"/>
                  <a:buChar char="Ø"/>
                  <a:defRPr sz="1300">
                    <a:solidFill>
                      <a:srgbClr val="000000"/>
                    </a:solidFill>
                  </a:defRPr>
                </a:pPr>
                <a:r>
                  <a:rPr sz="1800" dirty="0"/>
                  <a:t>Achieved a mean Sharpe ratio of 0.646 across all universes.</a:t>
                </a:r>
              </a:p>
              <a:p>
                <a:pPr marL="285750" indent="-285750">
                  <a:lnSpc>
                    <a:spcPct val="115000"/>
                  </a:lnSpc>
                  <a:spcBef>
                    <a:spcPts val="200"/>
                  </a:spcBef>
                  <a:spcAft>
                    <a:spcPts val="200"/>
                  </a:spcAft>
                  <a:buFont typeface="Wingdings" panose="05000000000000000000" pitchFamily="2" charset="2"/>
                  <a:buChar char="q"/>
                  <a:defRPr sz="1300">
                    <a:solidFill>
                      <a:srgbClr val="000000"/>
                    </a:solidFill>
                  </a:defRPr>
                </a:pPr>
                <a:r>
                  <a:rPr sz="1800" b="1" dirty="0"/>
                  <a:t>Crisis-Regime Superiority (The True Test):</a:t>
                </a:r>
              </a:p>
              <a:p>
                <a:pPr marL="285750" indent="-285750">
                  <a:lnSpc>
                    <a:spcPct val="115000"/>
                  </a:lnSpc>
                  <a:spcBef>
                    <a:spcPts val="200"/>
                  </a:spcBef>
                  <a:spcAft>
                    <a:spcPts val="200"/>
                  </a:spcAft>
                  <a:buFont typeface="Wingdings" panose="05000000000000000000" pitchFamily="2" charset="2"/>
                  <a:buChar char="Ø"/>
                  <a:defRPr sz="1300">
                    <a:solidFill>
                      <a:srgbClr val="000000"/>
                    </a:solidFill>
                  </a:defRPr>
                </a:pPr>
                <a:r>
                  <a:rPr sz="1800" dirty="0"/>
                  <a:t>Evaluated strictly in the 22 severe crisis windows where the contagion penalty</a:t>
                </a:r>
                <a:r>
                  <a:rPr lang="en-IN" sz="1800" dirty="0"/>
                  <a:t> </a:t>
                </a:r>
                <a:r>
                  <a:rPr sz="1800" dirty="0"/>
                  <a:t>was fully active (</a:t>
                </a:r>
                <a14:m>
                  <m:oMath xmlns:m="http://schemas.openxmlformats.org/officeDocument/2006/math">
                    <m:sSub>
                      <m:sSubPr>
                        <m:ctrlPr>
                          <a:rPr lang="en-IN" sz="1800" i="1" dirty="0" smtClean="0">
                            <a:latin typeface="Cambria Math" panose="02040503050406030204" pitchFamily="18" charset="0"/>
                          </a:rPr>
                        </m:ctrlPr>
                      </m:sSubPr>
                      <m:e>
                        <m:r>
                          <a:rPr lang="en-IN" sz="1800" i="1" dirty="0" smtClean="0">
                            <a:latin typeface="Cambria Math" panose="02040503050406030204" pitchFamily="18" charset="0"/>
                          </a:rPr>
                          <m:t>𝜆</m:t>
                        </m:r>
                      </m:e>
                      <m:sub>
                        <m:r>
                          <a:rPr lang="en-IN" sz="1800" i="1" dirty="0" smtClean="0">
                            <a:latin typeface="Cambria Math" panose="02040503050406030204" pitchFamily="18" charset="0"/>
                          </a:rPr>
                          <m:t>𝑡</m:t>
                        </m:r>
                      </m:sub>
                    </m:sSub>
                  </m:oMath>
                </a14:m>
                <a:r>
                  <a:rPr sz="1800" dirty="0"/>
                  <a:t>&gt; 0.5).</a:t>
                </a:r>
              </a:p>
              <a:p>
                <a:pPr marL="285750" indent="-285750">
                  <a:lnSpc>
                    <a:spcPct val="115000"/>
                  </a:lnSpc>
                  <a:spcBef>
                    <a:spcPts val="200"/>
                  </a:spcBef>
                  <a:spcAft>
                    <a:spcPts val="200"/>
                  </a:spcAft>
                  <a:buFont typeface="Wingdings" panose="05000000000000000000" pitchFamily="2" charset="2"/>
                  <a:buChar char="Ø"/>
                  <a:defRPr sz="1300">
                    <a:solidFill>
                      <a:srgbClr val="000000"/>
                    </a:solidFill>
                  </a:defRPr>
                </a:pPr>
                <a:r>
                  <a:rPr sz="1800" b="1" dirty="0"/>
                  <a:t>CVaR@95%: </a:t>
                </a:r>
                <a:r>
                  <a:rPr sz="1800" dirty="0"/>
                  <a:t>G-CVaR significantly outperformed Standard CVaR (p = 0.0031,</a:t>
                </a:r>
                <a:r>
                  <a:rPr lang="en-IN" sz="1800" dirty="0"/>
                  <a:t> </a:t>
                </a:r>
                <a:r>
                  <a:rPr sz="1800" dirty="0"/>
                  <a:t>Wilcoxon).</a:t>
                </a:r>
              </a:p>
              <a:p>
                <a:pPr marL="285750" indent="-285750">
                  <a:lnSpc>
                    <a:spcPct val="115000"/>
                  </a:lnSpc>
                  <a:spcBef>
                    <a:spcPts val="200"/>
                  </a:spcBef>
                  <a:spcAft>
                    <a:spcPts val="200"/>
                  </a:spcAft>
                  <a:buFont typeface="Wingdings" panose="05000000000000000000" pitchFamily="2" charset="2"/>
                  <a:buChar char="Ø"/>
                  <a:defRPr sz="1300">
                    <a:solidFill>
                      <a:srgbClr val="000000"/>
                    </a:solidFill>
                  </a:defRPr>
                </a:pPr>
                <a:r>
                  <a:rPr sz="1800" b="1" dirty="0"/>
                  <a:t>Max Drawdown (MDD): </a:t>
                </a:r>
                <a:r>
                  <a:rPr sz="1800" dirty="0"/>
                  <a:t>G-CVaR reduced maximum drawdown by 8.4 percentage</a:t>
                </a:r>
                <a:r>
                  <a:rPr lang="en-IN" sz="1800" dirty="0"/>
                  <a:t> </a:t>
                </a:r>
                <a:r>
                  <a:rPr sz="1800" dirty="0"/>
                  <a:t>points versus</a:t>
                </a:r>
                <a:r>
                  <a:rPr lang="en-IN" sz="1800" dirty="0"/>
                  <a:t> </a:t>
                </a:r>
                <a:r>
                  <a:rPr sz="1800" dirty="0"/>
                  <a:t>Standard CVaR (p = 0.0068) and by 32.5 percentage points versus</a:t>
                </a:r>
                <a:r>
                  <a:rPr lang="en-IN" sz="1800" dirty="0"/>
                  <a:t> </a:t>
                </a:r>
                <a:r>
                  <a:rPr sz="1800" dirty="0"/>
                  <a:t> Equal Weight.</a:t>
                </a:r>
              </a:p>
              <a:p>
                <a:pPr>
                  <a:lnSpc>
                    <a:spcPct val="115000"/>
                  </a:lnSpc>
                  <a:spcBef>
                    <a:spcPts val="200"/>
                  </a:spcBef>
                  <a:spcAft>
                    <a:spcPts val="200"/>
                  </a:spcAft>
                  <a:defRPr sz="1300">
                    <a:solidFill>
                      <a:srgbClr val="000000"/>
                    </a:solidFill>
                  </a:defRPr>
                </a:pPr>
                <a:r>
                  <a:rPr sz="1800" b="1" dirty="0"/>
                  <a:t>System Trustworthiness:</a:t>
                </a:r>
              </a:p>
              <a:p>
                <a:pPr>
                  <a:lnSpc>
                    <a:spcPct val="115000"/>
                  </a:lnSpc>
                  <a:spcBef>
                    <a:spcPts val="200"/>
                  </a:spcBef>
                  <a:spcAft>
                    <a:spcPts val="200"/>
                  </a:spcAft>
                  <a:defRPr sz="1300">
                    <a:solidFill>
                      <a:srgbClr val="000000"/>
                    </a:solidFill>
                  </a:defRPr>
                </a:pPr>
                <a:r>
                  <a:rPr sz="1800" dirty="0"/>
                  <a:t>Across 160 HITL evaluation scenarios, the architecture achieved 100% trigger</a:t>
                </a:r>
                <a:r>
                  <a:rPr lang="en-IN" sz="1800" dirty="0"/>
                  <a:t> </a:t>
                </a:r>
                <a:r>
                  <a:rPr sz="1800" dirty="0"/>
                  <a:t>accuracy and 100% substantive zero-hallucination rates.</a:t>
                </a:r>
              </a:p>
            </p:txBody>
          </p:sp>
        </mc:Choice>
        <mc:Fallback>
          <p:sp>
            <p:nvSpPr>
              <p:cNvPr id="4" name="TextBox 3"/>
              <p:cNvSpPr txBox="1">
                <a:spLocks noRot="1" noChangeAspect="1" noMove="1" noResize="1" noEditPoints="1" noAdjustHandles="1" noChangeArrowheads="1" noChangeShapeType="1" noTextEdit="1"/>
              </p:cNvSpPr>
              <p:nvPr/>
            </p:nvSpPr>
            <p:spPr>
              <a:xfrm>
                <a:off x="838199" y="1166949"/>
                <a:ext cx="11070771" cy="4668073"/>
              </a:xfrm>
              <a:prstGeom prst="rect">
                <a:avLst/>
              </a:prstGeom>
              <a:blipFill>
                <a:blip r:embed="rId2"/>
                <a:stretch>
                  <a:fillRect l="-440" t="-261" b="-1175"/>
                </a:stretch>
              </a:blipFill>
            </p:spPr>
            <p:txBody>
              <a:bodyPr/>
              <a:lstStyle/>
              <a:p>
                <a:r>
                  <a:rPr lang="en-IN">
                    <a:noFill/>
                  </a:rPr>
                  <a:t> </a:t>
                </a:r>
              </a:p>
            </p:txBody>
          </p:sp>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1BA1CADE-F6EE-D833-DB9B-ED9B04857AF5}"/>
            </a:ext>
          </a:extLst>
        </p:cNvPr>
        <p:cNvGrpSpPr/>
        <p:nvPr/>
      </p:nvGrpSpPr>
      <p:grpSpPr>
        <a:xfrm>
          <a:off x="0" y="0"/>
          <a:ext cx="0" cy="0"/>
          <a:chOff x="0" y="0"/>
          <a:chExt cx="0" cy="0"/>
        </a:xfrm>
      </p:grpSpPr>
      <p:sp>
        <p:nvSpPr>
          <p:cNvPr id="102" name="Google Shape;102;p3">
            <a:extLst>
              <a:ext uri="{FF2B5EF4-FFF2-40B4-BE49-F238E27FC236}">
                <a16:creationId xmlns:a16="http://schemas.microsoft.com/office/drawing/2014/main" id="{8F275865-5C0A-B021-33E6-A90DD0FD53E3}"/>
              </a:ext>
            </a:extLst>
          </p:cNvPr>
          <p:cNvSpPr txBox="1">
            <a:spLocks noGrp="1"/>
          </p:cNvSpPr>
          <p:nvPr>
            <p:ph type="title"/>
          </p:nvPr>
        </p:nvSpPr>
        <p:spPr>
          <a:xfrm>
            <a:off x="1089764" y="214816"/>
            <a:ext cx="11038114" cy="665717"/>
          </a:xfrm>
          <a:prstGeom prst="rect">
            <a:avLst/>
          </a:prstGeom>
          <a:noFill/>
          <a:ln>
            <a:noFill/>
          </a:ln>
        </p:spPr>
        <p:txBody>
          <a:bodyPr spcFirstLastPara="1" wrap="square" lIns="91425" tIns="45700" rIns="91425" bIns="45700" anchor="t" anchorCtr="0">
            <a:noAutofit/>
          </a:bodyPr>
          <a:lstStyle/>
          <a:p>
            <a:pPr lvl="0" algn="l"/>
            <a:r>
              <a:rPr lang="en-US" sz="3200" dirty="0"/>
              <a:t>Paper 1 Results: Rolling-Window Performance (51 Windows, 2012-2024)</a:t>
            </a:r>
            <a:endParaRPr sz="3200" dirty="0"/>
          </a:p>
        </p:txBody>
      </p:sp>
      <p:graphicFrame>
        <p:nvGraphicFramePr>
          <p:cNvPr id="103" name="Google Shape;103;p3">
            <a:extLst>
              <a:ext uri="{FF2B5EF4-FFF2-40B4-BE49-F238E27FC236}">
                <a16:creationId xmlns:a16="http://schemas.microsoft.com/office/drawing/2014/main" id="{9637AFB6-9093-5CE2-897C-994305990A4E}"/>
              </a:ext>
            </a:extLst>
          </p:cNvPr>
          <p:cNvGraphicFramePr/>
          <p:nvPr>
            <p:extLst>
              <p:ext uri="{D42A27DB-BD31-4B8C-83A1-F6EECF244321}">
                <p14:modId xmlns:p14="http://schemas.microsoft.com/office/powerpoint/2010/main" val="1556172806"/>
              </p:ext>
            </p:extLst>
          </p:nvPr>
        </p:nvGraphicFramePr>
        <p:xfrm>
          <a:off x="751115" y="1249895"/>
          <a:ext cx="11157856" cy="4965847"/>
        </p:xfrm>
        <a:graphic>
          <a:graphicData uri="http://schemas.openxmlformats.org/drawingml/2006/table">
            <a:tbl>
              <a:tblPr firstRow="1" bandRow="1">
                <a:noFill/>
                <a:tableStyleId>{48133A83-268A-4673-80D7-47B9B74EA727}</a:tableStyleId>
              </a:tblPr>
              <a:tblGrid>
                <a:gridCol w="1425549">
                  <a:extLst>
                    <a:ext uri="{9D8B030D-6E8A-4147-A177-3AD203B41FA5}">
                      <a16:colId xmlns:a16="http://schemas.microsoft.com/office/drawing/2014/main" val="20000"/>
                    </a:ext>
                  </a:extLst>
                </a:gridCol>
                <a:gridCol w="1589492">
                  <a:extLst>
                    <a:ext uri="{9D8B030D-6E8A-4147-A177-3AD203B41FA5}">
                      <a16:colId xmlns:a16="http://schemas.microsoft.com/office/drawing/2014/main" val="20001"/>
                    </a:ext>
                  </a:extLst>
                </a:gridCol>
                <a:gridCol w="1309453">
                  <a:extLst>
                    <a:ext uri="{9D8B030D-6E8A-4147-A177-3AD203B41FA5}">
                      <a16:colId xmlns:a16="http://schemas.microsoft.com/office/drawing/2014/main" val="20002"/>
                    </a:ext>
                  </a:extLst>
                </a:gridCol>
                <a:gridCol w="1221422">
                  <a:extLst>
                    <a:ext uri="{9D8B030D-6E8A-4147-A177-3AD203B41FA5}">
                      <a16:colId xmlns:a16="http://schemas.microsoft.com/office/drawing/2014/main" val="3690596373"/>
                    </a:ext>
                  </a:extLst>
                </a:gridCol>
                <a:gridCol w="1233832">
                  <a:extLst>
                    <a:ext uri="{9D8B030D-6E8A-4147-A177-3AD203B41FA5}">
                      <a16:colId xmlns:a16="http://schemas.microsoft.com/office/drawing/2014/main" val="3841398597"/>
                    </a:ext>
                  </a:extLst>
                </a:gridCol>
                <a:gridCol w="1249620">
                  <a:extLst>
                    <a:ext uri="{9D8B030D-6E8A-4147-A177-3AD203B41FA5}">
                      <a16:colId xmlns:a16="http://schemas.microsoft.com/office/drawing/2014/main" val="3168578517"/>
                    </a:ext>
                  </a:extLst>
                </a:gridCol>
                <a:gridCol w="1564244">
                  <a:extLst>
                    <a:ext uri="{9D8B030D-6E8A-4147-A177-3AD203B41FA5}">
                      <a16:colId xmlns:a16="http://schemas.microsoft.com/office/drawing/2014/main" val="2340628135"/>
                    </a:ext>
                  </a:extLst>
                </a:gridCol>
                <a:gridCol w="1564244">
                  <a:extLst>
                    <a:ext uri="{9D8B030D-6E8A-4147-A177-3AD203B41FA5}">
                      <a16:colId xmlns:a16="http://schemas.microsoft.com/office/drawing/2014/main" val="3389531349"/>
                    </a:ext>
                  </a:extLst>
                </a:gridCol>
              </a:tblGrid>
              <a:tr h="743567">
                <a:tc>
                  <a:txBody>
                    <a:bodyPr/>
                    <a:lstStyle/>
                    <a:p>
                      <a:pPr>
                        <a:buNone/>
                      </a:pPr>
                      <a:r>
                        <a:rPr lang="en-IN">
                          <a:latin typeface="Times New Roman" panose="02020603050405020304" pitchFamily="18" charset="0"/>
                          <a:cs typeface="Times New Roman" panose="02020603050405020304" pitchFamily="18" charset="0"/>
                        </a:rPr>
                        <a:t>Strategy</a:t>
                      </a:r>
                    </a:p>
                  </a:txBody>
                  <a:tcPr anchor="ctr"/>
                </a:tc>
                <a:tc>
                  <a:txBody>
                    <a:bodyPr/>
                    <a:lstStyle/>
                    <a:p>
                      <a:pPr>
                        <a:buNone/>
                      </a:pPr>
                      <a:r>
                        <a:rPr lang="en-IN">
                          <a:latin typeface="Times New Roman" panose="02020603050405020304" pitchFamily="18" charset="0"/>
                          <a:cs typeface="Times New Roman" panose="02020603050405020304" pitchFamily="18" charset="0"/>
                        </a:rPr>
                        <a:t>Ann.Return %</a:t>
                      </a:r>
                    </a:p>
                  </a:txBody>
                  <a:tcPr anchor="ctr"/>
                </a:tc>
                <a:tc>
                  <a:txBody>
                    <a:bodyPr/>
                    <a:lstStyle/>
                    <a:p>
                      <a:pPr>
                        <a:buNone/>
                      </a:pPr>
                      <a:r>
                        <a:rPr lang="en-IN">
                          <a:latin typeface="Times New Roman" panose="02020603050405020304" pitchFamily="18" charset="0"/>
                          <a:cs typeface="Times New Roman" panose="02020603050405020304" pitchFamily="18" charset="0"/>
                        </a:rPr>
                        <a:t>Ann.Vol %</a:t>
                      </a:r>
                    </a:p>
                  </a:txBody>
                  <a:tcPr anchor="ctr"/>
                </a:tc>
                <a:tc>
                  <a:txBody>
                    <a:bodyPr/>
                    <a:lstStyle/>
                    <a:p>
                      <a:pPr>
                        <a:buNone/>
                      </a:pPr>
                      <a:r>
                        <a:rPr lang="en-IN">
                          <a:latin typeface="Times New Roman" panose="02020603050405020304" pitchFamily="18" charset="0"/>
                          <a:cs typeface="Times New Roman" panose="02020603050405020304" pitchFamily="18" charset="0"/>
                        </a:rPr>
                        <a:t>Sharpe</a:t>
                      </a:r>
                    </a:p>
                  </a:txBody>
                  <a:tcPr anchor="ctr"/>
                </a:tc>
                <a:tc>
                  <a:txBody>
                    <a:bodyPr/>
                    <a:lstStyle/>
                    <a:p>
                      <a:pPr>
                        <a:buNone/>
                      </a:pPr>
                      <a:r>
                        <a:rPr lang="en-IN">
                          <a:latin typeface="Times New Roman" panose="02020603050405020304" pitchFamily="18" charset="0"/>
                          <a:cs typeface="Times New Roman" panose="02020603050405020304" pitchFamily="18" charset="0"/>
                        </a:rPr>
                        <a:t>MaxDD %</a:t>
                      </a:r>
                    </a:p>
                  </a:txBody>
                  <a:tcPr anchor="ctr"/>
                </a:tc>
                <a:tc>
                  <a:txBody>
                    <a:bodyPr/>
                    <a:lstStyle/>
                    <a:p>
                      <a:pPr>
                        <a:buNone/>
                      </a:pPr>
                      <a:r>
                        <a:rPr lang="en-IN">
                          <a:latin typeface="Times New Roman" panose="02020603050405020304" pitchFamily="18" charset="0"/>
                          <a:cs typeface="Times New Roman" panose="02020603050405020304" pitchFamily="18" charset="0"/>
                        </a:rPr>
                        <a:t>Calmar</a:t>
                      </a:r>
                    </a:p>
                  </a:txBody>
                  <a:tcPr anchor="ctr"/>
                </a:tc>
                <a:tc>
                  <a:txBody>
                    <a:bodyPr/>
                    <a:lstStyle/>
                    <a:p>
                      <a:pPr>
                        <a:buNone/>
                      </a:pPr>
                      <a:r>
                        <a:rPr lang="en-IN">
                          <a:latin typeface="Times New Roman" panose="02020603050405020304" pitchFamily="18" charset="0"/>
                          <a:cs typeface="Times New Roman" panose="02020603050405020304" pitchFamily="18" charset="0"/>
                        </a:rPr>
                        <a:t>HHI</a:t>
                      </a:r>
                    </a:p>
                  </a:txBody>
                  <a:tcPr anchor="ctr"/>
                </a:tc>
                <a:tc>
                  <a:txBody>
                    <a:bodyPr/>
                    <a:lstStyle/>
                    <a:p>
                      <a:pPr>
                        <a:buNone/>
                      </a:pPr>
                      <a:r>
                        <a:rPr lang="en-IN">
                          <a:latin typeface="Times New Roman" panose="02020603050405020304" pitchFamily="18" charset="0"/>
                          <a:cs typeface="Times New Roman" panose="02020603050405020304" pitchFamily="18" charset="0"/>
                        </a:rPr>
                        <a:t>EffN</a:t>
                      </a:r>
                    </a:p>
                  </a:txBody>
                  <a:tcPr anchor="ctr"/>
                </a:tc>
                <a:extLst>
                  <a:ext uri="{0D108BD9-81ED-4DB2-BD59-A6C34878D82A}">
                    <a16:rowId xmlns:a16="http://schemas.microsoft.com/office/drawing/2014/main" val="10000"/>
                  </a:ext>
                </a:extLst>
              </a:tr>
              <a:tr h="885678">
                <a:tc>
                  <a:txBody>
                    <a:bodyPr/>
                    <a:lstStyle/>
                    <a:p>
                      <a:pPr>
                        <a:buNone/>
                      </a:pPr>
                      <a:r>
                        <a:rPr lang="en-IN">
                          <a:latin typeface="Times New Roman" panose="02020603050405020304" pitchFamily="18" charset="0"/>
                          <a:cs typeface="Times New Roman" panose="02020603050405020304" pitchFamily="18" charset="0"/>
                        </a:rPr>
                        <a:t>Static MV</a:t>
                      </a:r>
                    </a:p>
                  </a:txBody>
                  <a:tcPr anchor="ctr"/>
                </a:tc>
                <a:tc>
                  <a:txBody>
                    <a:bodyPr/>
                    <a:lstStyle/>
                    <a:p>
                      <a:pPr>
                        <a:buNone/>
                      </a:pPr>
                      <a:r>
                        <a:rPr lang="en-IN">
                          <a:latin typeface="Times New Roman" panose="02020603050405020304" pitchFamily="18" charset="0"/>
                          <a:cs typeface="Times New Roman" panose="02020603050405020304" pitchFamily="18" charset="0"/>
                        </a:rPr>
                        <a:t>14.41</a:t>
                      </a:r>
                    </a:p>
                  </a:txBody>
                  <a:tcPr anchor="ctr"/>
                </a:tc>
                <a:tc>
                  <a:txBody>
                    <a:bodyPr/>
                    <a:lstStyle/>
                    <a:p>
                      <a:pPr>
                        <a:buNone/>
                      </a:pPr>
                      <a:r>
                        <a:rPr lang="en-IN">
                          <a:latin typeface="Times New Roman" panose="02020603050405020304" pitchFamily="18" charset="0"/>
                          <a:cs typeface="Times New Roman" panose="02020603050405020304" pitchFamily="18" charset="0"/>
                        </a:rPr>
                        <a:t>22.52</a:t>
                      </a:r>
                    </a:p>
                  </a:txBody>
                  <a:tcPr anchor="ctr"/>
                </a:tc>
                <a:tc>
                  <a:txBody>
                    <a:bodyPr/>
                    <a:lstStyle/>
                    <a:p>
                      <a:pPr>
                        <a:buNone/>
                      </a:pPr>
                      <a:r>
                        <a:rPr lang="en-IN">
                          <a:latin typeface="Times New Roman" panose="02020603050405020304" pitchFamily="18" charset="0"/>
                          <a:cs typeface="Times New Roman" panose="02020603050405020304" pitchFamily="18" charset="0"/>
                        </a:rPr>
                        <a:t>1.000</a:t>
                      </a:r>
                    </a:p>
                  </a:txBody>
                  <a:tcPr anchor="ctr"/>
                </a:tc>
                <a:tc>
                  <a:txBody>
                    <a:bodyPr/>
                    <a:lstStyle/>
                    <a:p>
                      <a:pPr>
                        <a:buNone/>
                      </a:pPr>
                      <a:r>
                        <a:rPr lang="en-IN">
                          <a:latin typeface="Times New Roman" panose="02020603050405020304" pitchFamily="18" charset="0"/>
                          <a:cs typeface="Times New Roman" panose="02020603050405020304" pitchFamily="18" charset="0"/>
                        </a:rPr>
                        <a:t>-9.91</a:t>
                      </a:r>
                    </a:p>
                  </a:txBody>
                  <a:tcPr anchor="ctr"/>
                </a:tc>
                <a:tc>
                  <a:txBody>
                    <a:bodyPr/>
                    <a:lstStyle/>
                    <a:p>
                      <a:pPr>
                        <a:buNone/>
                      </a:pPr>
                      <a:r>
                        <a:rPr lang="en-IN">
                          <a:latin typeface="Times New Roman" panose="02020603050405020304" pitchFamily="18" charset="0"/>
                          <a:cs typeface="Times New Roman" panose="02020603050405020304" pitchFamily="18" charset="0"/>
                        </a:rPr>
                        <a:t>5.128</a:t>
                      </a:r>
                    </a:p>
                  </a:txBody>
                  <a:tcPr anchor="ctr"/>
                </a:tc>
                <a:tc>
                  <a:txBody>
                    <a:bodyPr/>
                    <a:lstStyle/>
                    <a:p>
                      <a:pPr>
                        <a:buNone/>
                      </a:pPr>
                      <a:r>
                        <a:rPr lang="en-IN">
                          <a:latin typeface="Times New Roman" panose="02020603050405020304" pitchFamily="18" charset="0"/>
                          <a:cs typeface="Times New Roman" panose="02020603050405020304" pitchFamily="18" charset="0"/>
                        </a:rPr>
                        <a:t>0.647</a:t>
                      </a:r>
                    </a:p>
                  </a:txBody>
                  <a:tcPr anchor="ctr"/>
                </a:tc>
                <a:tc>
                  <a:txBody>
                    <a:bodyPr/>
                    <a:lstStyle/>
                    <a:p>
                      <a:pPr>
                        <a:buNone/>
                      </a:pPr>
                      <a:r>
                        <a:rPr lang="en-IN">
                          <a:latin typeface="Times New Roman" panose="02020603050405020304" pitchFamily="18" charset="0"/>
                          <a:cs typeface="Times New Roman" panose="02020603050405020304" pitchFamily="18" charset="0"/>
                        </a:rPr>
                        <a:t>1.72</a:t>
                      </a:r>
                    </a:p>
                  </a:txBody>
                  <a:tcPr anchor="ctr"/>
                </a:tc>
                <a:extLst>
                  <a:ext uri="{0D108BD9-81ED-4DB2-BD59-A6C34878D82A}">
                    <a16:rowId xmlns:a16="http://schemas.microsoft.com/office/drawing/2014/main" val="10001"/>
                  </a:ext>
                </a:extLst>
              </a:tr>
              <a:tr h="881577">
                <a:tc>
                  <a:txBody>
                    <a:bodyPr/>
                    <a:lstStyle/>
                    <a:p>
                      <a:pPr>
                        <a:buNone/>
                      </a:pPr>
                      <a:r>
                        <a:rPr lang="en-IN">
                          <a:latin typeface="Times New Roman" panose="02020603050405020304" pitchFamily="18" charset="0"/>
                          <a:cs typeface="Times New Roman" panose="02020603050405020304" pitchFamily="18" charset="0"/>
                        </a:rPr>
                        <a:t>Equal Weight</a:t>
                      </a:r>
                    </a:p>
                  </a:txBody>
                  <a:tcPr anchor="ctr"/>
                </a:tc>
                <a:tc>
                  <a:txBody>
                    <a:bodyPr/>
                    <a:lstStyle/>
                    <a:p>
                      <a:pPr>
                        <a:buNone/>
                      </a:pPr>
                      <a:r>
                        <a:rPr lang="en-IN">
                          <a:latin typeface="Times New Roman" panose="02020603050405020304" pitchFamily="18" charset="0"/>
                          <a:cs typeface="Times New Roman" panose="02020603050405020304" pitchFamily="18" charset="0"/>
                        </a:rPr>
                        <a:t>13.84</a:t>
                      </a:r>
                    </a:p>
                  </a:txBody>
                  <a:tcPr anchor="ctr"/>
                </a:tc>
                <a:tc>
                  <a:txBody>
                    <a:bodyPr/>
                    <a:lstStyle/>
                    <a:p>
                      <a:pPr>
                        <a:buNone/>
                      </a:pPr>
                      <a:r>
                        <a:rPr lang="en-IN">
                          <a:latin typeface="Times New Roman" panose="02020603050405020304" pitchFamily="18" charset="0"/>
                          <a:cs typeface="Times New Roman" panose="02020603050405020304" pitchFamily="18" charset="0"/>
                        </a:rPr>
                        <a:t>15.22</a:t>
                      </a:r>
                    </a:p>
                  </a:txBody>
                  <a:tcPr anchor="ctr"/>
                </a:tc>
                <a:tc>
                  <a:txBody>
                    <a:bodyPr/>
                    <a:lstStyle/>
                    <a:p>
                      <a:pPr>
                        <a:buNone/>
                      </a:pPr>
                      <a:r>
                        <a:rPr lang="en-IN" dirty="0">
                          <a:latin typeface="Times New Roman" panose="02020603050405020304" pitchFamily="18" charset="0"/>
                          <a:cs typeface="Times New Roman" panose="02020603050405020304" pitchFamily="18" charset="0"/>
                        </a:rPr>
                        <a:t>1.474</a:t>
                      </a:r>
                    </a:p>
                  </a:txBody>
                  <a:tcPr anchor="ctr"/>
                </a:tc>
                <a:tc>
                  <a:txBody>
                    <a:bodyPr/>
                    <a:lstStyle/>
                    <a:p>
                      <a:pPr>
                        <a:buNone/>
                      </a:pPr>
                      <a:r>
                        <a:rPr lang="en-IN">
                          <a:latin typeface="Times New Roman" panose="02020603050405020304" pitchFamily="18" charset="0"/>
                          <a:cs typeface="Times New Roman" panose="02020603050405020304" pitchFamily="18" charset="0"/>
                        </a:rPr>
                        <a:t>-6.79</a:t>
                      </a:r>
                    </a:p>
                  </a:txBody>
                  <a:tcPr anchor="ctr"/>
                </a:tc>
                <a:tc>
                  <a:txBody>
                    <a:bodyPr/>
                    <a:lstStyle/>
                    <a:p>
                      <a:pPr>
                        <a:buNone/>
                      </a:pPr>
                      <a:r>
                        <a:rPr lang="en-IN">
                          <a:latin typeface="Times New Roman" panose="02020603050405020304" pitchFamily="18" charset="0"/>
                          <a:cs typeface="Times New Roman" panose="02020603050405020304" pitchFamily="18" charset="0"/>
                        </a:rPr>
                        <a:t>5.745</a:t>
                      </a:r>
                    </a:p>
                  </a:txBody>
                  <a:tcPr anchor="ctr"/>
                </a:tc>
                <a:tc>
                  <a:txBody>
                    <a:bodyPr/>
                    <a:lstStyle/>
                    <a:p>
                      <a:pPr>
                        <a:buNone/>
                      </a:pPr>
                      <a:r>
                        <a:rPr lang="en-IN">
                          <a:latin typeface="Times New Roman" panose="02020603050405020304" pitchFamily="18" charset="0"/>
                          <a:cs typeface="Times New Roman" panose="02020603050405020304" pitchFamily="18" charset="0"/>
                        </a:rPr>
                        <a:t>0.053</a:t>
                      </a:r>
                    </a:p>
                  </a:txBody>
                  <a:tcPr anchor="ctr"/>
                </a:tc>
                <a:tc>
                  <a:txBody>
                    <a:bodyPr/>
                    <a:lstStyle/>
                    <a:p>
                      <a:pPr>
                        <a:buNone/>
                      </a:pPr>
                      <a:r>
                        <a:rPr lang="en-IN">
                          <a:latin typeface="Times New Roman" panose="02020603050405020304" pitchFamily="18" charset="0"/>
                          <a:cs typeface="Times New Roman" panose="02020603050405020304" pitchFamily="18" charset="0"/>
                        </a:rPr>
                        <a:t>19.00</a:t>
                      </a:r>
                    </a:p>
                  </a:txBody>
                  <a:tcPr anchor="ctr"/>
                </a:tc>
                <a:extLst>
                  <a:ext uri="{0D108BD9-81ED-4DB2-BD59-A6C34878D82A}">
                    <a16:rowId xmlns:a16="http://schemas.microsoft.com/office/drawing/2014/main" val="10002"/>
                  </a:ext>
                </a:extLst>
              </a:tr>
              <a:tr h="747667">
                <a:tc>
                  <a:txBody>
                    <a:bodyPr/>
                    <a:lstStyle/>
                    <a:p>
                      <a:pPr>
                        <a:buNone/>
                      </a:pPr>
                      <a:r>
                        <a:rPr lang="en-IN">
                          <a:latin typeface="Times New Roman" panose="02020603050405020304" pitchFamily="18" charset="0"/>
                          <a:cs typeface="Times New Roman" panose="02020603050405020304" pitchFamily="18" charset="0"/>
                        </a:rPr>
                        <a:t>MV+Shrinkage</a:t>
                      </a:r>
                    </a:p>
                  </a:txBody>
                  <a:tcPr anchor="ctr"/>
                </a:tc>
                <a:tc>
                  <a:txBody>
                    <a:bodyPr/>
                    <a:lstStyle/>
                    <a:p>
                      <a:pPr>
                        <a:buNone/>
                      </a:pPr>
                      <a:r>
                        <a:rPr lang="en-IN">
                          <a:latin typeface="Times New Roman" panose="02020603050405020304" pitchFamily="18" charset="0"/>
                          <a:cs typeface="Times New Roman" panose="02020603050405020304" pitchFamily="18" charset="0"/>
                        </a:rPr>
                        <a:t>8.57</a:t>
                      </a:r>
                    </a:p>
                  </a:txBody>
                  <a:tcPr anchor="ctr"/>
                </a:tc>
                <a:tc>
                  <a:txBody>
                    <a:bodyPr/>
                    <a:lstStyle/>
                    <a:p>
                      <a:pPr>
                        <a:buNone/>
                      </a:pPr>
                      <a:r>
                        <a:rPr lang="en-IN">
                          <a:latin typeface="Times New Roman" panose="02020603050405020304" pitchFamily="18" charset="0"/>
                          <a:cs typeface="Times New Roman" panose="02020603050405020304" pitchFamily="18" charset="0"/>
                        </a:rPr>
                        <a:t>12.53</a:t>
                      </a:r>
                    </a:p>
                  </a:txBody>
                  <a:tcPr anchor="ctr"/>
                </a:tc>
                <a:tc>
                  <a:txBody>
                    <a:bodyPr/>
                    <a:lstStyle/>
                    <a:p>
                      <a:pPr>
                        <a:buNone/>
                      </a:pPr>
                      <a:r>
                        <a:rPr lang="en-IN">
                          <a:latin typeface="Times New Roman" panose="02020603050405020304" pitchFamily="18" charset="0"/>
                          <a:cs typeface="Times New Roman" panose="02020603050405020304" pitchFamily="18" charset="0"/>
                        </a:rPr>
                        <a:t>1.109</a:t>
                      </a:r>
                    </a:p>
                  </a:txBody>
                  <a:tcPr anchor="ctr"/>
                </a:tc>
                <a:tc>
                  <a:txBody>
                    <a:bodyPr/>
                    <a:lstStyle/>
                    <a:p>
                      <a:pPr>
                        <a:buNone/>
                      </a:pPr>
                      <a:r>
                        <a:rPr lang="en-IN">
                          <a:latin typeface="Times New Roman" panose="02020603050405020304" pitchFamily="18" charset="0"/>
                          <a:cs typeface="Times New Roman" panose="02020603050405020304" pitchFamily="18" charset="0"/>
                        </a:rPr>
                        <a:t>-5.91</a:t>
                      </a:r>
                    </a:p>
                  </a:txBody>
                  <a:tcPr anchor="ctr"/>
                </a:tc>
                <a:tc>
                  <a:txBody>
                    <a:bodyPr/>
                    <a:lstStyle/>
                    <a:p>
                      <a:pPr>
                        <a:buNone/>
                      </a:pPr>
                      <a:r>
                        <a:rPr lang="en-IN">
                          <a:latin typeface="Times New Roman" panose="02020603050405020304" pitchFamily="18" charset="0"/>
                          <a:cs typeface="Times New Roman" panose="02020603050405020304" pitchFamily="18" charset="0"/>
                        </a:rPr>
                        <a:t>4.851</a:t>
                      </a:r>
                    </a:p>
                  </a:txBody>
                  <a:tcPr anchor="ctr"/>
                </a:tc>
                <a:tc>
                  <a:txBody>
                    <a:bodyPr/>
                    <a:lstStyle/>
                    <a:p>
                      <a:pPr>
                        <a:buNone/>
                      </a:pPr>
                      <a:r>
                        <a:rPr lang="en-IN">
                          <a:latin typeface="Times New Roman" panose="02020603050405020304" pitchFamily="18" charset="0"/>
                          <a:cs typeface="Times New Roman" panose="02020603050405020304" pitchFamily="18" charset="0"/>
                        </a:rPr>
                        <a:t>0.183</a:t>
                      </a:r>
                    </a:p>
                  </a:txBody>
                  <a:tcPr anchor="ctr"/>
                </a:tc>
                <a:tc>
                  <a:txBody>
                    <a:bodyPr/>
                    <a:lstStyle/>
                    <a:p>
                      <a:pPr>
                        <a:buNone/>
                      </a:pPr>
                      <a:r>
                        <a:rPr lang="en-IN">
                          <a:latin typeface="Times New Roman" panose="02020603050405020304" pitchFamily="18" charset="0"/>
                          <a:cs typeface="Times New Roman" panose="02020603050405020304" pitchFamily="18" charset="0"/>
                        </a:rPr>
                        <a:t>5.82</a:t>
                      </a:r>
                    </a:p>
                  </a:txBody>
                  <a:tcPr anchor="ctr"/>
                </a:tc>
                <a:extLst>
                  <a:ext uri="{0D108BD9-81ED-4DB2-BD59-A6C34878D82A}">
                    <a16:rowId xmlns:a16="http://schemas.microsoft.com/office/drawing/2014/main" val="10003"/>
                  </a:ext>
                </a:extLst>
              </a:tr>
              <a:tr h="959691">
                <a:tc>
                  <a:txBody>
                    <a:bodyPr/>
                    <a:lstStyle/>
                    <a:p>
                      <a:pPr>
                        <a:buNone/>
                      </a:pPr>
                      <a:r>
                        <a:rPr lang="en-IN" b="1">
                          <a:latin typeface="Times New Roman" panose="02020603050405020304" pitchFamily="18" charset="0"/>
                          <a:cs typeface="Times New Roman" panose="02020603050405020304" pitchFamily="18" charset="0"/>
                        </a:rPr>
                        <a:t>Regime Switch (Ours)</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b="1" dirty="0">
                          <a:latin typeface="Times New Roman" panose="02020603050405020304" pitchFamily="18" charset="0"/>
                          <a:cs typeface="Times New Roman" panose="02020603050405020304" pitchFamily="18" charset="0"/>
                        </a:rPr>
                        <a:t>9.99</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b="1">
                          <a:latin typeface="Times New Roman" panose="02020603050405020304" pitchFamily="18" charset="0"/>
                          <a:cs typeface="Times New Roman" panose="02020603050405020304" pitchFamily="18" charset="0"/>
                        </a:rPr>
                        <a:t>13.10</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b="1">
                          <a:latin typeface="Times New Roman" panose="02020603050405020304" pitchFamily="18" charset="0"/>
                          <a:cs typeface="Times New Roman" panose="02020603050405020304" pitchFamily="18" charset="0"/>
                        </a:rPr>
                        <a:t>1.196</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b="1">
                          <a:latin typeface="Times New Roman" panose="02020603050405020304" pitchFamily="18" charset="0"/>
                          <a:cs typeface="Times New Roman" panose="02020603050405020304" pitchFamily="18" charset="0"/>
                        </a:rPr>
                        <a:t>-6.13</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b="1">
                          <a:latin typeface="Times New Roman" panose="02020603050405020304" pitchFamily="18" charset="0"/>
                          <a:cs typeface="Times New Roman" panose="02020603050405020304" pitchFamily="18" charset="0"/>
                        </a:rPr>
                        <a:t>5.324</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b="1">
                          <a:latin typeface="Times New Roman" panose="02020603050405020304" pitchFamily="18" charset="0"/>
                          <a:cs typeface="Times New Roman" panose="02020603050405020304" pitchFamily="18" charset="0"/>
                        </a:rPr>
                        <a:t>0.166</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b="1">
                          <a:latin typeface="Times New Roman" panose="02020603050405020304" pitchFamily="18" charset="0"/>
                          <a:cs typeface="Times New Roman" panose="02020603050405020304" pitchFamily="18" charset="0"/>
                        </a:rPr>
                        <a:t>7.43</a:t>
                      </a:r>
                      <a:endParaRPr lang="en-IN">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710435325"/>
                  </a:ext>
                </a:extLst>
              </a:tr>
              <a:tr h="747667">
                <a:tc>
                  <a:txBody>
                    <a:bodyPr/>
                    <a:lstStyle/>
                    <a:p>
                      <a:pPr>
                        <a:buNone/>
                      </a:pPr>
                      <a:r>
                        <a:rPr lang="en-IN">
                          <a:latin typeface="Times New Roman" panose="02020603050405020304" pitchFamily="18" charset="0"/>
                          <a:cs typeface="Times New Roman" panose="02020603050405020304" pitchFamily="18" charset="0"/>
                        </a:rPr>
                        <a:t>Min-Variance</a:t>
                      </a:r>
                    </a:p>
                  </a:txBody>
                  <a:tcPr anchor="ctr"/>
                </a:tc>
                <a:tc>
                  <a:txBody>
                    <a:bodyPr/>
                    <a:lstStyle/>
                    <a:p>
                      <a:pPr>
                        <a:buNone/>
                      </a:pPr>
                      <a:r>
                        <a:rPr lang="en-IN">
                          <a:latin typeface="Times New Roman" panose="02020603050405020304" pitchFamily="18" charset="0"/>
                          <a:cs typeface="Times New Roman" panose="02020603050405020304" pitchFamily="18" charset="0"/>
                        </a:rPr>
                        <a:t>8.59</a:t>
                      </a:r>
                    </a:p>
                  </a:txBody>
                  <a:tcPr anchor="ctr"/>
                </a:tc>
                <a:tc>
                  <a:txBody>
                    <a:bodyPr/>
                    <a:lstStyle/>
                    <a:p>
                      <a:pPr>
                        <a:buNone/>
                      </a:pPr>
                      <a:r>
                        <a:rPr lang="en-IN" dirty="0">
                          <a:latin typeface="Times New Roman" panose="02020603050405020304" pitchFamily="18" charset="0"/>
                          <a:cs typeface="Times New Roman" panose="02020603050405020304" pitchFamily="18" charset="0"/>
                        </a:rPr>
                        <a:t>12.54</a:t>
                      </a:r>
                    </a:p>
                  </a:txBody>
                  <a:tcPr anchor="ctr"/>
                </a:tc>
                <a:tc>
                  <a:txBody>
                    <a:bodyPr/>
                    <a:lstStyle/>
                    <a:p>
                      <a:pPr>
                        <a:buNone/>
                      </a:pPr>
                      <a:r>
                        <a:rPr lang="en-IN">
                          <a:latin typeface="Times New Roman" panose="02020603050405020304" pitchFamily="18" charset="0"/>
                          <a:cs typeface="Times New Roman" panose="02020603050405020304" pitchFamily="18" charset="0"/>
                        </a:rPr>
                        <a:t>1.109</a:t>
                      </a:r>
                    </a:p>
                  </a:txBody>
                  <a:tcPr anchor="ctr"/>
                </a:tc>
                <a:tc>
                  <a:txBody>
                    <a:bodyPr/>
                    <a:lstStyle/>
                    <a:p>
                      <a:pPr>
                        <a:buNone/>
                      </a:pPr>
                      <a:r>
                        <a:rPr lang="en-IN">
                          <a:latin typeface="Times New Roman" panose="02020603050405020304" pitchFamily="18" charset="0"/>
                          <a:cs typeface="Times New Roman" panose="02020603050405020304" pitchFamily="18" charset="0"/>
                        </a:rPr>
                        <a:t>-5.91</a:t>
                      </a:r>
                    </a:p>
                  </a:txBody>
                  <a:tcPr anchor="ctr"/>
                </a:tc>
                <a:tc>
                  <a:txBody>
                    <a:bodyPr/>
                    <a:lstStyle/>
                    <a:p>
                      <a:pPr>
                        <a:buNone/>
                      </a:pPr>
                      <a:r>
                        <a:rPr lang="en-IN">
                          <a:latin typeface="Times New Roman" panose="02020603050405020304" pitchFamily="18" charset="0"/>
                          <a:cs typeface="Times New Roman" panose="02020603050405020304" pitchFamily="18" charset="0"/>
                        </a:rPr>
                        <a:t>4.870</a:t>
                      </a:r>
                    </a:p>
                  </a:txBody>
                  <a:tcPr anchor="ctr"/>
                </a:tc>
                <a:tc>
                  <a:txBody>
                    <a:bodyPr/>
                    <a:lstStyle/>
                    <a:p>
                      <a:pPr>
                        <a:buNone/>
                      </a:pPr>
                      <a:r>
                        <a:rPr lang="en-IN">
                          <a:latin typeface="Times New Roman" panose="02020603050405020304" pitchFamily="18" charset="0"/>
                          <a:cs typeface="Times New Roman" panose="02020603050405020304" pitchFamily="18" charset="0"/>
                        </a:rPr>
                        <a:t>0.184</a:t>
                      </a:r>
                    </a:p>
                  </a:txBody>
                  <a:tcPr anchor="ctr"/>
                </a:tc>
                <a:tc>
                  <a:txBody>
                    <a:bodyPr/>
                    <a:lstStyle/>
                    <a:p>
                      <a:pPr>
                        <a:buNone/>
                      </a:pPr>
                      <a:r>
                        <a:rPr lang="en-IN" dirty="0">
                          <a:latin typeface="Times New Roman" panose="02020603050405020304" pitchFamily="18" charset="0"/>
                          <a:cs typeface="Times New Roman" panose="02020603050405020304" pitchFamily="18" charset="0"/>
                        </a:rPr>
                        <a:t>5.80</a:t>
                      </a:r>
                    </a:p>
                  </a:txBody>
                  <a:tcPr anchor="ctr"/>
                </a:tc>
                <a:extLst>
                  <a:ext uri="{0D108BD9-81ED-4DB2-BD59-A6C34878D82A}">
                    <a16:rowId xmlns:a16="http://schemas.microsoft.com/office/drawing/2014/main" val="683277060"/>
                  </a:ext>
                </a:extLst>
              </a:tr>
            </a:tbl>
          </a:graphicData>
        </a:graphic>
      </p:graphicFrame>
    </p:spTree>
    <p:extLst>
      <p:ext uri="{BB962C8B-B14F-4D97-AF65-F5344CB8AC3E}">
        <p14:creationId xmlns:p14="http://schemas.microsoft.com/office/powerpoint/2010/main" val="32735503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E558C869-9D98-7536-970F-BA7E9675D5A6}"/>
            </a:ext>
          </a:extLst>
        </p:cNvPr>
        <p:cNvGrpSpPr/>
        <p:nvPr/>
      </p:nvGrpSpPr>
      <p:grpSpPr>
        <a:xfrm>
          <a:off x="0" y="0"/>
          <a:ext cx="0" cy="0"/>
          <a:chOff x="0" y="0"/>
          <a:chExt cx="0" cy="0"/>
        </a:xfrm>
      </p:grpSpPr>
      <p:sp>
        <p:nvSpPr>
          <p:cNvPr id="102" name="Google Shape;102;p3">
            <a:extLst>
              <a:ext uri="{FF2B5EF4-FFF2-40B4-BE49-F238E27FC236}">
                <a16:creationId xmlns:a16="http://schemas.microsoft.com/office/drawing/2014/main" id="{72C722CA-F76E-9B44-AA17-3B2AEF18F6B9}"/>
              </a:ext>
            </a:extLst>
          </p:cNvPr>
          <p:cNvSpPr txBox="1">
            <a:spLocks noGrp="1"/>
          </p:cNvSpPr>
          <p:nvPr>
            <p:ph type="title"/>
          </p:nvPr>
        </p:nvSpPr>
        <p:spPr>
          <a:xfrm>
            <a:off x="821871" y="443416"/>
            <a:ext cx="11038114" cy="1330955"/>
          </a:xfrm>
          <a:prstGeom prst="rect">
            <a:avLst/>
          </a:prstGeom>
          <a:noFill/>
          <a:ln>
            <a:noFill/>
          </a:ln>
        </p:spPr>
        <p:txBody>
          <a:bodyPr spcFirstLastPara="1" wrap="square" lIns="91425" tIns="45700" rIns="91425" bIns="45700" anchor="t" anchorCtr="0">
            <a:noAutofit/>
          </a:bodyPr>
          <a:lstStyle/>
          <a:p>
            <a:pPr algn="l"/>
            <a:r>
              <a:rPr lang="en-US" sz="3200" dirty="0"/>
              <a:t>Paper 2 </a:t>
            </a:r>
            <a:r>
              <a:rPr lang="en-US" sz="3200" dirty="0" err="1"/>
              <a:t>Results:Universe</a:t>
            </a:r>
            <a:r>
              <a:rPr lang="en-US" sz="3200" dirty="0"/>
              <a:t> </a:t>
            </a:r>
            <a:r>
              <a:rPr lang="en-IN" sz="3200" dirty="0"/>
              <a:t>Technology </a:t>
            </a:r>
            <a:r>
              <a:rPr lang="en-US" sz="3200" dirty="0"/>
              <a:t>Performance (51 Windows, 2005-2025)</a:t>
            </a:r>
            <a:endParaRPr sz="3200" dirty="0"/>
          </a:p>
        </p:txBody>
      </p:sp>
      <p:graphicFrame>
        <p:nvGraphicFramePr>
          <p:cNvPr id="103" name="Google Shape;103;p3">
            <a:extLst>
              <a:ext uri="{FF2B5EF4-FFF2-40B4-BE49-F238E27FC236}">
                <a16:creationId xmlns:a16="http://schemas.microsoft.com/office/drawing/2014/main" id="{7FE5EC7B-7A8B-8138-A321-196BA069F04A}"/>
              </a:ext>
            </a:extLst>
          </p:cNvPr>
          <p:cNvGraphicFramePr/>
          <p:nvPr>
            <p:extLst>
              <p:ext uri="{D42A27DB-BD31-4B8C-83A1-F6EECF244321}">
                <p14:modId xmlns:p14="http://schemas.microsoft.com/office/powerpoint/2010/main" val="1474315573"/>
              </p:ext>
            </p:extLst>
          </p:nvPr>
        </p:nvGraphicFramePr>
        <p:xfrm>
          <a:off x="821871" y="1643672"/>
          <a:ext cx="11114315" cy="4463213"/>
        </p:xfrm>
        <a:graphic>
          <a:graphicData uri="http://schemas.openxmlformats.org/drawingml/2006/table">
            <a:tbl>
              <a:tblPr firstRow="1" bandRow="1">
                <a:noFill/>
                <a:tableStyleId>{48133A83-268A-4673-80D7-47B9B74EA727}</a:tableStyleId>
              </a:tblPr>
              <a:tblGrid>
                <a:gridCol w="1959728">
                  <a:extLst>
                    <a:ext uri="{9D8B030D-6E8A-4147-A177-3AD203B41FA5}">
                      <a16:colId xmlns:a16="http://schemas.microsoft.com/office/drawing/2014/main" val="20000"/>
                    </a:ext>
                  </a:extLst>
                </a:gridCol>
                <a:gridCol w="2185103">
                  <a:extLst>
                    <a:ext uri="{9D8B030D-6E8A-4147-A177-3AD203B41FA5}">
                      <a16:colId xmlns:a16="http://schemas.microsoft.com/office/drawing/2014/main" val="20001"/>
                    </a:ext>
                  </a:extLst>
                </a:gridCol>
                <a:gridCol w="1800127">
                  <a:extLst>
                    <a:ext uri="{9D8B030D-6E8A-4147-A177-3AD203B41FA5}">
                      <a16:colId xmlns:a16="http://schemas.microsoft.com/office/drawing/2014/main" val="20002"/>
                    </a:ext>
                  </a:extLst>
                </a:gridCol>
                <a:gridCol w="1679110">
                  <a:extLst>
                    <a:ext uri="{9D8B030D-6E8A-4147-A177-3AD203B41FA5}">
                      <a16:colId xmlns:a16="http://schemas.microsoft.com/office/drawing/2014/main" val="3690596373"/>
                    </a:ext>
                  </a:extLst>
                </a:gridCol>
                <a:gridCol w="1696171">
                  <a:extLst>
                    <a:ext uri="{9D8B030D-6E8A-4147-A177-3AD203B41FA5}">
                      <a16:colId xmlns:a16="http://schemas.microsoft.com/office/drawing/2014/main" val="3841398597"/>
                    </a:ext>
                  </a:extLst>
                </a:gridCol>
                <a:gridCol w="1794076">
                  <a:extLst>
                    <a:ext uri="{9D8B030D-6E8A-4147-A177-3AD203B41FA5}">
                      <a16:colId xmlns:a16="http://schemas.microsoft.com/office/drawing/2014/main" val="3168578517"/>
                    </a:ext>
                  </a:extLst>
                </a:gridCol>
              </a:tblGrid>
              <a:tr h="594111">
                <a:tc>
                  <a:txBody>
                    <a:bodyPr/>
                    <a:lstStyle/>
                    <a:p>
                      <a:pPr>
                        <a:buNone/>
                      </a:pPr>
                      <a:r>
                        <a:rPr lang="en-IN">
                          <a:latin typeface="Times New Roman" panose="02020603050405020304" pitchFamily="18" charset="0"/>
                          <a:cs typeface="Times New Roman" panose="02020603050405020304" pitchFamily="18" charset="0"/>
                        </a:rPr>
                        <a:t>Strategy</a:t>
                      </a:r>
                    </a:p>
                  </a:txBody>
                  <a:tcPr anchor="ctr"/>
                </a:tc>
                <a:tc>
                  <a:txBody>
                    <a:bodyPr/>
                    <a:lstStyle/>
                    <a:p>
                      <a:pPr>
                        <a:buNone/>
                      </a:pPr>
                      <a:r>
                        <a:rPr lang="en-IN">
                          <a:latin typeface="Times New Roman" panose="02020603050405020304" pitchFamily="18" charset="0"/>
                          <a:cs typeface="Times New Roman" panose="02020603050405020304" pitchFamily="18" charset="0"/>
                        </a:rPr>
                        <a:t>Ann.Return %</a:t>
                      </a:r>
                    </a:p>
                  </a:txBody>
                  <a:tcPr anchor="ctr"/>
                </a:tc>
                <a:tc>
                  <a:txBody>
                    <a:bodyPr/>
                    <a:lstStyle/>
                    <a:p>
                      <a:pPr>
                        <a:buNone/>
                      </a:pPr>
                      <a:r>
                        <a:rPr lang="en-IN">
                          <a:latin typeface="Times New Roman" panose="02020603050405020304" pitchFamily="18" charset="0"/>
                          <a:cs typeface="Times New Roman" panose="02020603050405020304" pitchFamily="18" charset="0"/>
                        </a:rPr>
                        <a:t>Vol %</a:t>
                      </a:r>
                    </a:p>
                  </a:txBody>
                  <a:tcPr anchor="ctr"/>
                </a:tc>
                <a:tc>
                  <a:txBody>
                    <a:bodyPr/>
                    <a:lstStyle/>
                    <a:p>
                      <a:pPr>
                        <a:buNone/>
                      </a:pPr>
                      <a:r>
                        <a:rPr lang="en-IN">
                          <a:latin typeface="Times New Roman" panose="02020603050405020304" pitchFamily="18" charset="0"/>
                          <a:cs typeface="Times New Roman" panose="02020603050405020304" pitchFamily="18" charset="0"/>
                        </a:rPr>
                        <a:t>Sharpe</a:t>
                      </a:r>
                    </a:p>
                  </a:txBody>
                  <a:tcPr anchor="ctr"/>
                </a:tc>
                <a:tc>
                  <a:txBody>
                    <a:bodyPr/>
                    <a:lstStyle/>
                    <a:p>
                      <a:pPr>
                        <a:buNone/>
                      </a:pPr>
                      <a:r>
                        <a:rPr lang="en-IN">
                          <a:latin typeface="Times New Roman" panose="02020603050405020304" pitchFamily="18" charset="0"/>
                          <a:cs typeface="Times New Roman" panose="02020603050405020304" pitchFamily="18" charset="0"/>
                        </a:rPr>
                        <a:t>MDD %</a:t>
                      </a:r>
                    </a:p>
                  </a:txBody>
                  <a:tcPr anchor="ctr"/>
                </a:tc>
                <a:tc>
                  <a:txBody>
                    <a:bodyPr/>
                    <a:lstStyle/>
                    <a:p>
                      <a:pPr>
                        <a:buNone/>
                      </a:pPr>
                      <a:r>
                        <a:rPr lang="en-IN">
                          <a:latin typeface="Times New Roman" panose="02020603050405020304" pitchFamily="18" charset="0"/>
                          <a:cs typeface="Times New Roman" panose="02020603050405020304" pitchFamily="18" charset="0"/>
                        </a:rPr>
                        <a:t>CVaR %</a:t>
                      </a:r>
                    </a:p>
                  </a:txBody>
                  <a:tcPr anchor="ctr"/>
                </a:tc>
                <a:extLst>
                  <a:ext uri="{0D108BD9-81ED-4DB2-BD59-A6C34878D82A}">
                    <a16:rowId xmlns:a16="http://schemas.microsoft.com/office/drawing/2014/main" val="10000"/>
                  </a:ext>
                </a:extLst>
              </a:tr>
              <a:tr h="527715">
                <a:tc>
                  <a:txBody>
                    <a:bodyPr/>
                    <a:lstStyle/>
                    <a:p>
                      <a:pPr>
                        <a:buNone/>
                      </a:pPr>
                      <a:r>
                        <a:rPr lang="en-IN" b="1" dirty="0">
                          <a:latin typeface="Times New Roman" panose="02020603050405020304" pitchFamily="18" charset="0"/>
                          <a:cs typeface="Times New Roman" panose="02020603050405020304" pitchFamily="18" charset="0"/>
                        </a:rPr>
                        <a:t>G-CVaR (Ours)</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b="1">
                          <a:latin typeface="Times New Roman" panose="02020603050405020304" pitchFamily="18" charset="0"/>
                          <a:cs typeface="Times New Roman" panose="02020603050405020304" pitchFamily="18" charset="0"/>
                        </a:rPr>
                        <a:t>13.784</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b="1">
                          <a:latin typeface="Times New Roman" panose="02020603050405020304" pitchFamily="18" charset="0"/>
                          <a:cs typeface="Times New Roman" panose="02020603050405020304" pitchFamily="18" charset="0"/>
                        </a:rPr>
                        <a:t>19.108</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b="1">
                          <a:latin typeface="Times New Roman" panose="02020603050405020304" pitchFamily="18" charset="0"/>
                          <a:cs typeface="Times New Roman" panose="02020603050405020304" pitchFamily="18" charset="0"/>
                        </a:rPr>
                        <a:t>0.5644</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b="1">
                          <a:latin typeface="Times New Roman" panose="02020603050405020304" pitchFamily="18" charset="0"/>
                          <a:cs typeface="Times New Roman" panose="02020603050405020304" pitchFamily="18" charset="0"/>
                        </a:rPr>
                        <a:t>73.82</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b="1">
                          <a:latin typeface="Times New Roman" panose="02020603050405020304" pitchFamily="18" charset="0"/>
                          <a:cs typeface="Times New Roman" panose="02020603050405020304" pitchFamily="18" charset="0"/>
                        </a:rPr>
                        <a:t>2.849</a:t>
                      </a:r>
                      <a:endParaRPr lang="en-IN">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1"/>
                  </a:ext>
                </a:extLst>
              </a:tr>
              <a:tr h="768494">
                <a:tc>
                  <a:txBody>
                    <a:bodyPr/>
                    <a:lstStyle/>
                    <a:p>
                      <a:pPr>
                        <a:buNone/>
                      </a:pPr>
                      <a:r>
                        <a:rPr lang="en-IN" dirty="0">
                          <a:latin typeface="Times New Roman" panose="02020603050405020304" pitchFamily="18" charset="0"/>
                          <a:cs typeface="Times New Roman" panose="02020603050405020304" pitchFamily="18" charset="0"/>
                        </a:rPr>
                        <a:t>Std CVaR</a:t>
                      </a:r>
                    </a:p>
                  </a:txBody>
                  <a:tcPr anchor="ctr"/>
                </a:tc>
                <a:tc>
                  <a:txBody>
                    <a:bodyPr/>
                    <a:lstStyle/>
                    <a:p>
                      <a:pPr>
                        <a:buNone/>
                      </a:pPr>
                      <a:r>
                        <a:rPr lang="en-IN" dirty="0">
                          <a:latin typeface="Times New Roman" panose="02020603050405020304" pitchFamily="18" charset="0"/>
                          <a:cs typeface="Times New Roman" panose="02020603050405020304" pitchFamily="18" charset="0"/>
                        </a:rPr>
                        <a:t>13.764</a:t>
                      </a:r>
                    </a:p>
                  </a:txBody>
                  <a:tcPr anchor="ctr"/>
                </a:tc>
                <a:tc>
                  <a:txBody>
                    <a:bodyPr/>
                    <a:lstStyle/>
                    <a:p>
                      <a:pPr>
                        <a:buNone/>
                      </a:pPr>
                      <a:r>
                        <a:rPr lang="en-IN">
                          <a:latin typeface="Times New Roman" panose="02020603050405020304" pitchFamily="18" charset="0"/>
                          <a:cs typeface="Times New Roman" panose="02020603050405020304" pitchFamily="18" charset="0"/>
                        </a:rPr>
                        <a:t>19.102</a:t>
                      </a:r>
                    </a:p>
                  </a:txBody>
                  <a:tcPr anchor="ctr"/>
                </a:tc>
                <a:tc>
                  <a:txBody>
                    <a:bodyPr/>
                    <a:lstStyle/>
                    <a:p>
                      <a:pPr>
                        <a:buNone/>
                      </a:pPr>
                      <a:r>
                        <a:rPr lang="en-IN">
                          <a:latin typeface="Times New Roman" panose="02020603050405020304" pitchFamily="18" charset="0"/>
                          <a:cs typeface="Times New Roman" panose="02020603050405020304" pitchFamily="18" charset="0"/>
                        </a:rPr>
                        <a:t>0.5635</a:t>
                      </a:r>
                    </a:p>
                  </a:txBody>
                  <a:tcPr anchor="ctr"/>
                </a:tc>
                <a:tc>
                  <a:txBody>
                    <a:bodyPr/>
                    <a:lstStyle/>
                    <a:p>
                      <a:pPr>
                        <a:buNone/>
                      </a:pPr>
                      <a:r>
                        <a:rPr lang="en-IN">
                          <a:latin typeface="Times New Roman" panose="02020603050405020304" pitchFamily="18" charset="0"/>
                          <a:cs typeface="Times New Roman" panose="02020603050405020304" pitchFamily="18" charset="0"/>
                        </a:rPr>
                        <a:t>73.70</a:t>
                      </a:r>
                    </a:p>
                  </a:txBody>
                  <a:tcPr anchor="ctr"/>
                </a:tc>
                <a:tc>
                  <a:txBody>
                    <a:bodyPr/>
                    <a:lstStyle/>
                    <a:p>
                      <a:pPr>
                        <a:buNone/>
                      </a:pPr>
                      <a:r>
                        <a:rPr lang="en-IN">
                          <a:latin typeface="Times New Roman" panose="02020603050405020304" pitchFamily="18" charset="0"/>
                          <a:cs typeface="Times New Roman" panose="02020603050405020304" pitchFamily="18" charset="0"/>
                        </a:rPr>
                        <a:t>2.848</a:t>
                      </a:r>
                    </a:p>
                  </a:txBody>
                  <a:tcPr anchor="ctr"/>
                </a:tc>
                <a:extLst>
                  <a:ext uri="{0D108BD9-81ED-4DB2-BD59-A6C34878D82A}">
                    <a16:rowId xmlns:a16="http://schemas.microsoft.com/office/drawing/2014/main" val="10002"/>
                  </a:ext>
                </a:extLst>
              </a:tr>
              <a:tr h="688996">
                <a:tc>
                  <a:txBody>
                    <a:bodyPr/>
                    <a:lstStyle/>
                    <a:p>
                      <a:pPr>
                        <a:buNone/>
                      </a:pPr>
                      <a:r>
                        <a:rPr lang="en-IN">
                          <a:latin typeface="Times New Roman" panose="02020603050405020304" pitchFamily="18" charset="0"/>
                          <a:cs typeface="Times New Roman" panose="02020603050405020304" pitchFamily="18" charset="0"/>
                        </a:rPr>
                        <a:t>Mean-Variance</a:t>
                      </a:r>
                    </a:p>
                  </a:txBody>
                  <a:tcPr anchor="ctr"/>
                </a:tc>
                <a:tc>
                  <a:txBody>
                    <a:bodyPr/>
                    <a:lstStyle/>
                    <a:p>
                      <a:pPr>
                        <a:buNone/>
                      </a:pPr>
                      <a:r>
                        <a:rPr lang="en-IN" dirty="0">
                          <a:latin typeface="Times New Roman" panose="02020603050405020304" pitchFamily="18" charset="0"/>
                          <a:cs typeface="Times New Roman" panose="02020603050405020304" pitchFamily="18" charset="0"/>
                        </a:rPr>
                        <a:t>13.334</a:t>
                      </a:r>
                    </a:p>
                  </a:txBody>
                  <a:tcPr anchor="ctr"/>
                </a:tc>
                <a:tc>
                  <a:txBody>
                    <a:bodyPr/>
                    <a:lstStyle/>
                    <a:p>
                      <a:pPr>
                        <a:buNone/>
                      </a:pPr>
                      <a:r>
                        <a:rPr lang="en-IN">
                          <a:latin typeface="Times New Roman" panose="02020603050405020304" pitchFamily="18" charset="0"/>
                          <a:cs typeface="Times New Roman" panose="02020603050405020304" pitchFamily="18" charset="0"/>
                        </a:rPr>
                        <a:t>18.769</a:t>
                      </a:r>
                    </a:p>
                  </a:txBody>
                  <a:tcPr anchor="ctr"/>
                </a:tc>
                <a:tc>
                  <a:txBody>
                    <a:bodyPr/>
                    <a:lstStyle/>
                    <a:p>
                      <a:pPr>
                        <a:buNone/>
                      </a:pPr>
                      <a:r>
                        <a:rPr lang="en-IN">
                          <a:latin typeface="Times New Roman" panose="02020603050405020304" pitchFamily="18" charset="0"/>
                          <a:cs typeface="Times New Roman" panose="02020603050405020304" pitchFamily="18" charset="0"/>
                        </a:rPr>
                        <a:t>0.5506</a:t>
                      </a:r>
                    </a:p>
                  </a:txBody>
                  <a:tcPr anchor="ctr"/>
                </a:tc>
                <a:tc>
                  <a:txBody>
                    <a:bodyPr/>
                    <a:lstStyle/>
                    <a:p>
                      <a:pPr>
                        <a:buNone/>
                      </a:pPr>
                      <a:r>
                        <a:rPr lang="en-IN">
                          <a:latin typeface="Times New Roman" panose="02020603050405020304" pitchFamily="18" charset="0"/>
                          <a:cs typeface="Times New Roman" panose="02020603050405020304" pitchFamily="18" charset="0"/>
                        </a:rPr>
                        <a:t>72.20</a:t>
                      </a:r>
                    </a:p>
                  </a:txBody>
                  <a:tcPr anchor="ctr"/>
                </a:tc>
                <a:tc>
                  <a:txBody>
                    <a:bodyPr/>
                    <a:lstStyle/>
                    <a:p>
                      <a:pPr>
                        <a:buNone/>
                      </a:pPr>
                      <a:r>
                        <a:rPr lang="en-IN">
                          <a:latin typeface="Times New Roman" panose="02020603050405020304" pitchFamily="18" charset="0"/>
                          <a:cs typeface="Times New Roman" panose="02020603050405020304" pitchFamily="18" charset="0"/>
                        </a:rPr>
                        <a:t>2.852</a:t>
                      </a:r>
                    </a:p>
                  </a:txBody>
                  <a:tcPr anchor="ctr"/>
                </a:tc>
                <a:extLst>
                  <a:ext uri="{0D108BD9-81ED-4DB2-BD59-A6C34878D82A}">
                    <a16:rowId xmlns:a16="http://schemas.microsoft.com/office/drawing/2014/main" val="10003"/>
                  </a:ext>
                </a:extLst>
              </a:tr>
              <a:tr h="768494">
                <a:tc>
                  <a:txBody>
                    <a:bodyPr/>
                    <a:lstStyle/>
                    <a:p>
                      <a:pPr>
                        <a:buNone/>
                      </a:pPr>
                      <a:r>
                        <a:rPr lang="en-IN">
                          <a:latin typeface="Times New Roman" panose="02020603050405020304" pitchFamily="18" charset="0"/>
                          <a:cs typeface="Times New Roman" panose="02020603050405020304" pitchFamily="18" charset="0"/>
                        </a:rPr>
                        <a:t>Equal Weight</a:t>
                      </a:r>
                    </a:p>
                  </a:txBody>
                  <a:tcPr anchor="ctr"/>
                </a:tc>
                <a:tc>
                  <a:txBody>
                    <a:bodyPr/>
                    <a:lstStyle/>
                    <a:p>
                      <a:pPr>
                        <a:buNone/>
                      </a:pPr>
                      <a:r>
                        <a:rPr lang="en-IN">
                          <a:latin typeface="Times New Roman" panose="02020603050405020304" pitchFamily="18" charset="0"/>
                          <a:cs typeface="Times New Roman" panose="02020603050405020304" pitchFamily="18" charset="0"/>
                        </a:rPr>
                        <a:t>16.041</a:t>
                      </a:r>
                    </a:p>
                  </a:txBody>
                  <a:tcPr anchor="ctr"/>
                </a:tc>
                <a:tc>
                  <a:txBody>
                    <a:bodyPr/>
                    <a:lstStyle/>
                    <a:p>
                      <a:pPr>
                        <a:buNone/>
                      </a:pPr>
                      <a:r>
                        <a:rPr lang="en-IN" dirty="0">
                          <a:latin typeface="Times New Roman" panose="02020603050405020304" pitchFamily="18" charset="0"/>
                          <a:cs typeface="Times New Roman" panose="02020603050405020304" pitchFamily="18" charset="0"/>
                        </a:rPr>
                        <a:t>24.404</a:t>
                      </a:r>
                    </a:p>
                  </a:txBody>
                  <a:tcPr anchor="ctr"/>
                </a:tc>
                <a:tc>
                  <a:txBody>
                    <a:bodyPr/>
                    <a:lstStyle/>
                    <a:p>
                      <a:pPr>
                        <a:buNone/>
                      </a:pPr>
                      <a:r>
                        <a:rPr lang="en-IN" dirty="0">
                          <a:latin typeface="Times New Roman" panose="02020603050405020304" pitchFamily="18" charset="0"/>
                          <a:cs typeface="Times New Roman" panose="02020603050405020304" pitchFamily="18" charset="0"/>
                        </a:rPr>
                        <a:t>0.5344</a:t>
                      </a:r>
                    </a:p>
                  </a:txBody>
                  <a:tcPr anchor="ctr"/>
                </a:tc>
                <a:tc>
                  <a:txBody>
                    <a:bodyPr/>
                    <a:lstStyle/>
                    <a:p>
                      <a:pPr>
                        <a:buNone/>
                      </a:pPr>
                      <a:r>
                        <a:rPr lang="en-IN">
                          <a:latin typeface="Times New Roman" panose="02020603050405020304" pitchFamily="18" charset="0"/>
                          <a:cs typeface="Times New Roman" panose="02020603050405020304" pitchFamily="18" charset="0"/>
                        </a:rPr>
                        <a:t>84.28</a:t>
                      </a:r>
                    </a:p>
                  </a:txBody>
                  <a:tcPr anchor="ctr"/>
                </a:tc>
                <a:tc>
                  <a:txBody>
                    <a:bodyPr/>
                    <a:lstStyle/>
                    <a:p>
                      <a:pPr>
                        <a:buNone/>
                      </a:pPr>
                      <a:r>
                        <a:rPr lang="en-IN">
                          <a:latin typeface="Times New Roman" panose="02020603050405020304" pitchFamily="18" charset="0"/>
                          <a:cs typeface="Times New Roman" panose="02020603050405020304" pitchFamily="18" charset="0"/>
                        </a:rPr>
                        <a:t>3.657</a:t>
                      </a:r>
                    </a:p>
                  </a:txBody>
                  <a:tcPr anchor="ctr"/>
                </a:tc>
                <a:extLst>
                  <a:ext uri="{0D108BD9-81ED-4DB2-BD59-A6C34878D82A}">
                    <a16:rowId xmlns:a16="http://schemas.microsoft.com/office/drawing/2014/main" val="2797703746"/>
                  </a:ext>
                </a:extLst>
              </a:tr>
              <a:tr h="1115403">
                <a:tc>
                  <a:txBody>
                    <a:bodyPr/>
                    <a:lstStyle/>
                    <a:p>
                      <a:pPr>
                        <a:buNone/>
                      </a:pPr>
                      <a:r>
                        <a:rPr lang="en-IN" dirty="0">
                          <a:latin typeface="Times New Roman" panose="02020603050405020304" pitchFamily="18" charset="0"/>
                          <a:cs typeface="Times New Roman" panose="02020603050405020304" pitchFamily="18" charset="0"/>
                        </a:rPr>
                        <a:t>Strategy</a:t>
                      </a:r>
                    </a:p>
                  </a:txBody>
                  <a:tcPr anchor="ctr"/>
                </a:tc>
                <a:tc>
                  <a:txBody>
                    <a:bodyPr/>
                    <a:lstStyle/>
                    <a:p>
                      <a:pPr>
                        <a:buNone/>
                      </a:pPr>
                      <a:r>
                        <a:rPr lang="en-IN">
                          <a:latin typeface="Times New Roman" panose="02020603050405020304" pitchFamily="18" charset="0"/>
                          <a:cs typeface="Times New Roman" panose="02020603050405020304" pitchFamily="18" charset="0"/>
                        </a:rPr>
                        <a:t>Ann.Return %</a:t>
                      </a:r>
                    </a:p>
                  </a:txBody>
                  <a:tcPr anchor="ctr"/>
                </a:tc>
                <a:tc>
                  <a:txBody>
                    <a:bodyPr/>
                    <a:lstStyle/>
                    <a:p>
                      <a:pPr>
                        <a:buNone/>
                      </a:pPr>
                      <a:r>
                        <a:rPr lang="en-IN">
                          <a:latin typeface="Times New Roman" panose="02020603050405020304" pitchFamily="18" charset="0"/>
                          <a:cs typeface="Times New Roman" panose="02020603050405020304" pitchFamily="18" charset="0"/>
                        </a:rPr>
                        <a:t>Vol %</a:t>
                      </a:r>
                    </a:p>
                  </a:txBody>
                  <a:tcPr anchor="ctr"/>
                </a:tc>
                <a:tc>
                  <a:txBody>
                    <a:bodyPr/>
                    <a:lstStyle/>
                    <a:p>
                      <a:pPr>
                        <a:buNone/>
                      </a:pPr>
                      <a:r>
                        <a:rPr lang="en-IN">
                          <a:latin typeface="Times New Roman" panose="02020603050405020304" pitchFamily="18" charset="0"/>
                          <a:cs typeface="Times New Roman" panose="02020603050405020304" pitchFamily="18" charset="0"/>
                        </a:rPr>
                        <a:t>Sharpe</a:t>
                      </a:r>
                    </a:p>
                  </a:txBody>
                  <a:tcPr anchor="ctr"/>
                </a:tc>
                <a:tc>
                  <a:txBody>
                    <a:bodyPr/>
                    <a:lstStyle/>
                    <a:p>
                      <a:pPr>
                        <a:buNone/>
                      </a:pPr>
                      <a:r>
                        <a:rPr lang="en-IN" dirty="0">
                          <a:latin typeface="Times New Roman" panose="02020603050405020304" pitchFamily="18" charset="0"/>
                          <a:cs typeface="Times New Roman" panose="02020603050405020304" pitchFamily="18" charset="0"/>
                        </a:rPr>
                        <a:t>MDD %</a:t>
                      </a:r>
                    </a:p>
                  </a:txBody>
                  <a:tcPr anchor="ctr"/>
                </a:tc>
                <a:tc>
                  <a:txBody>
                    <a:bodyPr/>
                    <a:lstStyle/>
                    <a:p>
                      <a:pPr>
                        <a:buNone/>
                      </a:pPr>
                      <a:r>
                        <a:rPr lang="en-IN" dirty="0">
                          <a:latin typeface="Times New Roman" panose="02020603050405020304" pitchFamily="18" charset="0"/>
                          <a:cs typeface="Times New Roman" panose="02020603050405020304" pitchFamily="18" charset="0"/>
                        </a:rPr>
                        <a:t>CVaR %</a:t>
                      </a:r>
                    </a:p>
                  </a:txBody>
                  <a:tcPr anchor="ctr"/>
                </a:tc>
                <a:extLst>
                  <a:ext uri="{0D108BD9-81ED-4DB2-BD59-A6C34878D82A}">
                    <a16:rowId xmlns:a16="http://schemas.microsoft.com/office/drawing/2014/main" val="1078424919"/>
                  </a:ext>
                </a:extLst>
              </a:tr>
            </a:tbl>
          </a:graphicData>
        </a:graphic>
      </p:graphicFrame>
    </p:spTree>
    <p:extLst>
      <p:ext uri="{BB962C8B-B14F-4D97-AF65-F5344CB8AC3E}">
        <p14:creationId xmlns:p14="http://schemas.microsoft.com/office/powerpoint/2010/main" val="28444116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2354E4B5-4752-15DA-DE0C-7AD68EFD6A41}"/>
            </a:ext>
          </a:extLst>
        </p:cNvPr>
        <p:cNvGrpSpPr/>
        <p:nvPr/>
      </p:nvGrpSpPr>
      <p:grpSpPr>
        <a:xfrm>
          <a:off x="0" y="0"/>
          <a:ext cx="0" cy="0"/>
          <a:chOff x="0" y="0"/>
          <a:chExt cx="0" cy="0"/>
        </a:xfrm>
      </p:grpSpPr>
      <p:sp>
        <p:nvSpPr>
          <p:cNvPr id="102" name="Google Shape;102;p3">
            <a:extLst>
              <a:ext uri="{FF2B5EF4-FFF2-40B4-BE49-F238E27FC236}">
                <a16:creationId xmlns:a16="http://schemas.microsoft.com/office/drawing/2014/main" id="{FC6C21FD-4B7A-0F49-D8F7-735DCE6B648A}"/>
              </a:ext>
            </a:extLst>
          </p:cNvPr>
          <p:cNvSpPr txBox="1">
            <a:spLocks noGrp="1"/>
          </p:cNvSpPr>
          <p:nvPr>
            <p:ph type="title"/>
          </p:nvPr>
        </p:nvSpPr>
        <p:spPr>
          <a:xfrm>
            <a:off x="1089764" y="214816"/>
            <a:ext cx="11038114" cy="665717"/>
          </a:xfrm>
          <a:prstGeom prst="rect">
            <a:avLst/>
          </a:prstGeom>
          <a:noFill/>
          <a:ln>
            <a:noFill/>
          </a:ln>
        </p:spPr>
        <p:txBody>
          <a:bodyPr spcFirstLastPara="1" wrap="square" lIns="91425" tIns="45700" rIns="91425" bIns="45700" anchor="t" anchorCtr="0">
            <a:noAutofit/>
          </a:bodyPr>
          <a:lstStyle/>
          <a:p>
            <a:pPr lvl="0" algn="l"/>
            <a:r>
              <a:rPr lang="en-IN" sz="3200" dirty="0"/>
              <a:t>CROSS-UNIVERSE VALIDATION (Paper 2)</a:t>
            </a:r>
            <a:endParaRPr sz="3200" dirty="0"/>
          </a:p>
        </p:txBody>
      </p:sp>
      <p:graphicFrame>
        <p:nvGraphicFramePr>
          <p:cNvPr id="103" name="Google Shape;103;p3">
            <a:extLst>
              <a:ext uri="{FF2B5EF4-FFF2-40B4-BE49-F238E27FC236}">
                <a16:creationId xmlns:a16="http://schemas.microsoft.com/office/drawing/2014/main" id="{DA28906A-43EF-76F8-FBD8-1EBE550A2F3C}"/>
              </a:ext>
            </a:extLst>
          </p:cNvPr>
          <p:cNvGraphicFramePr/>
          <p:nvPr/>
        </p:nvGraphicFramePr>
        <p:xfrm>
          <a:off x="816429" y="880533"/>
          <a:ext cx="11311449" cy="5648562"/>
        </p:xfrm>
        <a:graphic>
          <a:graphicData uri="http://schemas.openxmlformats.org/drawingml/2006/table">
            <a:tbl>
              <a:tblPr firstRow="1" bandRow="1">
                <a:noFill/>
                <a:tableStyleId>{48133A83-268A-4673-80D7-47B9B74EA727}</a:tableStyleId>
              </a:tblPr>
              <a:tblGrid>
                <a:gridCol w="2008257">
                  <a:extLst>
                    <a:ext uri="{9D8B030D-6E8A-4147-A177-3AD203B41FA5}">
                      <a16:colId xmlns:a16="http://schemas.microsoft.com/office/drawing/2014/main" val="20000"/>
                    </a:ext>
                  </a:extLst>
                </a:gridCol>
                <a:gridCol w="2239212">
                  <a:extLst>
                    <a:ext uri="{9D8B030D-6E8A-4147-A177-3AD203B41FA5}">
                      <a16:colId xmlns:a16="http://schemas.microsoft.com/office/drawing/2014/main" val="20001"/>
                    </a:ext>
                  </a:extLst>
                </a:gridCol>
                <a:gridCol w="1844703">
                  <a:extLst>
                    <a:ext uri="{9D8B030D-6E8A-4147-A177-3AD203B41FA5}">
                      <a16:colId xmlns:a16="http://schemas.microsoft.com/office/drawing/2014/main" val="20002"/>
                    </a:ext>
                  </a:extLst>
                </a:gridCol>
                <a:gridCol w="1720689">
                  <a:extLst>
                    <a:ext uri="{9D8B030D-6E8A-4147-A177-3AD203B41FA5}">
                      <a16:colId xmlns:a16="http://schemas.microsoft.com/office/drawing/2014/main" val="3690596373"/>
                    </a:ext>
                  </a:extLst>
                </a:gridCol>
                <a:gridCol w="1738173">
                  <a:extLst>
                    <a:ext uri="{9D8B030D-6E8A-4147-A177-3AD203B41FA5}">
                      <a16:colId xmlns:a16="http://schemas.microsoft.com/office/drawing/2014/main" val="3841398597"/>
                    </a:ext>
                  </a:extLst>
                </a:gridCol>
                <a:gridCol w="1760415">
                  <a:extLst>
                    <a:ext uri="{9D8B030D-6E8A-4147-A177-3AD203B41FA5}">
                      <a16:colId xmlns:a16="http://schemas.microsoft.com/office/drawing/2014/main" val="3168578517"/>
                    </a:ext>
                  </a:extLst>
                </a:gridCol>
              </a:tblGrid>
              <a:tr h="284154">
                <a:tc>
                  <a:txBody>
                    <a:bodyPr/>
                    <a:lstStyle/>
                    <a:p>
                      <a:pPr>
                        <a:buNone/>
                      </a:pPr>
                      <a:r>
                        <a:rPr lang="en-IN">
                          <a:latin typeface="Times New Roman" panose="02020603050405020304" pitchFamily="18" charset="0"/>
                          <a:cs typeface="Times New Roman" panose="02020603050405020304" pitchFamily="18" charset="0"/>
                        </a:rPr>
                        <a:t>ID</a:t>
                      </a:r>
                    </a:p>
                  </a:txBody>
                  <a:tcPr anchor="ctr"/>
                </a:tc>
                <a:tc>
                  <a:txBody>
                    <a:bodyPr/>
                    <a:lstStyle/>
                    <a:p>
                      <a:pPr>
                        <a:buNone/>
                      </a:pPr>
                      <a:r>
                        <a:rPr lang="en-IN">
                          <a:latin typeface="Times New Roman" panose="02020603050405020304" pitchFamily="18" charset="0"/>
                          <a:cs typeface="Times New Roman" panose="02020603050405020304" pitchFamily="18" charset="0"/>
                        </a:rPr>
                        <a:t>Sector</a:t>
                      </a:r>
                    </a:p>
                  </a:txBody>
                  <a:tcPr anchor="ctr"/>
                </a:tc>
                <a:tc>
                  <a:txBody>
                    <a:bodyPr/>
                    <a:lstStyle/>
                    <a:p>
                      <a:pPr>
                        <a:buNone/>
                      </a:pPr>
                      <a:r>
                        <a:rPr lang="en-IN">
                          <a:latin typeface="Times New Roman" panose="02020603050405020304" pitchFamily="18" charset="0"/>
                          <a:cs typeface="Times New Roman" panose="02020603050405020304" pitchFamily="18" charset="0"/>
                        </a:rPr>
                        <a:t>G-CVaR Sharpe</a:t>
                      </a:r>
                    </a:p>
                  </a:txBody>
                  <a:tcPr anchor="ctr"/>
                </a:tc>
                <a:tc>
                  <a:txBody>
                    <a:bodyPr/>
                    <a:lstStyle/>
                    <a:p>
                      <a:pPr>
                        <a:buNone/>
                      </a:pPr>
                      <a:r>
                        <a:rPr lang="en-IN">
                          <a:latin typeface="Times New Roman" panose="02020603050405020304" pitchFamily="18" charset="0"/>
                          <a:cs typeface="Times New Roman" panose="02020603050405020304" pitchFamily="18" charset="0"/>
                        </a:rPr>
                        <a:t>Std Sharpe</a:t>
                      </a:r>
                    </a:p>
                  </a:txBody>
                  <a:tcPr anchor="ctr"/>
                </a:tc>
                <a:tc>
                  <a:txBody>
                    <a:bodyPr/>
                    <a:lstStyle/>
                    <a:p>
                      <a:pPr>
                        <a:buNone/>
                      </a:pPr>
                      <a:r>
                        <a:rPr lang="en-IN">
                          <a:latin typeface="Times New Roman" panose="02020603050405020304" pitchFamily="18" charset="0"/>
                          <a:cs typeface="Times New Roman" panose="02020603050405020304" pitchFamily="18" charset="0"/>
                        </a:rPr>
                        <a:t>EqW Sharpe</a:t>
                      </a:r>
                    </a:p>
                  </a:txBody>
                  <a:tcPr anchor="ctr"/>
                </a:tc>
                <a:tc>
                  <a:txBody>
                    <a:bodyPr/>
                    <a:lstStyle/>
                    <a:p>
                      <a:pPr>
                        <a:buNone/>
                      </a:pPr>
                      <a:r>
                        <a:rPr lang="en-IN">
                          <a:latin typeface="Times New Roman" panose="02020603050405020304" pitchFamily="18" charset="0"/>
                          <a:cs typeface="Times New Roman" panose="02020603050405020304" pitchFamily="18" charset="0"/>
                        </a:rPr>
                        <a:t>G-CVaR CVaR%</a:t>
                      </a:r>
                    </a:p>
                  </a:txBody>
                  <a:tcPr anchor="ctr"/>
                </a:tc>
                <a:extLst>
                  <a:ext uri="{0D108BD9-81ED-4DB2-BD59-A6C34878D82A}">
                    <a16:rowId xmlns:a16="http://schemas.microsoft.com/office/drawing/2014/main" val="10000"/>
                  </a:ext>
                </a:extLst>
              </a:tr>
              <a:tr h="439306">
                <a:tc>
                  <a:txBody>
                    <a:bodyPr/>
                    <a:lstStyle/>
                    <a:p>
                      <a:pPr>
                        <a:buNone/>
                      </a:pPr>
                      <a:r>
                        <a:rPr lang="en-IN">
                          <a:latin typeface="Times New Roman" panose="02020603050405020304" pitchFamily="18" charset="0"/>
                          <a:cs typeface="Times New Roman" panose="02020603050405020304" pitchFamily="18" charset="0"/>
                        </a:rPr>
                        <a:t>U1</a:t>
                      </a:r>
                    </a:p>
                  </a:txBody>
                  <a:tcPr anchor="ctr"/>
                </a:tc>
                <a:tc>
                  <a:txBody>
                    <a:bodyPr/>
                    <a:lstStyle/>
                    <a:p>
                      <a:pPr>
                        <a:buNone/>
                      </a:pPr>
                      <a:r>
                        <a:rPr lang="en-IN" dirty="0">
                          <a:latin typeface="Times New Roman" panose="02020603050405020304" pitchFamily="18" charset="0"/>
                          <a:cs typeface="Times New Roman" panose="02020603050405020304" pitchFamily="18" charset="0"/>
                        </a:rPr>
                        <a:t>Technology</a:t>
                      </a:r>
                    </a:p>
                  </a:txBody>
                  <a:tcPr anchor="ctr"/>
                </a:tc>
                <a:tc>
                  <a:txBody>
                    <a:bodyPr/>
                    <a:lstStyle/>
                    <a:p>
                      <a:pPr>
                        <a:buNone/>
                      </a:pPr>
                      <a:r>
                        <a:rPr lang="en-IN">
                          <a:latin typeface="Times New Roman" panose="02020603050405020304" pitchFamily="18" charset="0"/>
                          <a:cs typeface="Times New Roman" panose="02020603050405020304" pitchFamily="18" charset="0"/>
                        </a:rPr>
                        <a:t>0.5644</a:t>
                      </a:r>
                    </a:p>
                  </a:txBody>
                  <a:tcPr anchor="ctr"/>
                </a:tc>
                <a:tc>
                  <a:txBody>
                    <a:bodyPr/>
                    <a:lstStyle/>
                    <a:p>
                      <a:pPr>
                        <a:buNone/>
                      </a:pPr>
                      <a:r>
                        <a:rPr lang="en-IN">
                          <a:latin typeface="Times New Roman" panose="02020603050405020304" pitchFamily="18" charset="0"/>
                          <a:cs typeface="Times New Roman" panose="02020603050405020304" pitchFamily="18" charset="0"/>
                        </a:rPr>
                        <a:t>0.5635</a:t>
                      </a:r>
                    </a:p>
                  </a:txBody>
                  <a:tcPr anchor="ctr"/>
                </a:tc>
                <a:tc>
                  <a:txBody>
                    <a:bodyPr/>
                    <a:lstStyle/>
                    <a:p>
                      <a:pPr>
                        <a:buNone/>
                      </a:pPr>
                      <a:r>
                        <a:rPr lang="en-IN">
                          <a:latin typeface="Times New Roman" panose="02020603050405020304" pitchFamily="18" charset="0"/>
                          <a:cs typeface="Times New Roman" panose="02020603050405020304" pitchFamily="18" charset="0"/>
                        </a:rPr>
                        <a:t>0.5344</a:t>
                      </a:r>
                    </a:p>
                  </a:txBody>
                  <a:tcPr anchor="ctr"/>
                </a:tc>
                <a:tc>
                  <a:txBody>
                    <a:bodyPr/>
                    <a:lstStyle/>
                    <a:p>
                      <a:pPr>
                        <a:buNone/>
                      </a:pPr>
                      <a:r>
                        <a:rPr lang="en-IN">
                          <a:latin typeface="Times New Roman" panose="02020603050405020304" pitchFamily="18" charset="0"/>
                          <a:cs typeface="Times New Roman" panose="02020603050405020304" pitchFamily="18" charset="0"/>
                        </a:rPr>
                        <a:t>2.849</a:t>
                      </a:r>
                    </a:p>
                  </a:txBody>
                  <a:tcPr anchor="ctr"/>
                </a:tc>
                <a:extLst>
                  <a:ext uri="{0D108BD9-81ED-4DB2-BD59-A6C34878D82A}">
                    <a16:rowId xmlns:a16="http://schemas.microsoft.com/office/drawing/2014/main" val="10001"/>
                  </a:ext>
                </a:extLst>
              </a:tr>
              <a:tr h="439306">
                <a:tc>
                  <a:txBody>
                    <a:bodyPr/>
                    <a:lstStyle/>
                    <a:p>
                      <a:pPr>
                        <a:buNone/>
                      </a:pPr>
                      <a:r>
                        <a:rPr lang="en-IN">
                          <a:latin typeface="Times New Roman" panose="02020603050405020304" pitchFamily="18" charset="0"/>
                          <a:cs typeface="Times New Roman" panose="02020603050405020304" pitchFamily="18" charset="0"/>
                        </a:rPr>
                        <a:t>U2</a:t>
                      </a:r>
                    </a:p>
                  </a:txBody>
                  <a:tcPr anchor="ctr"/>
                </a:tc>
                <a:tc>
                  <a:txBody>
                    <a:bodyPr/>
                    <a:lstStyle/>
                    <a:p>
                      <a:pPr>
                        <a:buNone/>
                      </a:pPr>
                      <a:r>
                        <a:rPr lang="en-IN">
                          <a:latin typeface="Times New Roman" panose="02020603050405020304" pitchFamily="18" charset="0"/>
                          <a:cs typeface="Times New Roman" panose="02020603050405020304" pitchFamily="18" charset="0"/>
                        </a:rPr>
                        <a:t>Financial Services</a:t>
                      </a:r>
                    </a:p>
                  </a:txBody>
                  <a:tcPr anchor="ctr"/>
                </a:tc>
                <a:tc>
                  <a:txBody>
                    <a:bodyPr/>
                    <a:lstStyle/>
                    <a:p>
                      <a:pPr>
                        <a:buNone/>
                      </a:pPr>
                      <a:r>
                        <a:rPr lang="en-IN" dirty="0">
                          <a:latin typeface="Times New Roman" panose="02020603050405020304" pitchFamily="18" charset="0"/>
                          <a:cs typeface="Times New Roman" panose="02020603050405020304" pitchFamily="18" charset="0"/>
                        </a:rPr>
                        <a:t>0.3435</a:t>
                      </a:r>
                    </a:p>
                  </a:txBody>
                  <a:tcPr anchor="ctr"/>
                </a:tc>
                <a:tc>
                  <a:txBody>
                    <a:bodyPr/>
                    <a:lstStyle/>
                    <a:p>
                      <a:pPr>
                        <a:buNone/>
                      </a:pPr>
                      <a:r>
                        <a:rPr lang="en-IN">
                          <a:latin typeface="Times New Roman" panose="02020603050405020304" pitchFamily="18" charset="0"/>
                          <a:cs typeface="Times New Roman" panose="02020603050405020304" pitchFamily="18" charset="0"/>
                        </a:rPr>
                        <a:t>0.3606</a:t>
                      </a:r>
                    </a:p>
                  </a:txBody>
                  <a:tcPr anchor="ctr"/>
                </a:tc>
                <a:tc>
                  <a:txBody>
                    <a:bodyPr/>
                    <a:lstStyle/>
                    <a:p>
                      <a:pPr>
                        <a:buNone/>
                      </a:pPr>
                      <a:r>
                        <a:rPr lang="en-IN">
                          <a:latin typeface="Times New Roman" panose="02020603050405020304" pitchFamily="18" charset="0"/>
                          <a:cs typeface="Times New Roman" panose="02020603050405020304" pitchFamily="18" charset="0"/>
                        </a:rPr>
                        <a:t>0.2421</a:t>
                      </a:r>
                    </a:p>
                  </a:txBody>
                  <a:tcPr anchor="ctr"/>
                </a:tc>
                <a:tc>
                  <a:txBody>
                    <a:bodyPr/>
                    <a:lstStyle/>
                    <a:p>
                      <a:pPr>
                        <a:buNone/>
                      </a:pPr>
                      <a:r>
                        <a:rPr lang="en-IN">
                          <a:latin typeface="Times New Roman" panose="02020603050405020304" pitchFamily="18" charset="0"/>
                          <a:cs typeface="Times New Roman" panose="02020603050405020304" pitchFamily="18" charset="0"/>
                        </a:rPr>
                        <a:t>3.304</a:t>
                      </a:r>
                    </a:p>
                  </a:txBody>
                  <a:tcPr anchor="ctr"/>
                </a:tc>
                <a:extLst>
                  <a:ext uri="{0D108BD9-81ED-4DB2-BD59-A6C34878D82A}">
                    <a16:rowId xmlns:a16="http://schemas.microsoft.com/office/drawing/2014/main" val="10002"/>
                  </a:ext>
                </a:extLst>
              </a:tr>
              <a:tr h="446515">
                <a:tc>
                  <a:txBody>
                    <a:bodyPr/>
                    <a:lstStyle/>
                    <a:p>
                      <a:pPr>
                        <a:buNone/>
                      </a:pPr>
                      <a:r>
                        <a:rPr lang="en-IN">
                          <a:latin typeface="Times New Roman" panose="02020603050405020304" pitchFamily="18" charset="0"/>
                          <a:cs typeface="Times New Roman" panose="02020603050405020304" pitchFamily="18" charset="0"/>
                        </a:rPr>
                        <a:t>U3</a:t>
                      </a:r>
                    </a:p>
                  </a:txBody>
                  <a:tcPr anchor="ctr"/>
                </a:tc>
                <a:tc>
                  <a:txBody>
                    <a:bodyPr/>
                    <a:lstStyle/>
                    <a:p>
                      <a:pPr>
                        <a:buNone/>
                      </a:pPr>
                      <a:r>
                        <a:rPr lang="en-IN" dirty="0">
                          <a:latin typeface="Times New Roman" panose="02020603050405020304" pitchFamily="18" charset="0"/>
                          <a:cs typeface="Times New Roman" panose="02020603050405020304" pitchFamily="18" charset="0"/>
                        </a:rPr>
                        <a:t>Healthcare</a:t>
                      </a:r>
                    </a:p>
                  </a:txBody>
                  <a:tcPr anchor="ctr"/>
                </a:tc>
                <a:tc>
                  <a:txBody>
                    <a:bodyPr/>
                    <a:lstStyle/>
                    <a:p>
                      <a:pPr>
                        <a:buNone/>
                      </a:pPr>
                      <a:r>
                        <a:rPr lang="en-IN">
                          <a:latin typeface="Times New Roman" panose="02020603050405020304" pitchFamily="18" charset="0"/>
                          <a:cs typeface="Times New Roman" panose="02020603050405020304" pitchFamily="18" charset="0"/>
                        </a:rPr>
                        <a:t>0.4532</a:t>
                      </a:r>
                    </a:p>
                  </a:txBody>
                  <a:tcPr anchor="ctr"/>
                </a:tc>
                <a:tc>
                  <a:txBody>
                    <a:bodyPr/>
                    <a:lstStyle/>
                    <a:p>
                      <a:pPr>
                        <a:buNone/>
                      </a:pPr>
                      <a:r>
                        <a:rPr lang="en-IN">
                          <a:latin typeface="Times New Roman" panose="02020603050405020304" pitchFamily="18" charset="0"/>
                          <a:cs typeface="Times New Roman" panose="02020603050405020304" pitchFamily="18" charset="0"/>
                        </a:rPr>
                        <a:t>0.4690</a:t>
                      </a:r>
                    </a:p>
                  </a:txBody>
                  <a:tcPr anchor="ctr"/>
                </a:tc>
                <a:tc>
                  <a:txBody>
                    <a:bodyPr/>
                    <a:lstStyle/>
                    <a:p>
                      <a:pPr>
                        <a:buNone/>
                      </a:pPr>
                      <a:r>
                        <a:rPr lang="en-IN">
                          <a:latin typeface="Times New Roman" panose="02020603050405020304" pitchFamily="18" charset="0"/>
                          <a:cs typeface="Times New Roman" panose="02020603050405020304" pitchFamily="18" charset="0"/>
                        </a:rPr>
                        <a:t>0.3568</a:t>
                      </a:r>
                    </a:p>
                  </a:txBody>
                  <a:tcPr anchor="ctr"/>
                </a:tc>
                <a:tc>
                  <a:txBody>
                    <a:bodyPr/>
                    <a:lstStyle/>
                    <a:p>
                      <a:pPr>
                        <a:buNone/>
                      </a:pPr>
                      <a:r>
                        <a:rPr lang="en-IN">
                          <a:latin typeface="Times New Roman" panose="02020603050405020304" pitchFamily="18" charset="0"/>
                          <a:cs typeface="Times New Roman" panose="02020603050405020304" pitchFamily="18" charset="0"/>
                        </a:rPr>
                        <a:t>2.167</a:t>
                      </a:r>
                    </a:p>
                  </a:txBody>
                  <a:tcPr anchor="ctr"/>
                </a:tc>
                <a:extLst>
                  <a:ext uri="{0D108BD9-81ED-4DB2-BD59-A6C34878D82A}">
                    <a16:rowId xmlns:a16="http://schemas.microsoft.com/office/drawing/2014/main" val="10003"/>
                  </a:ext>
                </a:extLst>
              </a:tr>
              <a:tr h="446515">
                <a:tc>
                  <a:txBody>
                    <a:bodyPr/>
                    <a:lstStyle/>
                    <a:p>
                      <a:pPr>
                        <a:buNone/>
                      </a:pPr>
                      <a:r>
                        <a:rPr lang="en-IN">
                          <a:latin typeface="Times New Roman" panose="02020603050405020304" pitchFamily="18" charset="0"/>
                          <a:cs typeface="Times New Roman" panose="02020603050405020304" pitchFamily="18" charset="0"/>
                        </a:rPr>
                        <a:t>U4</a:t>
                      </a:r>
                    </a:p>
                  </a:txBody>
                  <a:tcPr anchor="ctr"/>
                </a:tc>
                <a:tc>
                  <a:txBody>
                    <a:bodyPr/>
                    <a:lstStyle/>
                    <a:p>
                      <a:pPr>
                        <a:buNone/>
                      </a:pPr>
                      <a:r>
                        <a:rPr lang="en-IN">
                          <a:latin typeface="Times New Roman" panose="02020603050405020304" pitchFamily="18" charset="0"/>
                          <a:cs typeface="Times New Roman" panose="02020603050405020304" pitchFamily="18" charset="0"/>
                        </a:rPr>
                        <a:t>Energy</a:t>
                      </a:r>
                    </a:p>
                  </a:txBody>
                  <a:tcPr anchor="ctr"/>
                </a:tc>
                <a:tc>
                  <a:txBody>
                    <a:bodyPr/>
                    <a:lstStyle/>
                    <a:p>
                      <a:pPr>
                        <a:buNone/>
                      </a:pPr>
                      <a:r>
                        <a:rPr lang="en-IN">
                          <a:latin typeface="Times New Roman" panose="02020603050405020304" pitchFamily="18" charset="0"/>
                          <a:cs typeface="Times New Roman" panose="02020603050405020304" pitchFamily="18" charset="0"/>
                        </a:rPr>
                        <a:t>0.7779</a:t>
                      </a:r>
                    </a:p>
                  </a:txBody>
                  <a:tcPr anchor="ctr"/>
                </a:tc>
                <a:tc>
                  <a:txBody>
                    <a:bodyPr/>
                    <a:lstStyle/>
                    <a:p>
                      <a:pPr>
                        <a:buNone/>
                      </a:pPr>
                      <a:r>
                        <a:rPr lang="en-IN">
                          <a:latin typeface="Times New Roman" panose="02020603050405020304" pitchFamily="18" charset="0"/>
                          <a:cs typeface="Times New Roman" panose="02020603050405020304" pitchFamily="18" charset="0"/>
                        </a:rPr>
                        <a:t>0.7905</a:t>
                      </a:r>
                    </a:p>
                  </a:txBody>
                  <a:tcPr anchor="ctr"/>
                </a:tc>
                <a:tc>
                  <a:txBody>
                    <a:bodyPr/>
                    <a:lstStyle/>
                    <a:p>
                      <a:pPr>
                        <a:buNone/>
                      </a:pPr>
                      <a:r>
                        <a:rPr lang="en-IN">
                          <a:latin typeface="Times New Roman" panose="02020603050405020304" pitchFamily="18" charset="0"/>
                          <a:cs typeface="Times New Roman" panose="02020603050405020304" pitchFamily="18" charset="0"/>
                        </a:rPr>
                        <a:t>0.2759</a:t>
                      </a:r>
                    </a:p>
                  </a:txBody>
                  <a:tcPr anchor="ctr"/>
                </a:tc>
                <a:tc>
                  <a:txBody>
                    <a:bodyPr/>
                    <a:lstStyle/>
                    <a:p>
                      <a:pPr>
                        <a:buNone/>
                      </a:pPr>
                      <a:r>
                        <a:rPr lang="en-IN">
                          <a:latin typeface="Times New Roman" panose="02020603050405020304" pitchFamily="18" charset="0"/>
                          <a:cs typeface="Times New Roman" panose="02020603050405020304" pitchFamily="18" charset="0"/>
                        </a:rPr>
                        <a:t>2.357</a:t>
                      </a:r>
                    </a:p>
                  </a:txBody>
                  <a:tcPr anchor="ctr"/>
                </a:tc>
                <a:extLst>
                  <a:ext uri="{0D108BD9-81ED-4DB2-BD59-A6C34878D82A}">
                    <a16:rowId xmlns:a16="http://schemas.microsoft.com/office/drawing/2014/main" val="1230021275"/>
                  </a:ext>
                </a:extLst>
              </a:tr>
              <a:tr h="446515">
                <a:tc>
                  <a:txBody>
                    <a:bodyPr/>
                    <a:lstStyle/>
                    <a:p>
                      <a:pPr>
                        <a:buNone/>
                      </a:pPr>
                      <a:r>
                        <a:rPr lang="en-IN">
                          <a:latin typeface="Times New Roman" panose="02020603050405020304" pitchFamily="18" charset="0"/>
                          <a:cs typeface="Times New Roman" panose="02020603050405020304" pitchFamily="18" charset="0"/>
                        </a:rPr>
                        <a:t>U5</a:t>
                      </a:r>
                    </a:p>
                  </a:txBody>
                  <a:tcPr anchor="ctr"/>
                </a:tc>
                <a:tc>
                  <a:txBody>
                    <a:bodyPr/>
                    <a:lstStyle/>
                    <a:p>
                      <a:pPr>
                        <a:buNone/>
                      </a:pPr>
                      <a:r>
                        <a:rPr lang="en-IN">
                          <a:latin typeface="Times New Roman" panose="02020603050405020304" pitchFamily="18" charset="0"/>
                          <a:cs typeface="Times New Roman" panose="02020603050405020304" pitchFamily="18" charset="0"/>
                        </a:rPr>
                        <a:t>Consumer Staples</a:t>
                      </a:r>
                    </a:p>
                  </a:txBody>
                  <a:tcPr anchor="ctr"/>
                </a:tc>
                <a:tc>
                  <a:txBody>
                    <a:bodyPr/>
                    <a:lstStyle/>
                    <a:p>
                      <a:pPr>
                        <a:buNone/>
                      </a:pPr>
                      <a:r>
                        <a:rPr lang="en-IN">
                          <a:latin typeface="Times New Roman" panose="02020603050405020304" pitchFamily="18" charset="0"/>
                          <a:cs typeface="Times New Roman" panose="02020603050405020304" pitchFamily="18" charset="0"/>
                        </a:rPr>
                        <a:t>0.8869</a:t>
                      </a:r>
                    </a:p>
                  </a:txBody>
                  <a:tcPr anchor="ctr"/>
                </a:tc>
                <a:tc>
                  <a:txBody>
                    <a:bodyPr/>
                    <a:lstStyle/>
                    <a:p>
                      <a:pPr>
                        <a:buNone/>
                      </a:pPr>
                      <a:r>
                        <a:rPr lang="en-IN">
                          <a:latin typeface="Times New Roman" panose="02020603050405020304" pitchFamily="18" charset="0"/>
                          <a:cs typeface="Times New Roman" panose="02020603050405020304" pitchFamily="18" charset="0"/>
                        </a:rPr>
                        <a:t>0.8962</a:t>
                      </a:r>
                    </a:p>
                  </a:txBody>
                  <a:tcPr anchor="ctr"/>
                </a:tc>
                <a:tc>
                  <a:txBody>
                    <a:bodyPr/>
                    <a:lstStyle/>
                    <a:p>
                      <a:pPr>
                        <a:buNone/>
                      </a:pPr>
                      <a:r>
                        <a:rPr lang="en-IN">
                          <a:latin typeface="Times New Roman" panose="02020603050405020304" pitchFamily="18" charset="0"/>
                          <a:cs typeface="Times New Roman" panose="02020603050405020304" pitchFamily="18" charset="0"/>
                        </a:rPr>
                        <a:t>0.4950</a:t>
                      </a:r>
                    </a:p>
                  </a:txBody>
                  <a:tcPr anchor="ctr"/>
                </a:tc>
                <a:tc>
                  <a:txBody>
                    <a:bodyPr/>
                    <a:lstStyle/>
                    <a:p>
                      <a:pPr>
                        <a:buNone/>
                      </a:pPr>
                      <a:r>
                        <a:rPr lang="en-IN">
                          <a:latin typeface="Times New Roman" panose="02020603050405020304" pitchFamily="18" charset="0"/>
                          <a:cs typeface="Times New Roman" panose="02020603050405020304" pitchFamily="18" charset="0"/>
                        </a:rPr>
                        <a:t>1.626</a:t>
                      </a:r>
                    </a:p>
                  </a:txBody>
                  <a:tcPr anchor="ctr"/>
                </a:tc>
                <a:extLst>
                  <a:ext uri="{0D108BD9-81ED-4DB2-BD59-A6C34878D82A}">
                    <a16:rowId xmlns:a16="http://schemas.microsoft.com/office/drawing/2014/main" val="1132237256"/>
                  </a:ext>
                </a:extLst>
              </a:tr>
              <a:tr h="446515">
                <a:tc>
                  <a:txBody>
                    <a:bodyPr/>
                    <a:lstStyle/>
                    <a:p>
                      <a:pPr>
                        <a:buNone/>
                      </a:pPr>
                      <a:r>
                        <a:rPr lang="en-IN">
                          <a:latin typeface="Times New Roman" panose="02020603050405020304" pitchFamily="18" charset="0"/>
                          <a:cs typeface="Times New Roman" panose="02020603050405020304" pitchFamily="18" charset="0"/>
                        </a:rPr>
                        <a:t>U6</a:t>
                      </a:r>
                    </a:p>
                  </a:txBody>
                  <a:tcPr anchor="ctr"/>
                </a:tc>
                <a:tc>
                  <a:txBody>
                    <a:bodyPr/>
                    <a:lstStyle/>
                    <a:p>
                      <a:pPr>
                        <a:buNone/>
                      </a:pPr>
                      <a:r>
                        <a:rPr lang="en-IN">
                          <a:latin typeface="Times New Roman" panose="02020603050405020304" pitchFamily="18" charset="0"/>
                          <a:cs typeface="Times New Roman" panose="02020603050405020304" pitchFamily="18" charset="0"/>
                        </a:rPr>
                        <a:t>Cons. Discretionary</a:t>
                      </a:r>
                    </a:p>
                  </a:txBody>
                  <a:tcPr anchor="ctr"/>
                </a:tc>
                <a:tc>
                  <a:txBody>
                    <a:bodyPr/>
                    <a:lstStyle/>
                    <a:p>
                      <a:pPr>
                        <a:buNone/>
                      </a:pPr>
                      <a:r>
                        <a:rPr lang="en-IN">
                          <a:latin typeface="Times New Roman" panose="02020603050405020304" pitchFamily="18" charset="0"/>
                          <a:cs typeface="Times New Roman" panose="02020603050405020304" pitchFamily="18" charset="0"/>
                        </a:rPr>
                        <a:t>0.6075</a:t>
                      </a:r>
                    </a:p>
                  </a:txBody>
                  <a:tcPr anchor="ctr"/>
                </a:tc>
                <a:tc>
                  <a:txBody>
                    <a:bodyPr/>
                    <a:lstStyle/>
                    <a:p>
                      <a:pPr>
                        <a:buNone/>
                      </a:pPr>
                      <a:r>
                        <a:rPr lang="en-IN">
                          <a:latin typeface="Times New Roman" panose="02020603050405020304" pitchFamily="18" charset="0"/>
                          <a:cs typeface="Times New Roman" panose="02020603050405020304" pitchFamily="18" charset="0"/>
                        </a:rPr>
                        <a:t>0.6214</a:t>
                      </a:r>
                    </a:p>
                  </a:txBody>
                  <a:tcPr anchor="ctr"/>
                </a:tc>
                <a:tc>
                  <a:txBody>
                    <a:bodyPr/>
                    <a:lstStyle/>
                    <a:p>
                      <a:pPr>
                        <a:buNone/>
                      </a:pPr>
                      <a:r>
                        <a:rPr lang="en-IN">
                          <a:latin typeface="Times New Roman" panose="02020603050405020304" pitchFamily="18" charset="0"/>
                          <a:cs typeface="Times New Roman" panose="02020603050405020304" pitchFamily="18" charset="0"/>
                        </a:rPr>
                        <a:t>0.2423</a:t>
                      </a:r>
                    </a:p>
                  </a:txBody>
                  <a:tcPr anchor="ctr"/>
                </a:tc>
                <a:tc>
                  <a:txBody>
                    <a:bodyPr/>
                    <a:lstStyle/>
                    <a:p>
                      <a:pPr>
                        <a:buNone/>
                      </a:pPr>
                      <a:r>
                        <a:rPr lang="en-IN">
                          <a:latin typeface="Times New Roman" panose="02020603050405020304" pitchFamily="18" charset="0"/>
                          <a:cs typeface="Times New Roman" panose="02020603050405020304" pitchFamily="18" charset="0"/>
                        </a:rPr>
                        <a:t>2.449</a:t>
                      </a:r>
                    </a:p>
                  </a:txBody>
                  <a:tcPr anchor="ctr"/>
                </a:tc>
                <a:extLst>
                  <a:ext uri="{0D108BD9-81ED-4DB2-BD59-A6C34878D82A}">
                    <a16:rowId xmlns:a16="http://schemas.microsoft.com/office/drawing/2014/main" val="314814939"/>
                  </a:ext>
                </a:extLst>
              </a:tr>
              <a:tr h="446515">
                <a:tc>
                  <a:txBody>
                    <a:bodyPr/>
                    <a:lstStyle/>
                    <a:p>
                      <a:pPr>
                        <a:buNone/>
                      </a:pPr>
                      <a:r>
                        <a:rPr lang="en-IN">
                          <a:latin typeface="Times New Roman" panose="02020603050405020304" pitchFamily="18" charset="0"/>
                          <a:cs typeface="Times New Roman" panose="02020603050405020304" pitchFamily="18" charset="0"/>
                        </a:rPr>
                        <a:t>U7</a:t>
                      </a:r>
                    </a:p>
                  </a:txBody>
                  <a:tcPr anchor="ctr"/>
                </a:tc>
                <a:tc>
                  <a:txBody>
                    <a:bodyPr/>
                    <a:lstStyle/>
                    <a:p>
                      <a:pPr>
                        <a:buNone/>
                      </a:pPr>
                      <a:r>
                        <a:rPr lang="en-IN" dirty="0">
                          <a:latin typeface="Times New Roman" panose="02020603050405020304" pitchFamily="18" charset="0"/>
                          <a:cs typeface="Times New Roman" panose="02020603050405020304" pitchFamily="18" charset="0"/>
                        </a:rPr>
                        <a:t>Industrials</a:t>
                      </a:r>
                    </a:p>
                  </a:txBody>
                  <a:tcPr anchor="ctr"/>
                </a:tc>
                <a:tc>
                  <a:txBody>
                    <a:bodyPr/>
                    <a:lstStyle/>
                    <a:p>
                      <a:pPr>
                        <a:buNone/>
                      </a:pPr>
                      <a:r>
                        <a:rPr lang="en-IN">
                          <a:latin typeface="Times New Roman" panose="02020603050405020304" pitchFamily="18" charset="0"/>
                          <a:cs typeface="Times New Roman" panose="02020603050405020304" pitchFamily="18" charset="0"/>
                        </a:rPr>
                        <a:t>1.0122</a:t>
                      </a:r>
                    </a:p>
                  </a:txBody>
                  <a:tcPr anchor="ctr"/>
                </a:tc>
                <a:tc>
                  <a:txBody>
                    <a:bodyPr/>
                    <a:lstStyle/>
                    <a:p>
                      <a:pPr>
                        <a:buNone/>
                      </a:pPr>
                      <a:r>
                        <a:rPr lang="en-IN">
                          <a:latin typeface="Times New Roman" panose="02020603050405020304" pitchFamily="18" charset="0"/>
                          <a:cs typeface="Times New Roman" panose="02020603050405020304" pitchFamily="18" charset="0"/>
                        </a:rPr>
                        <a:t>1.0207</a:t>
                      </a:r>
                    </a:p>
                  </a:txBody>
                  <a:tcPr anchor="ctr"/>
                </a:tc>
                <a:tc>
                  <a:txBody>
                    <a:bodyPr/>
                    <a:lstStyle/>
                    <a:p>
                      <a:pPr>
                        <a:buNone/>
                      </a:pPr>
                      <a:r>
                        <a:rPr lang="en-IN">
                          <a:latin typeface="Times New Roman" panose="02020603050405020304" pitchFamily="18" charset="0"/>
                          <a:cs typeface="Times New Roman" panose="02020603050405020304" pitchFamily="18" charset="0"/>
                        </a:rPr>
                        <a:t>0.5167</a:t>
                      </a:r>
                    </a:p>
                  </a:txBody>
                  <a:tcPr anchor="ctr"/>
                </a:tc>
                <a:tc>
                  <a:txBody>
                    <a:bodyPr/>
                    <a:lstStyle/>
                    <a:p>
                      <a:pPr>
                        <a:buNone/>
                      </a:pPr>
                      <a:r>
                        <a:rPr lang="en-IN">
                          <a:latin typeface="Times New Roman" panose="02020603050405020304" pitchFamily="18" charset="0"/>
                          <a:cs typeface="Times New Roman" panose="02020603050405020304" pitchFamily="18" charset="0"/>
                        </a:rPr>
                        <a:t>1.628</a:t>
                      </a:r>
                    </a:p>
                  </a:txBody>
                  <a:tcPr anchor="ctr"/>
                </a:tc>
                <a:extLst>
                  <a:ext uri="{0D108BD9-81ED-4DB2-BD59-A6C34878D82A}">
                    <a16:rowId xmlns:a16="http://schemas.microsoft.com/office/drawing/2014/main" val="54476523"/>
                  </a:ext>
                </a:extLst>
              </a:tr>
              <a:tr h="446515">
                <a:tc>
                  <a:txBody>
                    <a:bodyPr/>
                    <a:lstStyle/>
                    <a:p>
                      <a:pPr>
                        <a:buNone/>
                      </a:pPr>
                      <a:r>
                        <a:rPr lang="en-IN">
                          <a:latin typeface="Times New Roman" panose="02020603050405020304" pitchFamily="18" charset="0"/>
                          <a:cs typeface="Times New Roman" panose="02020603050405020304" pitchFamily="18" charset="0"/>
                        </a:rPr>
                        <a:t>U8</a:t>
                      </a:r>
                    </a:p>
                  </a:txBody>
                  <a:tcPr anchor="ctr"/>
                </a:tc>
                <a:tc>
                  <a:txBody>
                    <a:bodyPr/>
                    <a:lstStyle/>
                    <a:p>
                      <a:pPr>
                        <a:buNone/>
                      </a:pPr>
                      <a:r>
                        <a:rPr lang="en-IN" dirty="0">
                          <a:latin typeface="Times New Roman" panose="02020603050405020304" pitchFamily="18" charset="0"/>
                          <a:cs typeface="Times New Roman" panose="02020603050405020304" pitchFamily="18" charset="0"/>
                        </a:rPr>
                        <a:t>Materials</a:t>
                      </a:r>
                    </a:p>
                  </a:txBody>
                  <a:tcPr anchor="ctr"/>
                </a:tc>
                <a:tc>
                  <a:txBody>
                    <a:bodyPr/>
                    <a:lstStyle/>
                    <a:p>
                      <a:pPr>
                        <a:buNone/>
                      </a:pPr>
                      <a:r>
                        <a:rPr lang="en-IN">
                          <a:latin typeface="Times New Roman" panose="02020603050405020304" pitchFamily="18" charset="0"/>
                          <a:cs typeface="Times New Roman" panose="02020603050405020304" pitchFamily="18" charset="0"/>
                        </a:rPr>
                        <a:t>0.5402</a:t>
                      </a:r>
                    </a:p>
                  </a:txBody>
                  <a:tcPr anchor="ctr"/>
                </a:tc>
                <a:tc>
                  <a:txBody>
                    <a:bodyPr/>
                    <a:lstStyle/>
                    <a:p>
                      <a:pPr>
                        <a:buNone/>
                      </a:pPr>
                      <a:r>
                        <a:rPr lang="en-IN">
                          <a:latin typeface="Times New Roman" panose="02020603050405020304" pitchFamily="18" charset="0"/>
                          <a:cs typeface="Times New Roman" panose="02020603050405020304" pitchFamily="18" charset="0"/>
                        </a:rPr>
                        <a:t>0.5400</a:t>
                      </a:r>
                    </a:p>
                  </a:txBody>
                  <a:tcPr anchor="ctr"/>
                </a:tc>
                <a:tc>
                  <a:txBody>
                    <a:bodyPr/>
                    <a:lstStyle/>
                    <a:p>
                      <a:pPr>
                        <a:buNone/>
                      </a:pPr>
                      <a:r>
                        <a:rPr lang="en-IN">
                          <a:latin typeface="Times New Roman" panose="02020603050405020304" pitchFamily="18" charset="0"/>
                          <a:cs typeface="Times New Roman" panose="02020603050405020304" pitchFamily="18" charset="0"/>
                        </a:rPr>
                        <a:t>0.2873</a:t>
                      </a:r>
                    </a:p>
                  </a:txBody>
                  <a:tcPr anchor="ctr"/>
                </a:tc>
                <a:tc>
                  <a:txBody>
                    <a:bodyPr/>
                    <a:lstStyle/>
                    <a:p>
                      <a:pPr>
                        <a:buNone/>
                      </a:pPr>
                      <a:r>
                        <a:rPr lang="en-IN">
                          <a:latin typeface="Times New Roman" panose="02020603050405020304" pitchFamily="18" charset="0"/>
                          <a:cs typeface="Times New Roman" panose="02020603050405020304" pitchFamily="18" charset="0"/>
                        </a:rPr>
                        <a:t>2.053</a:t>
                      </a:r>
                    </a:p>
                  </a:txBody>
                  <a:tcPr anchor="ctr"/>
                </a:tc>
                <a:extLst>
                  <a:ext uri="{0D108BD9-81ED-4DB2-BD59-A6C34878D82A}">
                    <a16:rowId xmlns:a16="http://schemas.microsoft.com/office/drawing/2014/main" val="927742251"/>
                  </a:ext>
                </a:extLst>
              </a:tr>
              <a:tr h="446515">
                <a:tc>
                  <a:txBody>
                    <a:bodyPr/>
                    <a:lstStyle/>
                    <a:p>
                      <a:pPr>
                        <a:buNone/>
                      </a:pPr>
                      <a:r>
                        <a:rPr lang="en-IN">
                          <a:latin typeface="Times New Roman" panose="02020603050405020304" pitchFamily="18" charset="0"/>
                          <a:cs typeface="Times New Roman" panose="02020603050405020304" pitchFamily="18" charset="0"/>
                        </a:rPr>
                        <a:t>U9</a:t>
                      </a:r>
                    </a:p>
                  </a:txBody>
                  <a:tcPr anchor="ctr"/>
                </a:tc>
                <a:tc>
                  <a:txBody>
                    <a:bodyPr/>
                    <a:lstStyle/>
                    <a:p>
                      <a:pPr>
                        <a:buNone/>
                      </a:pPr>
                      <a:r>
                        <a:rPr lang="en-IN">
                          <a:latin typeface="Times New Roman" panose="02020603050405020304" pitchFamily="18" charset="0"/>
                          <a:cs typeface="Times New Roman" panose="02020603050405020304" pitchFamily="18" charset="0"/>
                        </a:rPr>
                        <a:t>Utilities</a:t>
                      </a:r>
                    </a:p>
                  </a:txBody>
                  <a:tcPr anchor="ctr"/>
                </a:tc>
                <a:tc>
                  <a:txBody>
                    <a:bodyPr/>
                    <a:lstStyle/>
                    <a:p>
                      <a:pPr>
                        <a:buNone/>
                      </a:pPr>
                      <a:r>
                        <a:rPr lang="en-IN">
                          <a:latin typeface="Times New Roman" panose="02020603050405020304" pitchFamily="18" charset="0"/>
                          <a:cs typeface="Times New Roman" panose="02020603050405020304" pitchFamily="18" charset="0"/>
                        </a:rPr>
                        <a:t>0.7421</a:t>
                      </a:r>
                    </a:p>
                  </a:txBody>
                  <a:tcPr anchor="ctr"/>
                </a:tc>
                <a:tc>
                  <a:txBody>
                    <a:bodyPr/>
                    <a:lstStyle/>
                    <a:p>
                      <a:pPr>
                        <a:buNone/>
                      </a:pPr>
                      <a:r>
                        <a:rPr lang="en-IN">
                          <a:latin typeface="Times New Roman" panose="02020603050405020304" pitchFamily="18" charset="0"/>
                          <a:cs typeface="Times New Roman" panose="02020603050405020304" pitchFamily="18" charset="0"/>
                        </a:rPr>
                        <a:t>0.7450</a:t>
                      </a:r>
                    </a:p>
                  </a:txBody>
                  <a:tcPr anchor="ctr"/>
                </a:tc>
                <a:tc>
                  <a:txBody>
                    <a:bodyPr/>
                    <a:lstStyle/>
                    <a:p>
                      <a:pPr>
                        <a:buNone/>
                      </a:pPr>
                      <a:r>
                        <a:rPr lang="en-IN">
                          <a:latin typeface="Times New Roman" panose="02020603050405020304" pitchFamily="18" charset="0"/>
                          <a:cs typeface="Times New Roman" panose="02020603050405020304" pitchFamily="18" charset="0"/>
                        </a:rPr>
                        <a:t>0.4229</a:t>
                      </a:r>
                    </a:p>
                  </a:txBody>
                  <a:tcPr anchor="ctr"/>
                </a:tc>
                <a:tc>
                  <a:txBody>
                    <a:bodyPr/>
                    <a:lstStyle/>
                    <a:p>
                      <a:pPr>
                        <a:buNone/>
                      </a:pPr>
                      <a:r>
                        <a:rPr lang="en-IN">
                          <a:latin typeface="Times New Roman" panose="02020603050405020304" pitchFamily="18" charset="0"/>
                          <a:cs typeface="Times New Roman" panose="02020603050405020304" pitchFamily="18" charset="0"/>
                        </a:rPr>
                        <a:t>2.110</a:t>
                      </a:r>
                    </a:p>
                  </a:txBody>
                  <a:tcPr anchor="ctr"/>
                </a:tc>
                <a:extLst>
                  <a:ext uri="{0D108BD9-81ED-4DB2-BD59-A6C34878D82A}">
                    <a16:rowId xmlns:a16="http://schemas.microsoft.com/office/drawing/2014/main" val="1503946459"/>
                  </a:ext>
                </a:extLst>
              </a:tr>
              <a:tr h="446515">
                <a:tc>
                  <a:txBody>
                    <a:bodyPr/>
                    <a:lstStyle/>
                    <a:p>
                      <a:pPr>
                        <a:buNone/>
                      </a:pPr>
                      <a:r>
                        <a:rPr lang="en-IN">
                          <a:latin typeface="Times New Roman" panose="02020603050405020304" pitchFamily="18" charset="0"/>
                          <a:cs typeface="Times New Roman" panose="02020603050405020304" pitchFamily="18" charset="0"/>
                        </a:rPr>
                        <a:t>U10</a:t>
                      </a:r>
                    </a:p>
                  </a:txBody>
                  <a:tcPr anchor="ctr"/>
                </a:tc>
                <a:tc>
                  <a:txBody>
                    <a:bodyPr/>
                    <a:lstStyle/>
                    <a:p>
                      <a:pPr>
                        <a:buNone/>
                      </a:pPr>
                      <a:r>
                        <a:rPr lang="en-IN">
                          <a:latin typeface="Times New Roman" panose="02020603050405020304" pitchFamily="18" charset="0"/>
                          <a:cs typeface="Times New Roman" panose="02020603050405020304" pitchFamily="18" charset="0"/>
                        </a:rPr>
                        <a:t>Real Estate</a:t>
                      </a:r>
                    </a:p>
                  </a:txBody>
                  <a:tcPr anchor="ctr"/>
                </a:tc>
                <a:tc>
                  <a:txBody>
                    <a:bodyPr/>
                    <a:lstStyle/>
                    <a:p>
                      <a:pPr>
                        <a:buNone/>
                      </a:pPr>
                      <a:r>
                        <a:rPr lang="en-IN">
                          <a:latin typeface="Times New Roman" panose="02020603050405020304" pitchFamily="18" charset="0"/>
                          <a:cs typeface="Times New Roman" panose="02020603050405020304" pitchFamily="18" charset="0"/>
                        </a:rPr>
                        <a:t>0.6295</a:t>
                      </a:r>
                    </a:p>
                  </a:txBody>
                  <a:tcPr anchor="ctr"/>
                </a:tc>
                <a:tc>
                  <a:txBody>
                    <a:bodyPr/>
                    <a:lstStyle/>
                    <a:p>
                      <a:pPr>
                        <a:buNone/>
                      </a:pPr>
                      <a:r>
                        <a:rPr lang="en-IN">
                          <a:latin typeface="Times New Roman" panose="02020603050405020304" pitchFamily="18" charset="0"/>
                          <a:cs typeface="Times New Roman" panose="02020603050405020304" pitchFamily="18" charset="0"/>
                        </a:rPr>
                        <a:t>0.6254</a:t>
                      </a:r>
                    </a:p>
                  </a:txBody>
                  <a:tcPr anchor="ctr"/>
                </a:tc>
                <a:tc>
                  <a:txBody>
                    <a:bodyPr/>
                    <a:lstStyle/>
                    <a:p>
                      <a:pPr>
                        <a:buNone/>
                      </a:pPr>
                      <a:r>
                        <a:rPr lang="en-IN">
                          <a:latin typeface="Times New Roman" panose="02020603050405020304" pitchFamily="18" charset="0"/>
                          <a:cs typeface="Times New Roman" panose="02020603050405020304" pitchFamily="18" charset="0"/>
                        </a:rPr>
                        <a:t>0.3522</a:t>
                      </a:r>
                    </a:p>
                  </a:txBody>
                  <a:tcPr anchor="ctr"/>
                </a:tc>
                <a:tc>
                  <a:txBody>
                    <a:bodyPr/>
                    <a:lstStyle/>
                    <a:p>
                      <a:pPr>
                        <a:buNone/>
                      </a:pPr>
                      <a:r>
                        <a:rPr lang="en-IN">
                          <a:latin typeface="Times New Roman" panose="02020603050405020304" pitchFamily="18" charset="0"/>
                          <a:cs typeface="Times New Roman" panose="02020603050405020304" pitchFamily="18" charset="0"/>
                        </a:rPr>
                        <a:t>2.551</a:t>
                      </a:r>
                    </a:p>
                  </a:txBody>
                  <a:tcPr anchor="ctr"/>
                </a:tc>
                <a:extLst>
                  <a:ext uri="{0D108BD9-81ED-4DB2-BD59-A6C34878D82A}">
                    <a16:rowId xmlns:a16="http://schemas.microsoft.com/office/drawing/2014/main" val="3225214326"/>
                  </a:ext>
                </a:extLst>
              </a:tr>
              <a:tr h="446515">
                <a:tc>
                  <a:txBody>
                    <a:bodyPr/>
                    <a:lstStyle/>
                    <a:p>
                      <a:pPr>
                        <a:buNone/>
                      </a:pPr>
                      <a:r>
                        <a:rPr lang="en-IN">
                          <a:latin typeface="Times New Roman" panose="02020603050405020304" pitchFamily="18" charset="0"/>
                          <a:cs typeface="Times New Roman" panose="02020603050405020304" pitchFamily="18" charset="0"/>
                        </a:rPr>
                        <a:t>U11</a:t>
                      </a:r>
                    </a:p>
                  </a:txBody>
                  <a:tcPr anchor="ctr"/>
                </a:tc>
                <a:tc>
                  <a:txBody>
                    <a:bodyPr/>
                    <a:lstStyle/>
                    <a:p>
                      <a:pPr>
                        <a:buNone/>
                      </a:pPr>
                      <a:r>
                        <a:rPr lang="en-IN">
                          <a:latin typeface="Times New Roman" panose="02020603050405020304" pitchFamily="18" charset="0"/>
                          <a:cs typeface="Times New Roman" panose="02020603050405020304" pitchFamily="18" charset="0"/>
                        </a:rPr>
                        <a:t>Comm. Services</a:t>
                      </a:r>
                    </a:p>
                  </a:txBody>
                  <a:tcPr anchor="ctr"/>
                </a:tc>
                <a:tc>
                  <a:txBody>
                    <a:bodyPr/>
                    <a:lstStyle/>
                    <a:p>
                      <a:pPr>
                        <a:buNone/>
                      </a:pPr>
                      <a:r>
                        <a:rPr lang="en-IN">
                          <a:latin typeface="Times New Roman" panose="02020603050405020304" pitchFamily="18" charset="0"/>
                          <a:cs typeface="Times New Roman" panose="02020603050405020304" pitchFamily="18" charset="0"/>
                        </a:rPr>
                        <a:t>0.5447</a:t>
                      </a:r>
                    </a:p>
                  </a:txBody>
                  <a:tcPr anchor="ctr"/>
                </a:tc>
                <a:tc>
                  <a:txBody>
                    <a:bodyPr/>
                    <a:lstStyle/>
                    <a:p>
                      <a:pPr>
                        <a:buNone/>
                      </a:pPr>
                      <a:r>
                        <a:rPr lang="en-IN">
                          <a:latin typeface="Times New Roman" panose="02020603050405020304" pitchFamily="18" charset="0"/>
                          <a:cs typeface="Times New Roman" panose="02020603050405020304" pitchFamily="18" charset="0"/>
                        </a:rPr>
                        <a:t>0.5529</a:t>
                      </a:r>
                    </a:p>
                  </a:txBody>
                  <a:tcPr anchor="ctr"/>
                </a:tc>
                <a:tc>
                  <a:txBody>
                    <a:bodyPr/>
                    <a:lstStyle/>
                    <a:p>
                      <a:pPr>
                        <a:buNone/>
                      </a:pPr>
                      <a:r>
                        <a:rPr lang="en-IN">
                          <a:latin typeface="Times New Roman" panose="02020603050405020304" pitchFamily="18" charset="0"/>
                          <a:cs typeface="Times New Roman" panose="02020603050405020304" pitchFamily="18" charset="0"/>
                        </a:rPr>
                        <a:t>0.5374</a:t>
                      </a:r>
                    </a:p>
                  </a:txBody>
                  <a:tcPr anchor="ctr"/>
                </a:tc>
                <a:tc>
                  <a:txBody>
                    <a:bodyPr/>
                    <a:lstStyle/>
                    <a:p>
                      <a:pPr>
                        <a:buNone/>
                      </a:pPr>
                      <a:r>
                        <a:rPr lang="en-IN">
                          <a:latin typeface="Times New Roman" panose="02020603050405020304" pitchFamily="18" charset="0"/>
                          <a:cs typeface="Times New Roman" panose="02020603050405020304" pitchFamily="18" charset="0"/>
                        </a:rPr>
                        <a:t>2.440</a:t>
                      </a:r>
                    </a:p>
                  </a:txBody>
                  <a:tcPr anchor="ctr"/>
                </a:tc>
                <a:extLst>
                  <a:ext uri="{0D108BD9-81ED-4DB2-BD59-A6C34878D82A}">
                    <a16:rowId xmlns:a16="http://schemas.microsoft.com/office/drawing/2014/main" val="219873288"/>
                  </a:ext>
                </a:extLst>
              </a:tr>
              <a:tr h="446515">
                <a:tc>
                  <a:txBody>
                    <a:bodyPr/>
                    <a:lstStyle/>
                    <a:p>
                      <a:pPr>
                        <a:buNone/>
                      </a:pPr>
                      <a:r>
                        <a:rPr lang="en-IN" b="1">
                          <a:latin typeface="Times New Roman" panose="02020603050405020304" pitchFamily="18" charset="0"/>
                          <a:cs typeface="Times New Roman" panose="02020603050405020304" pitchFamily="18" charset="0"/>
                        </a:rPr>
                        <a:t>Mean ± Std</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b="1">
                          <a:latin typeface="Times New Roman" panose="02020603050405020304" pitchFamily="18" charset="0"/>
                          <a:cs typeface="Times New Roman" panose="02020603050405020304" pitchFamily="18" charset="0"/>
                        </a:rPr>
                        <a:t>-</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b="1">
                          <a:latin typeface="Times New Roman" panose="02020603050405020304" pitchFamily="18" charset="0"/>
                          <a:cs typeface="Times New Roman" panose="02020603050405020304" pitchFamily="18" charset="0"/>
                        </a:rPr>
                        <a:t>0.646 ± 0.185</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b="1">
                          <a:latin typeface="Times New Roman" panose="02020603050405020304" pitchFamily="18" charset="0"/>
                          <a:cs typeface="Times New Roman" panose="02020603050405020304" pitchFamily="18" charset="0"/>
                        </a:rPr>
                        <a:t>0.653 ± 0.184</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b="1" dirty="0">
                          <a:latin typeface="Times New Roman" panose="02020603050405020304" pitchFamily="18" charset="0"/>
                          <a:cs typeface="Times New Roman" panose="02020603050405020304" pitchFamily="18" charset="0"/>
                        </a:rPr>
                        <a:t>0.388 ± 0.113</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b="1" dirty="0">
                          <a:latin typeface="Times New Roman" panose="02020603050405020304" pitchFamily="18" charset="0"/>
                          <a:cs typeface="Times New Roman" panose="02020603050405020304" pitchFamily="18" charset="0"/>
                        </a:rPr>
                        <a:t>2.321 ± 0.470</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76198861"/>
                  </a:ext>
                </a:extLst>
              </a:tr>
            </a:tbl>
          </a:graphicData>
        </a:graphic>
      </p:graphicFrame>
    </p:spTree>
    <p:extLst>
      <p:ext uri="{BB962C8B-B14F-4D97-AF65-F5344CB8AC3E}">
        <p14:creationId xmlns:p14="http://schemas.microsoft.com/office/powerpoint/2010/main" val="30420048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E6D8F119-FC20-097F-25A4-94B9DAD3EBBC}"/>
            </a:ext>
          </a:extLst>
        </p:cNvPr>
        <p:cNvGrpSpPr/>
        <p:nvPr/>
      </p:nvGrpSpPr>
      <p:grpSpPr>
        <a:xfrm>
          <a:off x="0" y="0"/>
          <a:ext cx="0" cy="0"/>
          <a:chOff x="0" y="0"/>
          <a:chExt cx="0" cy="0"/>
        </a:xfrm>
      </p:grpSpPr>
      <p:sp>
        <p:nvSpPr>
          <p:cNvPr id="102" name="Google Shape;102;p3">
            <a:extLst>
              <a:ext uri="{FF2B5EF4-FFF2-40B4-BE49-F238E27FC236}">
                <a16:creationId xmlns:a16="http://schemas.microsoft.com/office/drawing/2014/main" id="{8E9DD2B0-A4CA-DCFC-2461-4FAE8557EB0E}"/>
              </a:ext>
            </a:extLst>
          </p:cNvPr>
          <p:cNvSpPr txBox="1">
            <a:spLocks noGrp="1"/>
          </p:cNvSpPr>
          <p:nvPr>
            <p:ph type="title"/>
          </p:nvPr>
        </p:nvSpPr>
        <p:spPr>
          <a:xfrm>
            <a:off x="816429" y="214816"/>
            <a:ext cx="11038114" cy="665717"/>
          </a:xfrm>
          <a:prstGeom prst="rect">
            <a:avLst/>
          </a:prstGeom>
          <a:noFill/>
          <a:ln>
            <a:noFill/>
          </a:ln>
        </p:spPr>
        <p:txBody>
          <a:bodyPr spcFirstLastPara="1" wrap="square" lIns="91425" tIns="45700" rIns="91425" bIns="45700" anchor="t" anchorCtr="0">
            <a:noAutofit/>
          </a:bodyPr>
          <a:lstStyle/>
          <a:p>
            <a:pPr lvl="0" algn="l"/>
            <a:r>
              <a:rPr lang="en-IN" sz="3200" dirty="0"/>
              <a:t>STATISTICAL SIGNIFICANCE</a:t>
            </a:r>
            <a:endParaRPr sz="3200" dirty="0"/>
          </a:p>
        </p:txBody>
      </p:sp>
      <mc:AlternateContent xmlns:mc="http://schemas.openxmlformats.org/markup-compatibility/2006">
        <mc:Choice xmlns:a14="http://schemas.microsoft.com/office/drawing/2010/main" Requires="a14">
          <p:graphicFrame>
            <p:nvGraphicFramePr>
              <p:cNvPr id="103" name="Google Shape;103;p3">
                <a:extLst>
                  <a:ext uri="{FF2B5EF4-FFF2-40B4-BE49-F238E27FC236}">
                    <a16:creationId xmlns:a16="http://schemas.microsoft.com/office/drawing/2014/main" id="{F18562CC-1F98-2B02-A274-9F62BD77EE37}"/>
                  </a:ext>
                </a:extLst>
              </p:cNvPr>
              <p:cNvGraphicFramePr/>
              <p:nvPr>
                <p:extLst>
                  <p:ext uri="{D42A27DB-BD31-4B8C-83A1-F6EECF244321}">
                    <p14:modId xmlns:p14="http://schemas.microsoft.com/office/powerpoint/2010/main" val="3736761045"/>
                  </p:ext>
                </p:extLst>
              </p:nvPr>
            </p:nvGraphicFramePr>
            <p:xfrm>
              <a:off x="816429" y="1088571"/>
              <a:ext cx="11136085" cy="4963887"/>
            </p:xfrm>
            <a:graphic>
              <a:graphicData uri="http://schemas.openxmlformats.org/drawingml/2006/table">
                <a:tbl>
                  <a:tblPr firstRow="1" bandRow="1">
                    <a:noFill/>
                    <a:tableStyleId>{48133A83-268A-4673-80D7-47B9B74EA727}</a:tableStyleId>
                  </a:tblPr>
                  <a:tblGrid>
                    <a:gridCol w="3670960">
                      <a:extLst>
                        <a:ext uri="{9D8B030D-6E8A-4147-A177-3AD203B41FA5}">
                          <a16:colId xmlns:a16="http://schemas.microsoft.com/office/drawing/2014/main" val="20000"/>
                        </a:ext>
                      </a:extLst>
                    </a:gridCol>
                    <a:gridCol w="4093130">
                      <a:extLst>
                        <a:ext uri="{9D8B030D-6E8A-4147-A177-3AD203B41FA5}">
                          <a16:colId xmlns:a16="http://schemas.microsoft.com/office/drawing/2014/main" val="20001"/>
                        </a:ext>
                      </a:extLst>
                    </a:gridCol>
                    <a:gridCol w="3371995">
                      <a:extLst>
                        <a:ext uri="{9D8B030D-6E8A-4147-A177-3AD203B41FA5}">
                          <a16:colId xmlns:a16="http://schemas.microsoft.com/office/drawing/2014/main" val="20002"/>
                        </a:ext>
                      </a:extLst>
                    </a:gridCol>
                  </a:tblGrid>
                  <a:tr h="442915">
                    <a:tc>
                      <a:txBody>
                        <a:bodyPr/>
                        <a:lstStyle/>
                        <a:p>
                          <a:pPr>
                            <a:buNone/>
                          </a:pPr>
                          <a:r>
                            <a:rPr lang="en-IN">
                              <a:latin typeface="Times New Roman" panose="02020603050405020304" pitchFamily="18" charset="0"/>
                              <a:cs typeface="Times New Roman" panose="02020603050405020304" pitchFamily="18" charset="0"/>
                            </a:rPr>
                            <a:t>Test</a:t>
                          </a:r>
                        </a:p>
                      </a:txBody>
                      <a:tcPr anchor="ctr"/>
                    </a:tc>
                    <a:tc>
                      <a:txBody>
                        <a:bodyPr/>
                        <a:lstStyle/>
                        <a:p>
                          <a:pPr>
                            <a:buNone/>
                          </a:pPr>
                          <a:r>
                            <a:rPr lang="en-IN">
                              <a:latin typeface="Times New Roman" panose="02020603050405020304" pitchFamily="18" charset="0"/>
                              <a:cs typeface="Times New Roman" panose="02020603050405020304" pitchFamily="18" charset="0"/>
                            </a:rPr>
                            <a:t>Paper 1</a:t>
                          </a:r>
                        </a:p>
                      </a:txBody>
                      <a:tcPr anchor="ctr"/>
                    </a:tc>
                    <a:tc>
                      <a:txBody>
                        <a:bodyPr/>
                        <a:lstStyle/>
                        <a:p>
                          <a:pPr>
                            <a:buNone/>
                          </a:pPr>
                          <a:r>
                            <a:rPr lang="en-IN">
                              <a:latin typeface="Times New Roman" panose="02020603050405020304" pitchFamily="18" charset="0"/>
                              <a:cs typeface="Times New Roman" panose="02020603050405020304" pitchFamily="18" charset="0"/>
                            </a:rPr>
                            <a:t>Paper 2</a:t>
                          </a:r>
                        </a:p>
                      </a:txBody>
                      <a:tcPr anchor="ctr"/>
                    </a:tc>
                    <a:extLst>
                      <a:ext uri="{0D108BD9-81ED-4DB2-BD59-A6C34878D82A}">
                        <a16:rowId xmlns:a16="http://schemas.microsoft.com/office/drawing/2014/main" val="10000"/>
                      </a:ext>
                    </a:extLst>
                  </a:tr>
                  <a:tr h="638371">
                    <a:tc>
                      <a:txBody>
                        <a:bodyPr/>
                        <a:lstStyle/>
                        <a:p>
                          <a:pPr>
                            <a:buNone/>
                          </a:pPr>
                          <a:r>
                            <a:rPr lang="en-IN" b="1">
                              <a:latin typeface="Times New Roman" panose="02020603050405020304" pitchFamily="18" charset="0"/>
                              <a:cs typeface="Times New Roman" panose="02020603050405020304" pitchFamily="18" charset="0"/>
                            </a:rPr>
                            <a:t>Methodology</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Paired t-tests (51 windows)</a:t>
                          </a:r>
                        </a:p>
                      </a:txBody>
                      <a:tcPr anchor="ctr"/>
                    </a:tc>
                    <a:tc>
                      <a:txBody>
                        <a:bodyPr/>
                        <a:lstStyle/>
                        <a:p>
                          <a:pPr>
                            <a:buNone/>
                          </a:pPr>
                          <a:r>
                            <a:rPr lang="en-IN" dirty="0">
                              <a:latin typeface="Times New Roman" panose="02020603050405020304" pitchFamily="18" charset="0"/>
                              <a:cs typeface="Times New Roman" panose="02020603050405020304" pitchFamily="18" charset="0"/>
                            </a:rPr>
                            <a:t>Wilcoxon Signed-Rank (552 windows)</a:t>
                          </a:r>
                        </a:p>
                      </a:txBody>
                      <a:tcPr anchor="ctr"/>
                    </a:tc>
                    <a:extLst>
                      <a:ext uri="{0D108BD9-81ED-4DB2-BD59-A6C34878D82A}">
                        <a16:rowId xmlns:a16="http://schemas.microsoft.com/office/drawing/2014/main" val="10001"/>
                      </a:ext>
                    </a:extLst>
                  </a:tr>
                  <a:tr h="638371">
                    <a:tc>
                      <a:txBody>
                        <a:bodyPr/>
                        <a:lstStyle/>
                        <a:p>
                          <a:pPr>
                            <a:buNone/>
                          </a:pPr>
                          <a:r>
                            <a:rPr lang="en-IN" b="1" dirty="0">
                              <a:latin typeface="Times New Roman" panose="02020603050405020304" pitchFamily="18" charset="0"/>
                              <a:cs typeface="Times New Roman" panose="02020603050405020304" pitchFamily="18" charset="0"/>
                            </a:rPr>
                            <a:t>Primary Metric</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MaxDD (statistically significant)</a:t>
                          </a:r>
                        </a:p>
                      </a:txBody>
                      <a:tcPr anchor="ctr"/>
                    </a:tc>
                    <a:tc>
                      <a:txBody>
                        <a:bodyPr/>
                        <a:lstStyle/>
                        <a:p>
                          <a:pPr>
                            <a:buNone/>
                          </a:pPr>
                          <a:r>
                            <a:rPr lang="en-IN" dirty="0">
                              <a:latin typeface="Times New Roman" panose="02020603050405020304" pitchFamily="18" charset="0"/>
                              <a:cs typeface="Times New Roman" panose="02020603050405020304" pitchFamily="18" charset="0"/>
                            </a:rPr>
                            <a:t>CVaR@95% &amp; MDD (crisis-regime)</a:t>
                          </a:r>
                        </a:p>
                      </a:txBody>
                      <a:tcPr anchor="ctr"/>
                    </a:tc>
                    <a:extLst>
                      <a:ext uri="{0D108BD9-81ED-4DB2-BD59-A6C34878D82A}">
                        <a16:rowId xmlns:a16="http://schemas.microsoft.com/office/drawing/2014/main" val="10002"/>
                      </a:ext>
                    </a:extLst>
                  </a:tr>
                  <a:tr h="648846">
                    <a:tc>
                      <a:txBody>
                        <a:bodyPr/>
                        <a:lstStyle/>
                        <a:p>
                          <a:pPr>
                            <a:buNone/>
                          </a:pPr>
                          <a:r>
                            <a:rPr lang="en-IN" b="1" dirty="0">
                              <a:latin typeface="Times New Roman" panose="02020603050405020304" pitchFamily="18" charset="0"/>
                              <a:cs typeface="Times New Roman" panose="02020603050405020304" pitchFamily="18" charset="0"/>
                            </a:rPr>
                            <a:t>Main Result</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t = 5.67, p &lt; 0.001</a:t>
                          </a:r>
                        </a:p>
                      </a:txBody>
                      <a:tcPr anchor="ctr"/>
                    </a:tc>
                    <a:tc>
                      <a:txBody>
                        <a:bodyPr/>
                        <a:lstStyle/>
                        <a:p>
                          <a:pPr>
                            <a:buNone/>
                          </a:pPr>
                          <a:r>
                            <a:rPr lang="en-IN" dirty="0">
                              <a:latin typeface="Times New Roman" panose="02020603050405020304" pitchFamily="18" charset="0"/>
                              <a:cs typeface="Times New Roman" panose="02020603050405020304" pitchFamily="18" charset="0"/>
                            </a:rPr>
                            <a:t>p = 0.0031 (CVaR), p = 0.0068 (MDD)</a:t>
                          </a:r>
                        </a:p>
                      </a:txBody>
                      <a:tcPr anchor="ctr"/>
                    </a:tc>
                    <a:extLst>
                      <a:ext uri="{0D108BD9-81ED-4DB2-BD59-A6C34878D82A}">
                        <a16:rowId xmlns:a16="http://schemas.microsoft.com/office/drawing/2014/main" val="10003"/>
                      </a:ext>
                    </a:extLst>
                  </a:tr>
                  <a:tr h="648846">
                    <a:tc>
                      <a:txBody>
                        <a:bodyPr/>
                        <a:lstStyle/>
                        <a:p>
                          <a:pPr>
                            <a:buNone/>
                          </a:pPr>
                          <a:r>
                            <a:rPr lang="en-IN" b="1">
                              <a:latin typeface="Times New Roman" panose="02020603050405020304" pitchFamily="18" charset="0"/>
                              <a:cs typeface="Times New Roman" panose="02020603050405020304" pitchFamily="18" charset="0"/>
                            </a:rPr>
                            <a:t>Window-Level Win Rate</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84.3% on drawdown</a:t>
                          </a:r>
                        </a:p>
                      </a:txBody>
                      <a:tcPr anchor="ctr"/>
                    </a:tc>
                    <a:tc>
                      <a:txBody>
                        <a:bodyPr/>
                        <a:lstStyle/>
                        <a:p>
                          <a:pPr>
                            <a:buNone/>
                          </a:pPr>
                          <a:r>
                            <a:rPr lang="en-US" dirty="0">
                              <a:latin typeface="Times New Roman" panose="02020603050405020304" pitchFamily="18" charset="0"/>
                              <a:cs typeface="Times New Roman" panose="02020603050405020304" pitchFamily="18" charset="0"/>
                            </a:rPr>
                            <a:t>22 crisis windows (4% of total)</a:t>
                          </a:r>
                        </a:p>
                      </a:txBody>
                      <a:tcPr anchor="ctr"/>
                    </a:tc>
                    <a:extLst>
                      <a:ext uri="{0D108BD9-81ED-4DB2-BD59-A6C34878D82A}">
                        <a16:rowId xmlns:a16="http://schemas.microsoft.com/office/drawing/2014/main" val="1230021275"/>
                      </a:ext>
                    </a:extLst>
                  </a:tr>
                  <a:tr h="648846">
                    <a:tc>
                      <a:txBody>
                        <a:bodyPr/>
                        <a:lstStyle/>
                        <a:p>
                          <a:pPr>
                            <a:buNone/>
                          </a:pPr>
                          <a:r>
                            <a:rPr lang="en-IN" b="1">
                              <a:latin typeface="Times New Roman" panose="02020603050405020304" pitchFamily="18" charset="0"/>
                              <a:cs typeface="Times New Roman" panose="02020603050405020304" pitchFamily="18" charset="0"/>
                            </a:rPr>
                            <a:t>Robustness Test</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pt-BR" dirty="0">
                              <a:latin typeface="Times New Roman" panose="02020603050405020304" pitchFamily="18" charset="0"/>
                              <a:cs typeface="Times New Roman" panose="02020603050405020304" pitchFamily="18" charset="0"/>
                            </a:rPr>
                            <a:t>COVID-19 exclusion (p &lt; 0.001, n=47)</a:t>
                          </a:r>
                        </a:p>
                      </a:txBody>
                      <a:tcPr anchor="ctr"/>
                    </a:tc>
                    <a:tc>
                      <a:txBody>
                        <a:bodyPr/>
                        <a:lstStyle/>
                        <a:p>
                          <a:pPr>
                            <a:buNone/>
                          </a:pPr>
                          <a:r>
                            <a:rPr lang="en-IN" dirty="0">
                              <a:latin typeface="Times New Roman" panose="02020603050405020304" pitchFamily="18" charset="0"/>
                              <a:cs typeface="Times New Roman" panose="02020603050405020304" pitchFamily="18" charset="0"/>
                            </a:rPr>
                            <a:t>Walk-forward validation (OOS&gt;IS)</a:t>
                          </a:r>
                        </a:p>
                      </a:txBody>
                      <a:tcPr anchor="ctr"/>
                    </a:tc>
                    <a:extLst>
                      <a:ext uri="{0D108BD9-81ED-4DB2-BD59-A6C34878D82A}">
                        <a16:rowId xmlns:a16="http://schemas.microsoft.com/office/drawing/2014/main" val="1132237256"/>
                      </a:ext>
                    </a:extLst>
                  </a:tr>
                  <a:tr h="648846">
                    <a:tc>
                      <a:txBody>
                        <a:bodyPr/>
                        <a:lstStyle/>
                        <a:p>
                          <a:pPr>
                            <a:buNone/>
                          </a:pPr>
                          <a:r>
                            <a:rPr lang="en-IN" b="1">
                              <a:latin typeface="Times New Roman" panose="02020603050405020304" pitchFamily="18" charset="0"/>
                              <a:cs typeface="Times New Roman" panose="02020603050405020304" pitchFamily="18" charset="0"/>
                            </a:rPr>
                            <a:t>Design Feature</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dirty="0">
                              <a:latin typeface="Times New Roman" panose="02020603050405020304" pitchFamily="18" charset="0"/>
                              <a:cs typeface="Times New Roman" panose="02020603050405020304" pitchFamily="18" charset="0"/>
                            </a:rPr>
                            <a:t>Binary switching</a:t>
                          </a:r>
                        </a:p>
                      </a:txBody>
                      <a:tcPr anchor="ctr"/>
                    </a:tc>
                    <a:tc>
                      <a:txBody>
                        <a:bodyPr/>
                        <a:lstStyle/>
                        <a:p>
                          <a:pPr>
                            <a:buNone/>
                          </a:pPr>
                          <a:r>
                            <a:rPr lang="en-IN" dirty="0">
                              <a:latin typeface="Times New Roman" panose="02020603050405020304" pitchFamily="18" charset="0"/>
                              <a:cs typeface="Times New Roman" panose="02020603050405020304" pitchFamily="18" charset="0"/>
                            </a:rPr>
                            <a:t>96% inactive penalty (</a:t>
                          </a:r>
                          <a14:m>
                            <m:oMath xmlns:m="http://schemas.openxmlformats.org/officeDocument/2006/math">
                              <m:sSub>
                                <m:sSubPr>
                                  <m:ctrlPr>
                                    <a:rPr lang="el-GR" i="1" dirty="0" smtClean="0">
                                      <a:latin typeface="Cambria Math" panose="02040503050406030204" pitchFamily="18" charset="0"/>
                                      <a:cs typeface="Times New Roman" panose="02020603050405020304" pitchFamily="18" charset="0"/>
                                    </a:rPr>
                                  </m:ctrlPr>
                                </m:sSubPr>
                                <m:e>
                                  <m:r>
                                    <a:rPr lang="el-GR" i="1" dirty="0" smtClean="0">
                                      <a:latin typeface="Cambria Math" panose="02040503050406030204" pitchFamily="18" charset="0"/>
                                      <a:cs typeface="Times New Roman" panose="02020603050405020304" pitchFamily="18" charset="0"/>
                                    </a:rPr>
                                    <m:t>𝜆</m:t>
                                  </m:r>
                                </m:e>
                                <m:sub>
                                  <m:r>
                                    <a:rPr lang="en-IN" i="1" dirty="0">
                                      <a:latin typeface="Cambria Math" panose="02040503050406030204" pitchFamily="18" charset="0"/>
                                      <a:cs typeface="Times New Roman" panose="02020603050405020304" pitchFamily="18" charset="0"/>
                                    </a:rPr>
                                    <m:t>𝑡</m:t>
                                  </m:r>
                                </m:sub>
                              </m:sSub>
                            </m:oMath>
                          </a14:m>
                          <a:r>
                            <a:rPr lang="en-IN" dirty="0">
                              <a:latin typeface="Times New Roman" panose="02020603050405020304" pitchFamily="18" charset="0"/>
                              <a:cs typeface="Times New Roman" panose="02020603050405020304" pitchFamily="18" charset="0"/>
                            </a:rPr>
                            <a:t>≈ 0)</a:t>
                          </a:r>
                        </a:p>
                      </a:txBody>
                      <a:tcPr anchor="ctr"/>
                    </a:tc>
                    <a:extLst>
                      <a:ext uri="{0D108BD9-81ED-4DB2-BD59-A6C34878D82A}">
                        <a16:rowId xmlns:a16="http://schemas.microsoft.com/office/drawing/2014/main" val="314814939"/>
                      </a:ext>
                    </a:extLst>
                  </a:tr>
                  <a:tr h="648846">
                    <a:tc>
                      <a:txBody>
                        <a:bodyPr/>
                        <a:lstStyle/>
                        <a:p>
                          <a:pPr>
                            <a:buNone/>
                          </a:pPr>
                          <a:r>
                            <a:rPr lang="en-IN" b="1">
                              <a:latin typeface="Times New Roman" panose="02020603050405020304" pitchFamily="18" charset="0"/>
                              <a:cs typeface="Times New Roman" panose="02020603050405020304" pitchFamily="18" charset="0"/>
                            </a:rPr>
                            <a:t>Power Analysis</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Adequate (51 windows)</a:t>
                          </a:r>
                        </a:p>
                      </a:txBody>
                      <a:tcPr anchor="ctr"/>
                    </a:tc>
                    <a:tc>
                      <a:txBody>
                        <a:bodyPr/>
                        <a:lstStyle/>
                        <a:p>
                          <a:pPr>
                            <a:buNone/>
                          </a:pPr>
                          <a:r>
                            <a:rPr lang="en-US" dirty="0">
                              <a:latin typeface="Times New Roman" panose="02020603050405020304" pitchFamily="18" charset="0"/>
                              <a:cs typeface="Times New Roman" panose="02020603050405020304" pitchFamily="18" charset="0"/>
                            </a:rPr>
                            <a:t>Low (β̂=0.31, need 89 pairs for 80%)</a:t>
                          </a:r>
                        </a:p>
                      </a:txBody>
                      <a:tcPr anchor="ctr"/>
                    </a:tc>
                    <a:extLst>
                      <a:ext uri="{0D108BD9-81ED-4DB2-BD59-A6C34878D82A}">
                        <a16:rowId xmlns:a16="http://schemas.microsoft.com/office/drawing/2014/main" val="54476523"/>
                      </a:ext>
                    </a:extLst>
                  </a:tr>
                </a:tbl>
              </a:graphicData>
            </a:graphic>
          </p:graphicFrame>
        </mc:Choice>
        <mc:Fallback>
          <p:graphicFrame>
            <p:nvGraphicFramePr>
              <p:cNvPr id="103" name="Google Shape;103;p3">
                <a:extLst>
                  <a:ext uri="{FF2B5EF4-FFF2-40B4-BE49-F238E27FC236}">
                    <a16:creationId xmlns:a16="http://schemas.microsoft.com/office/drawing/2014/main" id="{F18562CC-1F98-2B02-A274-9F62BD77EE37}"/>
                  </a:ext>
                </a:extLst>
              </p:cNvPr>
              <p:cNvGraphicFramePr/>
              <p:nvPr>
                <p:extLst>
                  <p:ext uri="{D42A27DB-BD31-4B8C-83A1-F6EECF244321}">
                    <p14:modId xmlns:p14="http://schemas.microsoft.com/office/powerpoint/2010/main" val="3736761045"/>
                  </p:ext>
                </p:extLst>
              </p:nvPr>
            </p:nvGraphicFramePr>
            <p:xfrm>
              <a:off x="816429" y="1088571"/>
              <a:ext cx="11136085" cy="4963887"/>
            </p:xfrm>
            <a:graphic>
              <a:graphicData uri="http://schemas.openxmlformats.org/drawingml/2006/table">
                <a:tbl>
                  <a:tblPr firstRow="1" bandRow="1">
                    <a:noFill/>
                    <a:tableStyleId>{48133A83-268A-4673-80D7-47B9B74EA727}</a:tableStyleId>
                  </a:tblPr>
                  <a:tblGrid>
                    <a:gridCol w="3670960">
                      <a:extLst>
                        <a:ext uri="{9D8B030D-6E8A-4147-A177-3AD203B41FA5}">
                          <a16:colId xmlns:a16="http://schemas.microsoft.com/office/drawing/2014/main" val="20000"/>
                        </a:ext>
                      </a:extLst>
                    </a:gridCol>
                    <a:gridCol w="4093130">
                      <a:extLst>
                        <a:ext uri="{9D8B030D-6E8A-4147-A177-3AD203B41FA5}">
                          <a16:colId xmlns:a16="http://schemas.microsoft.com/office/drawing/2014/main" val="20001"/>
                        </a:ext>
                      </a:extLst>
                    </a:gridCol>
                    <a:gridCol w="3371995">
                      <a:extLst>
                        <a:ext uri="{9D8B030D-6E8A-4147-A177-3AD203B41FA5}">
                          <a16:colId xmlns:a16="http://schemas.microsoft.com/office/drawing/2014/main" val="20002"/>
                        </a:ext>
                      </a:extLst>
                    </a:gridCol>
                  </a:tblGrid>
                  <a:tr h="442915">
                    <a:tc>
                      <a:txBody>
                        <a:bodyPr/>
                        <a:lstStyle/>
                        <a:p>
                          <a:pPr>
                            <a:buNone/>
                          </a:pPr>
                          <a:r>
                            <a:rPr lang="en-IN">
                              <a:latin typeface="Times New Roman" panose="02020603050405020304" pitchFamily="18" charset="0"/>
                              <a:cs typeface="Times New Roman" panose="02020603050405020304" pitchFamily="18" charset="0"/>
                            </a:rPr>
                            <a:t>Test</a:t>
                          </a:r>
                        </a:p>
                      </a:txBody>
                      <a:tcPr anchor="ctr"/>
                    </a:tc>
                    <a:tc>
                      <a:txBody>
                        <a:bodyPr/>
                        <a:lstStyle/>
                        <a:p>
                          <a:pPr>
                            <a:buNone/>
                          </a:pPr>
                          <a:r>
                            <a:rPr lang="en-IN">
                              <a:latin typeface="Times New Roman" panose="02020603050405020304" pitchFamily="18" charset="0"/>
                              <a:cs typeface="Times New Roman" panose="02020603050405020304" pitchFamily="18" charset="0"/>
                            </a:rPr>
                            <a:t>Paper 1</a:t>
                          </a:r>
                        </a:p>
                      </a:txBody>
                      <a:tcPr anchor="ctr"/>
                    </a:tc>
                    <a:tc>
                      <a:txBody>
                        <a:bodyPr/>
                        <a:lstStyle/>
                        <a:p>
                          <a:pPr>
                            <a:buNone/>
                          </a:pPr>
                          <a:r>
                            <a:rPr lang="en-IN">
                              <a:latin typeface="Times New Roman" panose="02020603050405020304" pitchFamily="18" charset="0"/>
                              <a:cs typeface="Times New Roman" panose="02020603050405020304" pitchFamily="18" charset="0"/>
                            </a:rPr>
                            <a:t>Paper 2</a:t>
                          </a:r>
                        </a:p>
                      </a:txBody>
                      <a:tcPr anchor="ctr"/>
                    </a:tc>
                    <a:extLst>
                      <a:ext uri="{0D108BD9-81ED-4DB2-BD59-A6C34878D82A}">
                        <a16:rowId xmlns:a16="http://schemas.microsoft.com/office/drawing/2014/main" val="10000"/>
                      </a:ext>
                    </a:extLst>
                  </a:tr>
                  <a:tr h="638371">
                    <a:tc>
                      <a:txBody>
                        <a:bodyPr/>
                        <a:lstStyle/>
                        <a:p>
                          <a:pPr>
                            <a:buNone/>
                          </a:pPr>
                          <a:r>
                            <a:rPr lang="en-IN" b="1">
                              <a:latin typeface="Times New Roman" panose="02020603050405020304" pitchFamily="18" charset="0"/>
                              <a:cs typeface="Times New Roman" panose="02020603050405020304" pitchFamily="18" charset="0"/>
                            </a:rPr>
                            <a:t>Methodology</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Paired t-tests (51 windows)</a:t>
                          </a:r>
                        </a:p>
                      </a:txBody>
                      <a:tcPr anchor="ctr"/>
                    </a:tc>
                    <a:tc>
                      <a:txBody>
                        <a:bodyPr/>
                        <a:lstStyle/>
                        <a:p>
                          <a:pPr>
                            <a:buNone/>
                          </a:pPr>
                          <a:r>
                            <a:rPr lang="en-IN" dirty="0">
                              <a:latin typeface="Times New Roman" panose="02020603050405020304" pitchFamily="18" charset="0"/>
                              <a:cs typeface="Times New Roman" panose="02020603050405020304" pitchFamily="18" charset="0"/>
                            </a:rPr>
                            <a:t>Wilcoxon Signed-Rank (552 windows)</a:t>
                          </a:r>
                        </a:p>
                      </a:txBody>
                      <a:tcPr anchor="ctr"/>
                    </a:tc>
                    <a:extLst>
                      <a:ext uri="{0D108BD9-81ED-4DB2-BD59-A6C34878D82A}">
                        <a16:rowId xmlns:a16="http://schemas.microsoft.com/office/drawing/2014/main" val="10001"/>
                      </a:ext>
                    </a:extLst>
                  </a:tr>
                  <a:tr h="638371">
                    <a:tc>
                      <a:txBody>
                        <a:bodyPr/>
                        <a:lstStyle/>
                        <a:p>
                          <a:pPr>
                            <a:buNone/>
                          </a:pPr>
                          <a:r>
                            <a:rPr lang="en-IN" b="1" dirty="0">
                              <a:latin typeface="Times New Roman" panose="02020603050405020304" pitchFamily="18" charset="0"/>
                              <a:cs typeface="Times New Roman" panose="02020603050405020304" pitchFamily="18" charset="0"/>
                            </a:rPr>
                            <a:t>Primary Metric</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MaxDD (statistically significant)</a:t>
                          </a:r>
                        </a:p>
                      </a:txBody>
                      <a:tcPr anchor="ctr"/>
                    </a:tc>
                    <a:tc>
                      <a:txBody>
                        <a:bodyPr/>
                        <a:lstStyle/>
                        <a:p>
                          <a:pPr>
                            <a:buNone/>
                          </a:pPr>
                          <a:r>
                            <a:rPr lang="en-IN" dirty="0">
                              <a:latin typeface="Times New Roman" panose="02020603050405020304" pitchFamily="18" charset="0"/>
                              <a:cs typeface="Times New Roman" panose="02020603050405020304" pitchFamily="18" charset="0"/>
                            </a:rPr>
                            <a:t>CVaR@95% &amp; MDD (crisis-regime)</a:t>
                          </a:r>
                        </a:p>
                      </a:txBody>
                      <a:tcPr anchor="ctr"/>
                    </a:tc>
                    <a:extLst>
                      <a:ext uri="{0D108BD9-81ED-4DB2-BD59-A6C34878D82A}">
                        <a16:rowId xmlns:a16="http://schemas.microsoft.com/office/drawing/2014/main" val="10002"/>
                      </a:ext>
                    </a:extLst>
                  </a:tr>
                  <a:tr h="648846">
                    <a:tc>
                      <a:txBody>
                        <a:bodyPr/>
                        <a:lstStyle/>
                        <a:p>
                          <a:pPr>
                            <a:buNone/>
                          </a:pPr>
                          <a:r>
                            <a:rPr lang="en-IN" b="1" dirty="0">
                              <a:latin typeface="Times New Roman" panose="02020603050405020304" pitchFamily="18" charset="0"/>
                              <a:cs typeface="Times New Roman" panose="02020603050405020304" pitchFamily="18" charset="0"/>
                            </a:rPr>
                            <a:t>Main Result</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t = 5.67, p &lt; 0.001</a:t>
                          </a:r>
                        </a:p>
                      </a:txBody>
                      <a:tcPr anchor="ctr"/>
                    </a:tc>
                    <a:tc>
                      <a:txBody>
                        <a:bodyPr/>
                        <a:lstStyle/>
                        <a:p>
                          <a:pPr>
                            <a:buNone/>
                          </a:pPr>
                          <a:r>
                            <a:rPr lang="en-IN" dirty="0">
                              <a:latin typeface="Times New Roman" panose="02020603050405020304" pitchFamily="18" charset="0"/>
                              <a:cs typeface="Times New Roman" panose="02020603050405020304" pitchFamily="18" charset="0"/>
                            </a:rPr>
                            <a:t>p = 0.0031 (CVaR), p = 0.0068 (MDD)</a:t>
                          </a:r>
                        </a:p>
                      </a:txBody>
                      <a:tcPr anchor="ctr"/>
                    </a:tc>
                    <a:extLst>
                      <a:ext uri="{0D108BD9-81ED-4DB2-BD59-A6C34878D82A}">
                        <a16:rowId xmlns:a16="http://schemas.microsoft.com/office/drawing/2014/main" val="10003"/>
                      </a:ext>
                    </a:extLst>
                  </a:tr>
                  <a:tr h="648846">
                    <a:tc>
                      <a:txBody>
                        <a:bodyPr/>
                        <a:lstStyle/>
                        <a:p>
                          <a:pPr>
                            <a:buNone/>
                          </a:pPr>
                          <a:r>
                            <a:rPr lang="en-IN" b="1">
                              <a:latin typeface="Times New Roman" panose="02020603050405020304" pitchFamily="18" charset="0"/>
                              <a:cs typeface="Times New Roman" panose="02020603050405020304" pitchFamily="18" charset="0"/>
                            </a:rPr>
                            <a:t>Window-Level Win Rate</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84.3% on drawdown</a:t>
                          </a:r>
                        </a:p>
                      </a:txBody>
                      <a:tcPr anchor="ctr"/>
                    </a:tc>
                    <a:tc>
                      <a:txBody>
                        <a:bodyPr/>
                        <a:lstStyle/>
                        <a:p>
                          <a:pPr>
                            <a:buNone/>
                          </a:pPr>
                          <a:r>
                            <a:rPr lang="en-US" dirty="0">
                              <a:latin typeface="Times New Roman" panose="02020603050405020304" pitchFamily="18" charset="0"/>
                              <a:cs typeface="Times New Roman" panose="02020603050405020304" pitchFamily="18" charset="0"/>
                            </a:rPr>
                            <a:t>22 crisis windows (4% of total)</a:t>
                          </a:r>
                        </a:p>
                      </a:txBody>
                      <a:tcPr anchor="ctr"/>
                    </a:tc>
                    <a:extLst>
                      <a:ext uri="{0D108BD9-81ED-4DB2-BD59-A6C34878D82A}">
                        <a16:rowId xmlns:a16="http://schemas.microsoft.com/office/drawing/2014/main" val="1230021275"/>
                      </a:ext>
                    </a:extLst>
                  </a:tr>
                  <a:tr h="648846">
                    <a:tc>
                      <a:txBody>
                        <a:bodyPr/>
                        <a:lstStyle/>
                        <a:p>
                          <a:pPr>
                            <a:buNone/>
                          </a:pPr>
                          <a:r>
                            <a:rPr lang="en-IN" b="1">
                              <a:latin typeface="Times New Roman" panose="02020603050405020304" pitchFamily="18" charset="0"/>
                              <a:cs typeface="Times New Roman" panose="02020603050405020304" pitchFamily="18" charset="0"/>
                            </a:rPr>
                            <a:t>Robustness Test</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pt-BR" dirty="0">
                              <a:latin typeface="Times New Roman" panose="02020603050405020304" pitchFamily="18" charset="0"/>
                              <a:cs typeface="Times New Roman" panose="02020603050405020304" pitchFamily="18" charset="0"/>
                            </a:rPr>
                            <a:t>COVID-19 exclusion (p &lt; 0.001, n=47)</a:t>
                          </a:r>
                        </a:p>
                      </a:txBody>
                      <a:tcPr anchor="ctr"/>
                    </a:tc>
                    <a:tc>
                      <a:txBody>
                        <a:bodyPr/>
                        <a:lstStyle/>
                        <a:p>
                          <a:pPr>
                            <a:buNone/>
                          </a:pPr>
                          <a:r>
                            <a:rPr lang="en-IN" dirty="0">
                              <a:latin typeface="Times New Roman" panose="02020603050405020304" pitchFamily="18" charset="0"/>
                              <a:cs typeface="Times New Roman" panose="02020603050405020304" pitchFamily="18" charset="0"/>
                            </a:rPr>
                            <a:t>Walk-forward validation (OOS&gt;IS)</a:t>
                          </a:r>
                        </a:p>
                      </a:txBody>
                      <a:tcPr anchor="ctr"/>
                    </a:tc>
                    <a:extLst>
                      <a:ext uri="{0D108BD9-81ED-4DB2-BD59-A6C34878D82A}">
                        <a16:rowId xmlns:a16="http://schemas.microsoft.com/office/drawing/2014/main" val="1132237256"/>
                      </a:ext>
                    </a:extLst>
                  </a:tr>
                  <a:tr h="648846">
                    <a:tc>
                      <a:txBody>
                        <a:bodyPr/>
                        <a:lstStyle/>
                        <a:p>
                          <a:pPr>
                            <a:buNone/>
                          </a:pPr>
                          <a:r>
                            <a:rPr lang="en-IN" b="1">
                              <a:latin typeface="Times New Roman" panose="02020603050405020304" pitchFamily="18" charset="0"/>
                              <a:cs typeface="Times New Roman" panose="02020603050405020304" pitchFamily="18" charset="0"/>
                            </a:rPr>
                            <a:t>Design Feature</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dirty="0">
                              <a:latin typeface="Times New Roman" panose="02020603050405020304" pitchFamily="18" charset="0"/>
                              <a:cs typeface="Times New Roman" panose="02020603050405020304" pitchFamily="18" charset="0"/>
                            </a:rPr>
                            <a:t>Binary switching</a:t>
                          </a:r>
                        </a:p>
                      </a:txBody>
                      <a:tcPr anchor="ctr"/>
                    </a:tc>
                    <a:tc>
                      <a:txBody>
                        <a:bodyPr/>
                        <a:lstStyle/>
                        <a:p>
                          <a:endParaRPr lang="en-US"/>
                        </a:p>
                      </a:txBody>
                      <a:tcPr anchor="ctr">
                        <a:blipFill>
                          <a:blip r:embed="rId3"/>
                          <a:stretch>
                            <a:fillRect l="-230144" t="-568868" r="-722" b="-102830"/>
                          </a:stretch>
                        </a:blipFill>
                      </a:tcPr>
                    </a:tc>
                    <a:extLst>
                      <a:ext uri="{0D108BD9-81ED-4DB2-BD59-A6C34878D82A}">
                        <a16:rowId xmlns:a16="http://schemas.microsoft.com/office/drawing/2014/main" val="314814939"/>
                      </a:ext>
                    </a:extLst>
                  </a:tr>
                  <a:tr h="648846">
                    <a:tc>
                      <a:txBody>
                        <a:bodyPr/>
                        <a:lstStyle/>
                        <a:p>
                          <a:pPr>
                            <a:buNone/>
                          </a:pPr>
                          <a:r>
                            <a:rPr lang="en-IN" b="1">
                              <a:latin typeface="Times New Roman" panose="02020603050405020304" pitchFamily="18" charset="0"/>
                              <a:cs typeface="Times New Roman" panose="02020603050405020304" pitchFamily="18" charset="0"/>
                            </a:rPr>
                            <a:t>Power Analysis</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Adequate (51 windows)</a:t>
                          </a:r>
                        </a:p>
                      </a:txBody>
                      <a:tcPr anchor="ctr"/>
                    </a:tc>
                    <a:tc>
                      <a:txBody>
                        <a:bodyPr/>
                        <a:lstStyle/>
                        <a:p>
                          <a:pPr>
                            <a:buNone/>
                          </a:pPr>
                          <a:r>
                            <a:rPr lang="en-US" dirty="0">
                              <a:latin typeface="Times New Roman" panose="02020603050405020304" pitchFamily="18" charset="0"/>
                              <a:cs typeface="Times New Roman" panose="02020603050405020304" pitchFamily="18" charset="0"/>
                            </a:rPr>
                            <a:t>Low (β̂=0.31, need 89 pairs for 80%)</a:t>
                          </a:r>
                        </a:p>
                      </a:txBody>
                      <a:tcPr anchor="ctr"/>
                    </a:tc>
                    <a:extLst>
                      <a:ext uri="{0D108BD9-81ED-4DB2-BD59-A6C34878D82A}">
                        <a16:rowId xmlns:a16="http://schemas.microsoft.com/office/drawing/2014/main" val="54476523"/>
                      </a:ext>
                    </a:extLst>
                  </a:tr>
                </a:tbl>
              </a:graphicData>
            </a:graphic>
          </p:graphicFrame>
        </mc:Fallback>
      </mc:AlternateContent>
    </p:spTree>
    <p:extLst>
      <p:ext uri="{BB962C8B-B14F-4D97-AF65-F5344CB8AC3E}">
        <p14:creationId xmlns:p14="http://schemas.microsoft.com/office/powerpoint/2010/main" val="1996795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F409809A-6CB0-597C-3780-99E2C6571303}"/>
            </a:ext>
          </a:extLst>
        </p:cNvPr>
        <p:cNvGrpSpPr/>
        <p:nvPr/>
      </p:nvGrpSpPr>
      <p:grpSpPr>
        <a:xfrm>
          <a:off x="0" y="0"/>
          <a:ext cx="0" cy="0"/>
          <a:chOff x="0" y="0"/>
          <a:chExt cx="0" cy="0"/>
        </a:xfrm>
      </p:grpSpPr>
      <p:sp>
        <p:nvSpPr>
          <p:cNvPr id="102" name="Google Shape;102;p3">
            <a:extLst>
              <a:ext uri="{FF2B5EF4-FFF2-40B4-BE49-F238E27FC236}">
                <a16:creationId xmlns:a16="http://schemas.microsoft.com/office/drawing/2014/main" id="{5459C62A-7852-1EC0-FFFC-1F34E9453855}"/>
              </a:ext>
            </a:extLst>
          </p:cNvPr>
          <p:cNvSpPr txBox="1">
            <a:spLocks noGrp="1"/>
          </p:cNvSpPr>
          <p:nvPr>
            <p:ph type="title"/>
          </p:nvPr>
        </p:nvSpPr>
        <p:spPr>
          <a:xfrm>
            <a:off x="1089764" y="214816"/>
            <a:ext cx="11038114" cy="665717"/>
          </a:xfrm>
          <a:prstGeom prst="rect">
            <a:avLst/>
          </a:prstGeom>
          <a:noFill/>
          <a:ln>
            <a:noFill/>
          </a:ln>
        </p:spPr>
        <p:txBody>
          <a:bodyPr spcFirstLastPara="1" wrap="square" lIns="91425" tIns="45700" rIns="91425" bIns="45700" anchor="t" anchorCtr="0">
            <a:noAutofit/>
          </a:bodyPr>
          <a:lstStyle/>
          <a:p>
            <a:pPr lvl="0" algn="l"/>
            <a:r>
              <a:rPr lang="en-IN" sz="3200" dirty="0"/>
              <a:t>Comparative Results: Paper 1 vs Paper 2</a:t>
            </a:r>
            <a:endParaRPr sz="3200" dirty="0"/>
          </a:p>
        </p:txBody>
      </p:sp>
      <p:graphicFrame>
        <p:nvGraphicFramePr>
          <p:cNvPr id="103" name="Google Shape;103;p3">
            <a:extLst>
              <a:ext uri="{FF2B5EF4-FFF2-40B4-BE49-F238E27FC236}">
                <a16:creationId xmlns:a16="http://schemas.microsoft.com/office/drawing/2014/main" id="{360A07DE-B7C4-FA69-214C-A13F164038FE}"/>
              </a:ext>
            </a:extLst>
          </p:cNvPr>
          <p:cNvGraphicFramePr/>
          <p:nvPr>
            <p:extLst>
              <p:ext uri="{D42A27DB-BD31-4B8C-83A1-F6EECF244321}">
                <p14:modId xmlns:p14="http://schemas.microsoft.com/office/powerpoint/2010/main" val="3964924172"/>
              </p:ext>
            </p:extLst>
          </p:nvPr>
        </p:nvGraphicFramePr>
        <p:xfrm>
          <a:off x="816429" y="880532"/>
          <a:ext cx="11038114" cy="5465836"/>
        </p:xfrm>
        <a:graphic>
          <a:graphicData uri="http://schemas.openxmlformats.org/drawingml/2006/table">
            <a:tbl>
              <a:tblPr firstRow="1" bandRow="1">
                <a:noFill/>
                <a:tableStyleId>{48133A83-268A-4673-80D7-47B9B74EA727}</a:tableStyleId>
              </a:tblPr>
              <a:tblGrid>
                <a:gridCol w="2837292">
                  <a:extLst>
                    <a:ext uri="{9D8B030D-6E8A-4147-A177-3AD203B41FA5}">
                      <a16:colId xmlns:a16="http://schemas.microsoft.com/office/drawing/2014/main" val="20000"/>
                    </a:ext>
                  </a:extLst>
                </a:gridCol>
                <a:gridCol w="3163589">
                  <a:extLst>
                    <a:ext uri="{9D8B030D-6E8A-4147-A177-3AD203B41FA5}">
                      <a16:colId xmlns:a16="http://schemas.microsoft.com/office/drawing/2014/main" val="20001"/>
                    </a:ext>
                  </a:extLst>
                </a:gridCol>
                <a:gridCol w="2606221">
                  <a:extLst>
                    <a:ext uri="{9D8B030D-6E8A-4147-A177-3AD203B41FA5}">
                      <a16:colId xmlns:a16="http://schemas.microsoft.com/office/drawing/2014/main" val="20002"/>
                    </a:ext>
                  </a:extLst>
                </a:gridCol>
                <a:gridCol w="2431012">
                  <a:extLst>
                    <a:ext uri="{9D8B030D-6E8A-4147-A177-3AD203B41FA5}">
                      <a16:colId xmlns:a16="http://schemas.microsoft.com/office/drawing/2014/main" val="3690596373"/>
                    </a:ext>
                  </a:extLst>
                </a:gridCol>
              </a:tblGrid>
              <a:tr h="350326">
                <a:tc>
                  <a:txBody>
                    <a:bodyPr/>
                    <a:lstStyle/>
                    <a:p>
                      <a:pPr>
                        <a:buNone/>
                      </a:pPr>
                      <a:r>
                        <a:rPr lang="en-IN">
                          <a:latin typeface="Times New Roman" panose="02020603050405020304" pitchFamily="18" charset="0"/>
                          <a:cs typeface="Times New Roman" panose="02020603050405020304" pitchFamily="18" charset="0"/>
                        </a:rPr>
                        <a:t>Metric</a:t>
                      </a:r>
                    </a:p>
                  </a:txBody>
                  <a:tcPr anchor="ctr"/>
                </a:tc>
                <a:tc>
                  <a:txBody>
                    <a:bodyPr/>
                    <a:lstStyle/>
                    <a:p>
                      <a:pPr>
                        <a:buNone/>
                      </a:pPr>
                      <a:r>
                        <a:rPr lang="en-IN">
                          <a:latin typeface="Times New Roman" panose="02020603050405020304" pitchFamily="18" charset="0"/>
                          <a:cs typeface="Times New Roman" panose="02020603050405020304" pitchFamily="18" charset="0"/>
                        </a:rPr>
                        <a:t>Paper 1 (Regime Switch)</a:t>
                      </a:r>
                    </a:p>
                  </a:txBody>
                  <a:tcPr anchor="ctr"/>
                </a:tc>
                <a:tc>
                  <a:txBody>
                    <a:bodyPr/>
                    <a:lstStyle/>
                    <a:p>
                      <a:pPr>
                        <a:buNone/>
                      </a:pPr>
                      <a:r>
                        <a:rPr lang="en-IN">
                          <a:latin typeface="Times New Roman" panose="02020603050405020304" pitchFamily="18" charset="0"/>
                          <a:cs typeface="Times New Roman" panose="02020603050405020304" pitchFamily="18" charset="0"/>
                        </a:rPr>
                        <a:t>Paper 2 (G-CVaR)</a:t>
                      </a:r>
                    </a:p>
                  </a:txBody>
                  <a:tcPr anchor="ctr"/>
                </a:tc>
                <a:tc>
                  <a:txBody>
                    <a:bodyPr/>
                    <a:lstStyle/>
                    <a:p>
                      <a:pPr>
                        <a:buNone/>
                      </a:pPr>
                      <a:r>
                        <a:rPr lang="en-IN">
                          <a:latin typeface="Times New Roman" panose="02020603050405020304" pitchFamily="18" charset="0"/>
                          <a:cs typeface="Times New Roman" panose="02020603050405020304" pitchFamily="18" charset="0"/>
                        </a:rPr>
                        <a:t>Benchmark</a:t>
                      </a:r>
                    </a:p>
                  </a:txBody>
                  <a:tcPr anchor="ctr"/>
                </a:tc>
                <a:extLst>
                  <a:ext uri="{0D108BD9-81ED-4DB2-BD59-A6C34878D82A}">
                    <a16:rowId xmlns:a16="http://schemas.microsoft.com/office/drawing/2014/main" val="10000"/>
                  </a:ext>
                </a:extLst>
              </a:tr>
              <a:tr h="504923">
                <a:tc>
                  <a:txBody>
                    <a:bodyPr/>
                    <a:lstStyle/>
                    <a:p>
                      <a:pPr>
                        <a:buNone/>
                      </a:pPr>
                      <a:r>
                        <a:rPr lang="en-IN">
                          <a:latin typeface="Times New Roman" panose="02020603050405020304" pitchFamily="18" charset="0"/>
                          <a:cs typeface="Times New Roman" panose="02020603050405020304" pitchFamily="18" charset="0"/>
                        </a:rPr>
                        <a:t>Evaluation Period</a:t>
                      </a:r>
                    </a:p>
                  </a:txBody>
                  <a:tcPr anchor="ctr"/>
                </a:tc>
                <a:tc>
                  <a:txBody>
                    <a:bodyPr/>
                    <a:lstStyle/>
                    <a:p>
                      <a:pPr>
                        <a:buNone/>
                      </a:pPr>
                      <a:r>
                        <a:rPr lang="en-IN">
                          <a:latin typeface="Times New Roman" panose="02020603050405020304" pitchFamily="18" charset="0"/>
                          <a:cs typeface="Times New Roman" panose="02020603050405020304" pitchFamily="18" charset="0"/>
                        </a:rPr>
                        <a:t>2012-2024</a:t>
                      </a:r>
                    </a:p>
                  </a:txBody>
                  <a:tcPr anchor="ctr"/>
                </a:tc>
                <a:tc>
                  <a:txBody>
                    <a:bodyPr/>
                    <a:lstStyle/>
                    <a:p>
                      <a:pPr>
                        <a:buNone/>
                      </a:pPr>
                      <a:r>
                        <a:rPr lang="en-IN">
                          <a:latin typeface="Times New Roman" panose="02020603050405020304" pitchFamily="18" charset="0"/>
                          <a:cs typeface="Times New Roman" panose="02020603050405020304" pitchFamily="18" charset="0"/>
                        </a:rPr>
                        <a:t>2005-2025</a:t>
                      </a:r>
                    </a:p>
                  </a:txBody>
                  <a:tcPr anchor="ctr"/>
                </a:tc>
                <a:tc>
                  <a:txBody>
                    <a:bodyPr/>
                    <a:lstStyle/>
                    <a:p>
                      <a:pPr>
                        <a:buNone/>
                      </a:pPr>
                      <a:r>
                        <a:rPr lang="en-IN">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10001"/>
                  </a:ext>
                </a:extLst>
              </a:tr>
              <a:tr h="504923">
                <a:tc>
                  <a:txBody>
                    <a:bodyPr/>
                    <a:lstStyle/>
                    <a:p>
                      <a:pPr>
                        <a:buNone/>
                      </a:pPr>
                      <a:r>
                        <a:rPr lang="en-IN">
                          <a:latin typeface="Times New Roman" panose="02020603050405020304" pitchFamily="18" charset="0"/>
                          <a:cs typeface="Times New Roman" panose="02020603050405020304" pitchFamily="18" charset="0"/>
                        </a:rPr>
                        <a:t>Sample Size</a:t>
                      </a:r>
                    </a:p>
                  </a:txBody>
                  <a:tcPr anchor="ctr"/>
                </a:tc>
                <a:tc>
                  <a:txBody>
                    <a:bodyPr/>
                    <a:lstStyle/>
                    <a:p>
                      <a:pPr>
                        <a:buNone/>
                      </a:pPr>
                      <a:r>
                        <a:rPr lang="en-IN">
                          <a:latin typeface="Times New Roman" panose="02020603050405020304" pitchFamily="18" charset="0"/>
                          <a:cs typeface="Times New Roman" panose="02020603050405020304" pitchFamily="18" charset="0"/>
                        </a:rPr>
                        <a:t>51 windows, 19 equities</a:t>
                      </a:r>
                    </a:p>
                  </a:txBody>
                  <a:tcPr anchor="ctr"/>
                </a:tc>
                <a:tc>
                  <a:txBody>
                    <a:bodyPr/>
                    <a:lstStyle/>
                    <a:p>
                      <a:pPr>
                        <a:buNone/>
                      </a:pPr>
                      <a:r>
                        <a:rPr lang="en-IN">
                          <a:latin typeface="Times New Roman" panose="02020603050405020304" pitchFamily="18" charset="0"/>
                          <a:cs typeface="Times New Roman" panose="02020603050405020304" pitchFamily="18" charset="0"/>
                        </a:rPr>
                        <a:t>552 windows, 218 equities</a:t>
                      </a:r>
                    </a:p>
                  </a:txBody>
                  <a:tcPr anchor="ctr"/>
                </a:tc>
                <a:tc>
                  <a:txBody>
                    <a:bodyPr/>
                    <a:lstStyle/>
                    <a:p>
                      <a:pPr>
                        <a:buNone/>
                      </a:pPr>
                      <a:r>
                        <a:rPr lang="en-IN">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10002"/>
                  </a:ext>
                </a:extLst>
              </a:tr>
              <a:tr h="513208">
                <a:tc>
                  <a:txBody>
                    <a:bodyPr/>
                    <a:lstStyle/>
                    <a:p>
                      <a:pPr>
                        <a:buNone/>
                      </a:pPr>
                      <a:r>
                        <a:rPr lang="en-IN">
                          <a:latin typeface="Times New Roman" panose="02020603050405020304" pitchFamily="18" charset="0"/>
                          <a:cs typeface="Times New Roman" panose="02020603050405020304" pitchFamily="18" charset="0"/>
                        </a:rPr>
                        <a:t>MaxDD Improvement</a:t>
                      </a:r>
                    </a:p>
                  </a:txBody>
                  <a:tcPr anchor="ctr"/>
                </a:tc>
                <a:tc>
                  <a:txBody>
                    <a:bodyPr/>
                    <a:lstStyle/>
                    <a:p>
                      <a:pPr>
                        <a:buNone/>
                      </a:pPr>
                      <a:r>
                        <a:rPr lang="en-IN">
                          <a:latin typeface="Times New Roman" panose="02020603050405020304" pitchFamily="18" charset="0"/>
                          <a:cs typeface="Times New Roman" panose="02020603050405020304" pitchFamily="18" charset="0"/>
                        </a:rPr>
                        <a:t>38.1% (p&lt;0.001)</a:t>
                      </a:r>
                    </a:p>
                  </a:txBody>
                  <a:tcPr anchor="ctr"/>
                </a:tc>
                <a:tc>
                  <a:txBody>
                    <a:bodyPr/>
                    <a:lstStyle/>
                    <a:p>
                      <a:pPr>
                        <a:buNone/>
                      </a:pPr>
                      <a:r>
                        <a:rPr lang="en-US">
                          <a:latin typeface="Times New Roman" panose="02020603050405020304" pitchFamily="18" charset="0"/>
                          <a:cs typeface="Times New Roman" panose="02020603050405020304" pitchFamily="18" charset="0"/>
                        </a:rPr>
                        <a:t>32.5 pp crisis (p=0.0068)</a:t>
                      </a:r>
                    </a:p>
                  </a:txBody>
                  <a:tcPr anchor="ctr"/>
                </a:tc>
                <a:tc>
                  <a:txBody>
                    <a:bodyPr/>
                    <a:lstStyle/>
                    <a:p>
                      <a:pPr>
                        <a:buNone/>
                      </a:pPr>
                      <a:r>
                        <a:rPr lang="en-IN">
                          <a:latin typeface="Times New Roman" panose="02020603050405020304" pitchFamily="18" charset="0"/>
                          <a:cs typeface="Times New Roman" panose="02020603050405020304" pitchFamily="18" charset="0"/>
                        </a:rPr>
                        <a:t>Static MV / EqW</a:t>
                      </a:r>
                    </a:p>
                  </a:txBody>
                  <a:tcPr anchor="ctr"/>
                </a:tc>
                <a:extLst>
                  <a:ext uri="{0D108BD9-81ED-4DB2-BD59-A6C34878D82A}">
                    <a16:rowId xmlns:a16="http://schemas.microsoft.com/office/drawing/2014/main" val="10003"/>
                  </a:ext>
                </a:extLst>
              </a:tr>
              <a:tr h="513208">
                <a:tc>
                  <a:txBody>
                    <a:bodyPr/>
                    <a:lstStyle/>
                    <a:p>
                      <a:pPr>
                        <a:buNone/>
                      </a:pPr>
                      <a:r>
                        <a:rPr lang="en-IN">
                          <a:latin typeface="Times New Roman" panose="02020603050405020304" pitchFamily="18" charset="0"/>
                          <a:cs typeface="Times New Roman" panose="02020603050405020304" pitchFamily="18" charset="0"/>
                        </a:rPr>
                        <a:t>Sharpe Ratio</a:t>
                      </a:r>
                    </a:p>
                  </a:txBody>
                  <a:tcPr anchor="ctr"/>
                </a:tc>
                <a:tc>
                  <a:txBody>
                    <a:bodyPr/>
                    <a:lstStyle/>
                    <a:p>
                      <a:pPr>
                        <a:buNone/>
                      </a:pPr>
                      <a:r>
                        <a:rPr lang="en-IN">
                          <a:latin typeface="Times New Roman" panose="02020603050405020304" pitchFamily="18" charset="0"/>
                          <a:cs typeface="Times New Roman" panose="02020603050405020304" pitchFamily="18" charset="0"/>
                        </a:rPr>
                        <a:t>1.196 vs 1.000</a:t>
                      </a:r>
                    </a:p>
                  </a:txBody>
                  <a:tcPr anchor="ctr"/>
                </a:tc>
                <a:tc>
                  <a:txBody>
                    <a:bodyPr/>
                    <a:lstStyle/>
                    <a:p>
                      <a:pPr>
                        <a:buNone/>
                      </a:pPr>
                      <a:r>
                        <a:rPr lang="en-IN">
                          <a:latin typeface="Times New Roman" panose="02020603050405020304" pitchFamily="18" charset="0"/>
                          <a:cs typeface="Times New Roman" panose="02020603050405020304" pitchFamily="18" charset="0"/>
                        </a:rPr>
                        <a:t>0.646 ± 0.185</a:t>
                      </a:r>
                    </a:p>
                  </a:txBody>
                  <a:tcPr anchor="ctr"/>
                </a:tc>
                <a:tc>
                  <a:txBody>
                    <a:bodyPr/>
                    <a:lstStyle/>
                    <a:p>
                      <a:pPr>
                        <a:buNone/>
                      </a:pPr>
                      <a:r>
                        <a:rPr lang="en-IN">
                          <a:latin typeface="Times New Roman" panose="02020603050405020304" pitchFamily="18" charset="0"/>
                          <a:cs typeface="Times New Roman" panose="02020603050405020304" pitchFamily="18" charset="0"/>
                        </a:rPr>
                        <a:t>vs Static MV</a:t>
                      </a:r>
                    </a:p>
                  </a:txBody>
                  <a:tcPr anchor="ctr"/>
                </a:tc>
                <a:extLst>
                  <a:ext uri="{0D108BD9-81ED-4DB2-BD59-A6C34878D82A}">
                    <a16:rowId xmlns:a16="http://schemas.microsoft.com/office/drawing/2014/main" val="1230021275"/>
                  </a:ext>
                </a:extLst>
              </a:tr>
              <a:tr h="513208">
                <a:tc>
                  <a:txBody>
                    <a:bodyPr/>
                    <a:lstStyle/>
                    <a:p>
                      <a:pPr>
                        <a:buNone/>
                      </a:pPr>
                      <a:r>
                        <a:rPr lang="en-IN">
                          <a:latin typeface="Times New Roman" panose="02020603050405020304" pitchFamily="18" charset="0"/>
                          <a:cs typeface="Times New Roman" panose="02020603050405020304" pitchFamily="18" charset="0"/>
                        </a:rPr>
                        <a:t>CVaR@95% Reduction</a:t>
                      </a:r>
                    </a:p>
                  </a:txBody>
                  <a:tcPr anchor="ctr"/>
                </a:tc>
                <a:tc>
                  <a:txBody>
                    <a:bodyPr/>
                    <a:lstStyle/>
                    <a:p>
                      <a:pPr>
                        <a:buNone/>
                      </a:pPr>
                      <a:r>
                        <a:rPr lang="en-IN" dirty="0">
                          <a:latin typeface="Times New Roman" panose="02020603050405020304" pitchFamily="18" charset="0"/>
                          <a:cs typeface="Times New Roman" panose="02020603050405020304" pitchFamily="18" charset="0"/>
                        </a:rPr>
                        <a:t>N/A</a:t>
                      </a:r>
                    </a:p>
                  </a:txBody>
                  <a:tcPr anchor="ctr"/>
                </a:tc>
                <a:tc>
                  <a:txBody>
                    <a:bodyPr/>
                    <a:lstStyle/>
                    <a:p>
                      <a:pPr>
                        <a:buNone/>
                      </a:pPr>
                      <a:r>
                        <a:rPr lang="en-IN">
                          <a:latin typeface="Times New Roman" panose="02020603050405020304" pitchFamily="18" charset="0"/>
                          <a:cs typeface="Times New Roman" panose="02020603050405020304" pitchFamily="18" charset="0"/>
                        </a:rPr>
                        <a:t>25.9%</a:t>
                      </a:r>
                    </a:p>
                  </a:txBody>
                  <a:tcPr anchor="ctr"/>
                </a:tc>
                <a:tc>
                  <a:txBody>
                    <a:bodyPr/>
                    <a:lstStyle/>
                    <a:p>
                      <a:pPr>
                        <a:buNone/>
                      </a:pPr>
                      <a:r>
                        <a:rPr lang="en-IN">
                          <a:latin typeface="Times New Roman" panose="02020603050405020304" pitchFamily="18" charset="0"/>
                          <a:cs typeface="Times New Roman" panose="02020603050405020304" pitchFamily="18" charset="0"/>
                        </a:rPr>
                        <a:t>vs Equal Weight</a:t>
                      </a:r>
                    </a:p>
                  </a:txBody>
                  <a:tcPr anchor="ctr"/>
                </a:tc>
                <a:extLst>
                  <a:ext uri="{0D108BD9-81ED-4DB2-BD59-A6C34878D82A}">
                    <a16:rowId xmlns:a16="http://schemas.microsoft.com/office/drawing/2014/main" val="1132237256"/>
                  </a:ext>
                </a:extLst>
              </a:tr>
              <a:tr h="513208">
                <a:tc>
                  <a:txBody>
                    <a:bodyPr/>
                    <a:lstStyle/>
                    <a:p>
                      <a:pPr>
                        <a:buNone/>
                      </a:pPr>
                      <a:r>
                        <a:rPr lang="en-IN">
                          <a:latin typeface="Times New Roman" panose="02020603050405020304" pitchFamily="18" charset="0"/>
                          <a:cs typeface="Times New Roman" panose="02020603050405020304" pitchFamily="18" charset="0"/>
                        </a:rPr>
                        <a:t>Diversification</a:t>
                      </a:r>
                    </a:p>
                  </a:txBody>
                  <a:tcPr anchor="ctr"/>
                </a:tc>
                <a:tc>
                  <a:txBody>
                    <a:bodyPr/>
                    <a:lstStyle/>
                    <a:p>
                      <a:pPr>
                        <a:buNone/>
                      </a:pPr>
                      <a:r>
                        <a:rPr lang="en-IN">
                          <a:latin typeface="Times New Roman" panose="02020603050405020304" pitchFamily="18" charset="0"/>
                          <a:cs typeface="Times New Roman" panose="02020603050405020304" pitchFamily="18" charset="0"/>
                        </a:rPr>
                        <a:t>4.3x (HHI 0.647→0.166)</a:t>
                      </a:r>
                    </a:p>
                  </a:txBody>
                  <a:tcPr anchor="ctr"/>
                </a:tc>
                <a:tc>
                  <a:txBody>
                    <a:bodyPr/>
                    <a:lstStyle/>
                    <a:p>
                      <a:pPr>
                        <a:buNone/>
                      </a:pPr>
                      <a:r>
                        <a:rPr lang="en-IN">
                          <a:latin typeface="Times New Roman" panose="02020603050405020304" pitchFamily="18" charset="0"/>
                          <a:cs typeface="Times New Roman" panose="02020603050405020304" pitchFamily="18" charset="0"/>
                        </a:rPr>
                        <a:t>Regime-dependent</a:t>
                      </a:r>
                    </a:p>
                  </a:txBody>
                  <a:tcPr anchor="ctr"/>
                </a:tc>
                <a:tc>
                  <a:txBody>
                    <a:bodyPr/>
                    <a:lstStyle/>
                    <a:p>
                      <a:pPr>
                        <a:buNone/>
                      </a:pPr>
                      <a:r>
                        <a:rPr lang="en-IN">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314814939"/>
                  </a:ext>
                </a:extLst>
              </a:tr>
              <a:tr h="513208">
                <a:tc>
                  <a:txBody>
                    <a:bodyPr/>
                    <a:lstStyle/>
                    <a:p>
                      <a:pPr>
                        <a:buNone/>
                      </a:pPr>
                      <a:r>
                        <a:rPr lang="en-IN">
                          <a:latin typeface="Times New Roman" panose="02020603050405020304" pitchFamily="18" charset="0"/>
                          <a:cs typeface="Times New Roman" panose="02020603050405020304" pitchFamily="18" charset="0"/>
                        </a:rPr>
                        <a:t>Governance Stability</a:t>
                      </a:r>
                    </a:p>
                  </a:txBody>
                  <a:tcPr anchor="ctr"/>
                </a:tc>
                <a:tc>
                  <a:txBody>
                    <a:bodyPr/>
                    <a:lstStyle/>
                    <a:p>
                      <a:pPr>
                        <a:buNone/>
                      </a:pPr>
                      <a:r>
                        <a:rPr lang="en-IN">
                          <a:latin typeface="Times New Roman" panose="02020603050405020304" pitchFamily="18" charset="0"/>
                          <a:cs typeface="Times New Roman" panose="02020603050405020304" pitchFamily="18" charset="0"/>
                        </a:rPr>
                        <a:t>53% improvement (GS)</a:t>
                      </a:r>
                    </a:p>
                  </a:txBody>
                  <a:tcPr anchor="ctr"/>
                </a:tc>
                <a:tc>
                  <a:txBody>
                    <a:bodyPr/>
                    <a:lstStyle/>
                    <a:p>
                      <a:pPr>
                        <a:buNone/>
                      </a:pPr>
                      <a:r>
                        <a:rPr lang="en-IN">
                          <a:latin typeface="Times New Roman" panose="02020603050405020304" pitchFamily="18" charset="0"/>
                          <a:cs typeface="Times New Roman" panose="02020603050405020304" pitchFamily="18" charset="0"/>
                        </a:rPr>
                        <a:t>Blackboard isolation</a:t>
                      </a:r>
                    </a:p>
                  </a:txBody>
                  <a:tcPr anchor="ctr"/>
                </a:tc>
                <a:tc>
                  <a:txBody>
                    <a:bodyPr/>
                    <a:lstStyle/>
                    <a:p>
                      <a:pPr>
                        <a:buNone/>
                      </a:pPr>
                      <a:r>
                        <a:rPr lang="en-IN">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54476523"/>
                  </a:ext>
                </a:extLst>
              </a:tr>
              <a:tr h="513208">
                <a:tc>
                  <a:txBody>
                    <a:bodyPr/>
                    <a:lstStyle/>
                    <a:p>
                      <a:pPr>
                        <a:buNone/>
                      </a:pPr>
                      <a:r>
                        <a:rPr lang="en-IN">
                          <a:latin typeface="Times New Roman" panose="02020603050405020304" pitchFamily="18" charset="0"/>
                          <a:cs typeface="Times New Roman" panose="02020603050405020304" pitchFamily="18" charset="0"/>
                        </a:rPr>
                        <a:t>Architecture</a:t>
                      </a:r>
                    </a:p>
                  </a:txBody>
                  <a:tcPr anchor="ctr"/>
                </a:tc>
                <a:tc>
                  <a:txBody>
                    <a:bodyPr/>
                    <a:lstStyle/>
                    <a:p>
                      <a:pPr>
                        <a:buNone/>
                      </a:pPr>
                      <a:r>
                        <a:rPr lang="en-IN">
                          <a:latin typeface="Times New Roman" panose="02020603050405020304" pitchFamily="18" charset="0"/>
                          <a:cs typeface="Times New Roman" panose="02020603050405020304" pitchFamily="18" charset="0"/>
                        </a:rPr>
                        <a:t>7-Agent Pipeline</a:t>
                      </a:r>
                    </a:p>
                  </a:txBody>
                  <a:tcPr anchor="ctr"/>
                </a:tc>
                <a:tc>
                  <a:txBody>
                    <a:bodyPr/>
                    <a:lstStyle/>
                    <a:p>
                      <a:pPr>
                        <a:buNone/>
                      </a:pPr>
                      <a:r>
                        <a:rPr lang="en-IN">
                          <a:latin typeface="Times New Roman" panose="02020603050405020304" pitchFamily="18" charset="0"/>
                          <a:cs typeface="Times New Roman" panose="02020603050405020304" pitchFamily="18" charset="0"/>
                        </a:rPr>
                        <a:t>5-Agent Blackboard</a:t>
                      </a:r>
                    </a:p>
                  </a:txBody>
                  <a:tcPr anchor="ctr"/>
                </a:tc>
                <a:tc>
                  <a:txBody>
                    <a:bodyPr/>
                    <a:lstStyle/>
                    <a:p>
                      <a:pPr>
                        <a:buNone/>
                      </a:pPr>
                      <a:r>
                        <a:rPr lang="en-IN">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927742251"/>
                  </a:ext>
                </a:extLst>
              </a:tr>
              <a:tr h="513208">
                <a:tc>
                  <a:txBody>
                    <a:bodyPr/>
                    <a:lstStyle/>
                    <a:p>
                      <a:pPr>
                        <a:buNone/>
                      </a:pPr>
                      <a:r>
                        <a:rPr lang="en-IN">
                          <a:latin typeface="Times New Roman" panose="02020603050405020304" pitchFamily="18" charset="0"/>
                          <a:cs typeface="Times New Roman" panose="02020603050405020304" pitchFamily="18" charset="0"/>
                        </a:rPr>
                        <a:t>Execution Time</a:t>
                      </a:r>
                    </a:p>
                  </a:txBody>
                  <a:tcPr anchor="ctr"/>
                </a:tc>
                <a:tc>
                  <a:txBody>
                    <a:bodyPr/>
                    <a:lstStyle/>
                    <a:p>
                      <a:pPr>
                        <a:buNone/>
                      </a:pPr>
                      <a:r>
                        <a:rPr lang="en-IN">
                          <a:latin typeface="Times New Roman" panose="02020603050405020304" pitchFamily="18" charset="0"/>
                          <a:cs typeface="Times New Roman" panose="02020603050405020304" pitchFamily="18" charset="0"/>
                        </a:rPr>
                        <a:t>~2.3 seconds</a:t>
                      </a:r>
                    </a:p>
                  </a:txBody>
                  <a:tcPr anchor="ctr"/>
                </a:tc>
                <a:tc>
                  <a:txBody>
                    <a:bodyPr/>
                    <a:lstStyle/>
                    <a:p>
                      <a:pPr>
                        <a:buNone/>
                      </a:pPr>
                      <a:r>
                        <a:rPr lang="en-IN">
                          <a:latin typeface="Times New Roman" panose="02020603050405020304" pitchFamily="18" charset="0"/>
                          <a:cs typeface="Times New Roman" panose="02020603050405020304" pitchFamily="18" charset="0"/>
                        </a:rPr>
                        <a:t>~3.9 seconds</a:t>
                      </a:r>
                    </a:p>
                  </a:txBody>
                  <a:tcPr anchor="ctr"/>
                </a:tc>
                <a:tc>
                  <a:txBody>
                    <a:bodyPr/>
                    <a:lstStyle/>
                    <a:p>
                      <a:pPr>
                        <a:buNone/>
                      </a:pPr>
                      <a:r>
                        <a:rPr lang="en-IN" dirty="0">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1503946459"/>
                  </a:ext>
                </a:extLst>
              </a:tr>
              <a:tr h="513208">
                <a:tc>
                  <a:txBody>
                    <a:bodyPr/>
                    <a:lstStyle/>
                    <a:p>
                      <a:pPr>
                        <a:buNone/>
                      </a:pPr>
                      <a:r>
                        <a:rPr lang="en-IN">
                          <a:latin typeface="Times New Roman" panose="02020603050405020304" pitchFamily="18" charset="0"/>
                          <a:cs typeface="Times New Roman" panose="02020603050405020304" pitchFamily="18" charset="0"/>
                        </a:rPr>
                        <a:t>Key Innovation</a:t>
                      </a:r>
                    </a:p>
                  </a:txBody>
                  <a:tcPr anchor="ctr"/>
                </a:tc>
                <a:tc>
                  <a:txBody>
                    <a:bodyPr/>
                    <a:lstStyle/>
                    <a:p>
                      <a:pPr>
                        <a:buNone/>
                      </a:pPr>
                      <a:r>
                        <a:rPr lang="en-IN" dirty="0">
                          <a:latin typeface="Times New Roman" panose="02020603050405020304" pitchFamily="18" charset="0"/>
                          <a:cs typeface="Times New Roman" panose="02020603050405020304" pitchFamily="18" charset="0"/>
                        </a:rPr>
                        <a:t>Binary regime switch</a:t>
                      </a:r>
                    </a:p>
                  </a:txBody>
                  <a:tcPr anchor="ctr"/>
                </a:tc>
                <a:tc>
                  <a:txBody>
                    <a:bodyPr/>
                    <a:lstStyle/>
                    <a:p>
                      <a:pPr>
                        <a:buNone/>
                      </a:pPr>
                      <a:r>
                        <a:rPr lang="en-IN">
                          <a:latin typeface="Times New Roman" panose="02020603050405020304" pitchFamily="18" charset="0"/>
                          <a:cs typeface="Times New Roman" panose="02020603050405020304" pitchFamily="18" charset="0"/>
                        </a:rPr>
                        <a:t>Graph-regularized penalty</a:t>
                      </a:r>
                    </a:p>
                  </a:txBody>
                  <a:tcPr anchor="ctr"/>
                </a:tc>
                <a:tc>
                  <a:txBody>
                    <a:bodyPr/>
                    <a:lstStyle/>
                    <a:p>
                      <a:pPr>
                        <a:buNone/>
                      </a:pPr>
                      <a:r>
                        <a:rPr lang="en-IN" dirty="0">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3225214326"/>
                  </a:ext>
                </a:extLst>
              </a:tr>
            </a:tbl>
          </a:graphicData>
        </a:graphic>
      </p:graphicFrame>
    </p:spTree>
    <p:extLst>
      <p:ext uri="{BB962C8B-B14F-4D97-AF65-F5344CB8AC3E}">
        <p14:creationId xmlns:p14="http://schemas.microsoft.com/office/powerpoint/2010/main" val="35488640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B81C8-0D16-2954-4DA7-DA9FA0014449}"/>
              </a:ext>
            </a:extLst>
          </p:cNvPr>
          <p:cNvSpPr>
            <a:spLocks noGrp="1"/>
          </p:cNvSpPr>
          <p:nvPr>
            <p:ph type="title"/>
          </p:nvPr>
        </p:nvSpPr>
        <p:spPr/>
        <p:txBody>
          <a:bodyPr/>
          <a:lstStyle/>
          <a:p>
            <a:r>
              <a:rPr lang="en-IN" dirty="0">
                <a:solidFill>
                  <a:srgbClr val="C00000"/>
                </a:solidFill>
              </a:rPr>
              <a:t>Chatbot Response</a:t>
            </a:r>
          </a:p>
        </p:txBody>
      </p:sp>
      <p:pic>
        <p:nvPicPr>
          <p:cNvPr id="5" name="Picture 4">
            <a:extLst>
              <a:ext uri="{FF2B5EF4-FFF2-40B4-BE49-F238E27FC236}">
                <a16:creationId xmlns:a16="http://schemas.microsoft.com/office/drawing/2014/main" id="{514DD44C-54F7-1DBC-52EA-525277A0A172}"/>
              </a:ext>
            </a:extLst>
          </p:cNvPr>
          <p:cNvPicPr>
            <a:picLocks noChangeAspect="1"/>
          </p:cNvPicPr>
          <p:nvPr/>
        </p:nvPicPr>
        <p:blipFill>
          <a:blip r:embed="rId2"/>
          <a:stretch>
            <a:fillRect/>
          </a:stretch>
        </p:blipFill>
        <p:spPr>
          <a:xfrm>
            <a:off x="889535" y="952901"/>
            <a:ext cx="7793512" cy="2829404"/>
          </a:xfrm>
          <a:prstGeom prst="rect">
            <a:avLst/>
          </a:prstGeom>
        </p:spPr>
      </p:pic>
      <p:pic>
        <p:nvPicPr>
          <p:cNvPr id="8" name="Picture 7">
            <a:extLst>
              <a:ext uri="{FF2B5EF4-FFF2-40B4-BE49-F238E27FC236}">
                <a16:creationId xmlns:a16="http://schemas.microsoft.com/office/drawing/2014/main" id="{F8CDB914-A859-C9F5-31FD-7B4018FE239F}"/>
              </a:ext>
            </a:extLst>
          </p:cNvPr>
          <p:cNvPicPr>
            <a:picLocks noChangeAspect="1"/>
          </p:cNvPicPr>
          <p:nvPr/>
        </p:nvPicPr>
        <p:blipFill>
          <a:blip r:embed="rId3"/>
          <a:stretch>
            <a:fillRect/>
          </a:stretch>
        </p:blipFill>
        <p:spPr>
          <a:xfrm>
            <a:off x="889535" y="3782305"/>
            <a:ext cx="8706852" cy="2710570"/>
          </a:xfrm>
          <a:prstGeom prst="rect">
            <a:avLst/>
          </a:prstGeom>
        </p:spPr>
      </p:pic>
    </p:spTree>
    <p:extLst>
      <p:ext uri="{BB962C8B-B14F-4D97-AF65-F5344CB8AC3E}">
        <p14:creationId xmlns:p14="http://schemas.microsoft.com/office/powerpoint/2010/main" val="42779722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25CC0-8C55-B9DF-F873-4DD3E7741C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124077-E6A2-77BD-5088-C52C2554D464}"/>
              </a:ext>
            </a:extLst>
          </p:cNvPr>
          <p:cNvSpPr>
            <a:spLocks noGrp="1"/>
          </p:cNvSpPr>
          <p:nvPr>
            <p:ph type="title"/>
          </p:nvPr>
        </p:nvSpPr>
        <p:spPr/>
        <p:txBody>
          <a:bodyPr/>
          <a:lstStyle/>
          <a:p>
            <a:r>
              <a:rPr lang="en-IN" dirty="0">
                <a:solidFill>
                  <a:srgbClr val="C00000"/>
                </a:solidFill>
              </a:rPr>
              <a:t>Chatbot Response</a:t>
            </a:r>
          </a:p>
        </p:txBody>
      </p:sp>
      <p:pic>
        <p:nvPicPr>
          <p:cNvPr id="4" name="Picture 3">
            <a:extLst>
              <a:ext uri="{FF2B5EF4-FFF2-40B4-BE49-F238E27FC236}">
                <a16:creationId xmlns:a16="http://schemas.microsoft.com/office/drawing/2014/main" id="{864DD31C-7F96-9B11-A695-FBDA8A361766}"/>
              </a:ext>
            </a:extLst>
          </p:cNvPr>
          <p:cNvPicPr>
            <a:picLocks noChangeAspect="1"/>
          </p:cNvPicPr>
          <p:nvPr/>
        </p:nvPicPr>
        <p:blipFill>
          <a:blip r:embed="rId2"/>
          <a:stretch>
            <a:fillRect/>
          </a:stretch>
        </p:blipFill>
        <p:spPr>
          <a:xfrm>
            <a:off x="838201" y="1027906"/>
            <a:ext cx="6986826" cy="2401094"/>
          </a:xfrm>
          <a:prstGeom prst="rect">
            <a:avLst/>
          </a:prstGeom>
        </p:spPr>
      </p:pic>
      <p:pic>
        <p:nvPicPr>
          <p:cNvPr id="9" name="Picture 8">
            <a:extLst>
              <a:ext uri="{FF2B5EF4-FFF2-40B4-BE49-F238E27FC236}">
                <a16:creationId xmlns:a16="http://schemas.microsoft.com/office/drawing/2014/main" id="{D5D31829-30CE-F7C6-E49C-0D9F42E742A8}"/>
              </a:ext>
            </a:extLst>
          </p:cNvPr>
          <p:cNvPicPr>
            <a:picLocks noChangeAspect="1"/>
          </p:cNvPicPr>
          <p:nvPr/>
        </p:nvPicPr>
        <p:blipFill>
          <a:blip r:embed="rId3"/>
          <a:stretch>
            <a:fillRect/>
          </a:stretch>
        </p:blipFill>
        <p:spPr>
          <a:xfrm>
            <a:off x="838200" y="3609473"/>
            <a:ext cx="6986827" cy="2569945"/>
          </a:xfrm>
          <a:prstGeom prst="rect">
            <a:avLst/>
          </a:prstGeom>
        </p:spPr>
      </p:pic>
      <p:pic>
        <p:nvPicPr>
          <p:cNvPr id="11" name="Picture 10">
            <a:extLst>
              <a:ext uri="{FF2B5EF4-FFF2-40B4-BE49-F238E27FC236}">
                <a16:creationId xmlns:a16="http://schemas.microsoft.com/office/drawing/2014/main" id="{B6918FD5-D11F-A178-4732-A1C3E92BB330}"/>
              </a:ext>
            </a:extLst>
          </p:cNvPr>
          <p:cNvPicPr>
            <a:picLocks noChangeAspect="1"/>
          </p:cNvPicPr>
          <p:nvPr/>
        </p:nvPicPr>
        <p:blipFill>
          <a:blip r:embed="rId4"/>
          <a:stretch>
            <a:fillRect/>
          </a:stretch>
        </p:blipFill>
        <p:spPr>
          <a:xfrm>
            <a:off x="8017845" y="3305247"/>
            <a:ext cx="3707438" cy="2874171"/>
          </a:xfrm>
          <a:prstGeom prst="rect">
            <a:avLst/>
          </a:prstGeom>
        </p:spPr>
      </p:pic>
    </p:spTree>
    <p:extLst>
      <p:ext uri="{BB962C8B-B14F-4D97-AF65-F5344CB8AC3E}">
        <p14:creationId xmlns:p14="http://schemas.microsoft.com/office/powerpoint/2010/main" val="28732156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47620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p17"/>
          <p:cNvSpPr txBox="1"/>
          <p:nvPr/>
        </p:nvSpPr>
        <p:spPr>
          <a:xfrm>
            <a:off x="971977" y="296861"/>
            <a:ext cx="10838221"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800" b="1" dirty="0">
                <a:solidFill>
                  <a:srgbClr val="C00000"/>
                </a:solidFill>
                <a:latin typeface="Times New Roman"/>
                <a:cs typeface="Times New Roman"/>
                <a:sym typeface="Times New Roman"/>
              </a:rPr>
              <a:t>Conclusion</a:t>
            </a:r>
            <a:endParaRPr dirty="0"/>
          </a:p>
        </p:txBody>
      </p:sp>
      <p:sp>
        <p:nvSpPr>
          <p:cNvPr id="4" name="Rectangle 2">
            <a:extLst>
              <a:ext uri="{FF2B5EF4-FFF2-40B4-BE49-F238E27FC236}">
                <a16:creationId xmlns:a16="http://schemas.microsoft.com/office/drawing/2014/main" id="{5B43BED3-8D9D-0F46-AA7C-5CD81FC8FC0F}"/>
              </a:ext>
            </a:extLst>
          </p:cNvPr>
          <p:cNvSpPr>
            <a:spLocks noGrp="1" noChangeArrowheads="1"/>
          </p:cNvSpPr>
          <p:nvPr>
            <p:ph type="body" idx="1"/>
          </p:nvPr>
        </p:nvSpPr>
        <p:spPr bwMode="auto">
          <a:xfrm>
            <a:off x="971550" y="878474"/>
            <a:ext cx="10697936"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i="0" u="none" strike="noStrike" cap="none" normalizeH="0" baseline="0" dirty="0">
                <a:ln>
                  <a:noFill/>
                </a:ln>
                <a:solidFill>
                  <a:schemeClr val="tx1"/>
                </a:solidFill>
                <a:effectLst/>
                <a:latin typeface="Arial" panose="020B0604020202020204" pitchFamily="34" charset="0"/>
              </a:rPr>
              <a:t>A working multi-agent stock analysis system was successfully implemented using Python, Gemini, and </a:t>
            </a:r>
            <a:r>
              <a:rPr kumimoji="0" lang="en-US" altLang="en-US" sz="2400" i="0" u="none" strike="noStrike" cap="none" normalizeH="0" baseline="0" dirty="0" err="1">
                <a:ln>
                  <a:noFill/>
                </a:ln>
                <a:solidFill>
                  <a:schemeClr val="tx1"/>
                </a:solidFill>
                <a:effectLst/>
                <a:latin typeface="Arial" panose="020B0604020202020204" pitchFamily="34" charset="0"/>
              </a:rPr>
              <a:t>YFinance</a:t>
            </a:r>
            <a:r>
              <a:rPr kumimoji="0" lang="en-US" altLang="en-US" sz="2400" i="0" u="none" strike="noStrike" cap="none" normalizeH="0" baseline="0" dirty="0">
                <a:ln>
                  <a:noFill/>
                </a:ln>
                <a:solidFill>
                  <a:schemeClr val="tx1"/>
                </a:solidFill>
                <a:effectLst/>
                <a:latin typeface="Arial" panose="020B0604020202020204" pitchFamily="34" charset="0"/>
              </a:rPr>
              <a:t>.</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i="0" u="none" strike="noStrike" cap="none" normalizeH="0" baseline="0" dirty="0">
                <a:ln>
                  <a:noFill/>
                </a:ln>
                <a:solidFill>
                  <a:schemeClr val="tx1"/>
                </a:solidFill>
                <a:effectLst/>
                <a:latin typeface="Arial" panose="020B0604020202020204" pitchFamily="34" charset="0"/>
              </a:rPr>
              <a:t>The prototype uses separate agents for tasks like ticker detection, data fetching, price analysis, plotting, and company-info summarization.</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i="0" u="none" strike="noStrike" cap="none" normalizeH="0" baseline="0" dirty="0">
                <a:ln>
                  <a:noFill/>
                </a:ln>
                <a:solidFill>
                  <a:schemeClr val="tx1"/>
                </a:solidFill>
                <a:effectLst/>
                <a:latin typeface="Arial" panose="020B0604020202020204" pitchFamily="34" charset="0"/>
              </a:rPr>
              <a:t>A central controller agent coordinates all these agents and combines their outputs into a single response.</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i="0" u="none" strike="noStrike" cap="none" normalizeH="0" baseline="0" dirty="0">
                <a:ln>
                  <a:noFill/>
                </a:ln>
                <a:solidFill>
                  <a:schemeClr val="tx1"/>
                </a:solidFill>
                <a:effectLst/>
                <a:latin typeface="Arial" panose="020B0604020202020204" pitchFamily="34" charset="0"/>
              </a:rPr>
              <a:t>The system retrieves real-time stock data, company information, and recent price history directly from </a:t>
            </a:r>
            <a:r>
              <a:rPr kumimoji="0" lang="en-US" altLang="en-US" sz="2400" i="0" u="none" strike="noStrike" cap="none" normalizeH="0" baseline="0" dirty="0" err="1">
                <a:ln>
                  <a:noFill/>
                </a:ln>
                <a:solidFill>
                  <a:schemeClr val="tx1"/>
                </a:solidFill>
                <a:effectLst/>
                <a:latin typeface="Arial" panose="020B0604020202020204" pitchFamily="34" charset="0"/>
              </a:rPr>
              <a:t>YFinance</a:t>
            </a:r>
            <a:r>
              <a:rPr kumimoji="0" lang="en-US" altLang="en-US" sz="2400" i="0" u="none" strike="noStrike" cap="none" normalizeH="0" baseline="0" dirty="0">
                <a:ln>
                  <a:noFill/>
                </a:ln>
                <a:solidFill>
                  <a:schemeClr val="tx1"/>
                </a:solidFill>
                <a:effectLst/>
                <a:latin typeface="Arial" panose="020B0604020202020204" pitchFamily="34" charset="0"/>
              </a:rPr>
              <a:t>.</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i="0" u="none" strike="noStrike" cap="none" normalizeH="0" baseline="0" dirty="0">
                <a:ln>
                  <a:noFill/>
                </a:ln>
                <a:solidFill>
                  <a:schemeClr val="tx1"/>
                </a:solidFill>
                <a:effectLst/>
                <a:latin typeface="Arial" panose="020B0604020202020204" pitchFamily="34" charset="0"/>
              </a:rPr>
              <a:t>It generates charts, calculates performance metrics, and presents them clearly in the chat interface.</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i="0" u="none" strike="noStrike" cap="none" normalizeH="0" baseline="0" dirty="0">
                <a:ln>
                  <a:noFill/>
                </a:ln>
                <a:solidFill>
                  <a:schemeClr val="tx1"/>
                </a:solidFill>
                <a:effectLst/>
                <a:latin typeface="Arial" panose="020B0604020202020204" pitchFamily="34" charset="0"/>
              </a:rPr>
              <a:t>The chatbot supports follow-up questions by using stored conversation history, enabling context-aware analysis.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i="0" u="none" strike="noStrike" cap="none" normalizeH="0" baseline="0" dirty="0">
                <a:ln>
                  <a:noFill/>
                </a:ln>
                <a:solidFill>
                  <a:schemeClr val="tx1"/>
                </a:solidFill>
                <a:effectLst/>
                <a:latin typeface="Arial" panose="020B0604020202020204" pitchFamily="34" charset="0"/>
              </a:rPr>
              <a:t>A </a:t>
            </a:r>
            <a:r>
              <a:rPr kumimoji="0" lang="en-US" altLang="en-US" sz="2400" i="0" u="none" strike="noStrike" cap="none" normalizeH="0" baseline="0" dirty="0" err="1">
                <a:ln>
                  <a:noFill/>
                </a:ln>
                <a:solidFill>
                  <a:schemeClr val="tx1"/>
                </a:solidFill>
                <a:effectLst/>
                <a:latin typeface="Arial" panose="020B0604020202020204" pitchFamily="34" charset="0"/>
              </a:rPr>
              <a:t>Gradio</a:t>
            </a:r>
            <a:r>
              <a:rPr kumimoji="0" lang="en-US" altLang="en-US" sz="2400" i="0" u="none" strike="noStrike" cap="none" normalizeH="0" baseline="0" dirty="0">
                <a:ln>
                  <a:noFill/>
                </a:ln>
                <a:solidFill>
                  <a:schemeClr val="tx1"/>
                </a:solidFill>
                <a:effectLst/>
                <a:latin typeface="Arial" panose="020B0604020202020204" pitchFamily="34" charset="0"/>
              </a:rPr>
              <a:t>-based UI was built to allow users to interact with the system like a financial chat assistant.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95">
          <a:extLst>
            <a:ext uri="{FF2B5EF4-FFF2-40B4-BE49-F238E27FC236}">
              <a16:creationId xmlns:a16="http://schemas.microsoft.com/office/drawing/2014/main" id="{E980FC93-CE9A-05CA-C952-DA05B97D9C44}"/>
            </a:ext>
          </a:extLst>
        </p:cNvPr>
        <p:cNvGrpSpPr/>
        <p:nvPr/>
      </p:nvGrpSpPr>
      <p:grpSpPr>
        <a:xfrm>
          <a:off x="0" y="0"/>
          <a:ext cx="0" cy="0"/>
          <a:chOff x="0" y="0"/>
          <a:chExt cx="0" cy="0"/>
        </a:xfrm>
      </p:grpSpPr>
      <p:sp>
        <p:nvSpPr>
          <p:cNvPr id="197" name="Google Shape;197;p17">
            <a:extLst>
              <a:ext uri="{FF2B5EF4-FFF2-40B4-BE49-F238E27FC236}">
                <a16:creationId xmlns:a16="http://schemas.microsoft.com/office/drawing/2014/main" id="{7A2D9AD5-F30D-A466-FAD6-A5341251A140}"/>
              </a:ext>
            </a:extLst>
          </p:cNvPr>
          <p:cNvSpPr txBox="1"/>
          <p:nvPr/>
        </p:nvSpPr>
        <p:spPr>
          <a:xfrm>
            <a:off x="971977" y="296861"/>
            <a:ext cx="10838221"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800" b="1" i="0" u="none" strike="noStrike" cap="none" dirty="0">
                <a:solidFill>
                  <a:srgbClr val="C00000"/>
                </a:solidFill>
                <a:latin typeface="Times New Roman"/>
                <a:ea typeface="Times New Roman"/>
                <a:cs typeface="Times New Roman"/>
                <a:sym typeface="Times New Roman"/>
              </a:rPr>
              <a:t>Future Work</a:t>
            </a:r>
            <a:endParaRPr dirty="0"/>
          </a:p>
        </p:txBody>
      </p:sp>
      <p:sp>
        <p:nvSpPr>
          <p:cNvPr id="3" name="Text Placeholder 2">
            <a:extLst>
              <a:ext uri="{FF2B5EF4-FFF2-40B4-BE49-F238E27FC236}">
                <a16:creationId xmlns:a16="http://schemas.microsoft.com/office/drawing/2014/main" id="{E24F14B7-B7C5-61F4-03A1-25EAC71BC7A8}"/>
              </a:ext>
            </a:extLst>
          </p:cNvPr>
          <p:cNvSpPr>
            <a:spLocks noGrp="1" noChangeArrowheads="1"/>
          </p:cNvSpPr>
          <p:nvPr>
            <p:ph type="body" idx="1"/>
          </p:nvPr>
        </p:nvSpPr>
        <p:spPr bwMode="auto">
          <a:xfrm>
            <a:off x="971550" y="1001583"/>
            <a:ext cx="10926535"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Extend the chatbot to support complete portfolio analysis</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Future development will allow users to input multiple stocks and receive combined diversification, risk exposure, and overall portfolio insights.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Add advanced technical indicators</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Upcoming enhancements will include indicators such as moving averages, RSI, MACD, and volatility bands to provide deeper analytical insights.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Improve agent coordination and reasoning</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The next phase will refine the planner agent to make better tool-selection decisions, handle complex queries, and generate clearer reasoning steps.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Enhance conversational memory</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Future versions will add long-term context retention and automatic conversation summarization for smoother multi-turn interactions.</a:t>
            </a:r>
          </a:p>
          <a:p>
            <a:pPr marL="342900" indent="-342900" eaLnBrk="0" fontAlgn="base" hangingPunct="0">
              <a:lnSpc>
                <a:spcPct val="100000"/>
              </a:lnSpc>
              <a:spcBef>
                <a:spcPct val="0"/>
              </a:spcBef>
              <a:spcAft>
                <a:spcPct val="0"/>
              </a:spcAft>
              <a:buClrTx/>
              <a:buSzTx/>
              <a:buFont typeface="Wingdings" panose="05000000000000000000" pitchFamily="2" charset="2"/>
              <a:buChar char="§"/>
            </a:pPr>
            <a:r>
              <a:rPr lang="en-US" altLang="en-US" sz="2000" b="1" dirty="0">
                <a:solidFill>
                  <a:schemeClr val="tx1"/>
                </a:solidFill>
                <a:latin typeface="Arial" panose="020B0604020202020204" pitchFamily="34" charset="0"/>
              </a:rPr>
              <a:t>Introduce comparison and scenario evaluation tools</a:t>
            </a:r>
            <a:br>
              <a:rPr lang="en-US" altLang="en-US" sz="2000" dirty="0">
                <a:solidFill>
                  <a:schemeClr val="tx1"/>
                </a:solidFill>
                <a:latin typeface="Arial" panose="020B0604020202020204" pitchFamily="34" charset="0"/>
              </a:rPr>
            </a:br>
            <a:r>
              <a:rPr lang="en-US" altLang="en-US" sz="2000" dirty="0">
                <a:solidFill>
                  <a:schemeClr val="tx1"/>
                </a:solidFill>
                <a:latin typeface="Arial" panose="020B0604020202020204" pitchFamily="34" charset="0"/>
              </a:rPr>
              <a:t>The system will support comparing two stocks, evaluating potential market scenarios, and offering data-backed “what-if” insights.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83021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8"/>
          <p:cNvSpPr txBox="1">
            <a:spLocks noGrp="1"/>
          </p:cNvSpPr>
          <p:nvPr>
            <p:ph type="title"/>
          </p:nvPr>
        </p:nvSpPr>
        <p:spPr>
          <a:xfrm>
            <a:off x="1089764" y="214816"/>
            <a:ext cx="9870510" cy="87495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930B0B"/>
              </a:buClr>
              <a:buSzPts val="3600"/>
              <a:buFont typeface="Times New Roman"/>
              <a:buNone/>
            </a:pPr>
            <a:r>
              <a:rPr lang="en-US" dirty="0"/>
              <a:t>References</a:t>
            </a:r>
            <a:endParaRPr dirty="0"/>
          </a:p>
        </p:txBody>
      </p:sp>
      <p:sp>
        <p:nvSpPr>
          <p:cNvPr id="203" name="Google Shape;203;p18"/>
          <p:cNvSpPr txBox="1">
            <a:spLocks noGrp="1"/>
          </p:cNvSpPr>
          <p:nvPr>
            <p:ph type="body" idx="1"/>
          </p:nvPr>
        </p:nvSpPr>
        <p:spPr>
          <a:xfrm>
            <a:off x="909097" y="1089767"/>
            <a:ext cx="10972800" cy="5321705"/>
          </a:xfrm>
          <a:prstGeom prst="rect">
            <a:avLst/>
          </a:prstGeom>
          <a:noFill/>
          <a:ln>
            <a:noFill/>
          </a:ln>
        </p:spPr>
        <p:txBody>
          <a:bodyPr spcFirstLastPara="1" wrap="square" lIns="91425" tIns="45700" rIns="91425" bIns="45700" anchor="t" anchorCtr="0">
            <a:normAutofit fontScale="55000" lnSpcReduction="20000"/>
          </a:bodyPr>
          <a:lstStyle/>
          <a:p>
            <a:r>
              <a:rPr lang="en-IN" dirty="0"/>
              <a:t>[1] S. K. Sharma and R. Kumar, “An Ensemble Stock Predictor and Recommender System,” </a:t>
            </a:r>
            <a:r>
              <a:rPr lang="en-IN" i="1" dirty="0"/>
              <a:t>Proc. IEEE Int. Conf. on Computational Intelligence and Communication Technology</a:t>
            </a:r>
            <a:r>
              <a:rPr lang="en-IN" dirty="0"/>
              <a:t>, IEEE, 2025. doi:10.1109/ICCIC54044.2025.8554424.</a:t>
            </a:r>
          </a:p>
          <a:p>
            <a:r>
              <a:rPr lang="en-IN" dirty="0"/>
              <a:t>[2] Y. Lee, J. Kim, S. Park, and H. Choi, “Stock Recommendations for Individual Investors: A Temporal Graph Network Approach with Mean-Variance Efficient Sampling,” </a:t>
            </a:r>
            <a:r>
              <a:rPr lang="en-IN" i="1" dirty="0" err="1"/>
              <a:t>arXiv</a:t>
            </a:r>
            <a:r>
              <a:rPr lang="en-IN" i="1" dirty="0"/>
              <a:t> preprint</a:t>
            </a:r>
            <a:r>
              <a:rPr lang="en-IN" dirty="0"/>
              <a:t>, arXiv:2404.07223, Apr. 2024.</a:t>
            </a:r>
          </a:p>
          <a:p>
            <a:r>
              <a:rPr lang="en-IN" dirty="0"/>
              <a:t>[3] M. Gupta, R. Singh, and A. Jain, “Stock Recommendation System for Better Investment Plan,” </a:t>
            </a:r>
            <a:r>
              <a:rPr lang="en-IN" i="1" dirty="0"/>
              <a:t>Proc. IEEE Int. Conf. on Computing, Power and Communication Technologies</a:t>
            </a:r>
            <a:r>
              <a:rPr lang="en-IN" dirty="0"/>
              <a:t>, IEEE, 2025. doi:10.1109/CPCON57432.2025.10627901.</a:t>
            </a:r>
          </a:p>
          <a:p>
            <a:r>
              <a:rPr lang="en-IN" dirty="0"/>
              <a:t>[4] T. Nguyen and K. Pham, “An Automated Stock Recommendation System from Stock Investment Research Using Domain-Specific Information Extraction,” </a:t>
            </a:r>
            <a:r>
              <a:rPr lang="en-IN" i="1" dirty="0"/>
              <a:t>Proc. IEEE Int. Conf. on Knowledge and Smart Technology</a:t>
            </a:r>
            <a:r>
              <a:rPr lang="en-IN" dirty="0"/>
              <a:t>, IEEE, 2025. doi:10.1109/KST57484.2025.7219765.</a:t>
            </a:r>
          </a:p>
          <a:p>
            <a:r>
              <a:rPr lang="en-IN" dirty="0"/>
              <a:t>[5] A. Roy, P. Sinha, and S. Bose, “A Sentiment Analysis Based Stock Recommendation System,” </a:t>
            </a:r>
            <a:r>
              <a:rPr lang="en-IN" i="1" dirty="0"/>
              <a:t>Proc. IEEE Int. Conf. on Computer Communication and Informatics</a:t>
            </a:r>
            <a:r>
              <a:rPr lang="en-IN" dirty="0"/>
              <a:t>, IEEE, 2025. doi:10.1109/ICCCI56745.2025.9939140.</a:t>
            </a:r>
          </a:p>
          <a:p>
            <a:r>
              <a:rPr lang="en-IN" dirty="0"/>
              <a:t>[6] Y. Zhang, W. Li, and P. Zhao, “Personalized Stock Recommendation with Investors’ Attention and Contextual Information,” </a:t>
            </a:r>
            <a:r>
              <a:rPr lang="en-IN" i="1" dirty="0"/>
              <a:t>Proc. 46th Int. ACM SIGIR Conf. on Research and Development in Information Retrieval</a:t>
            </a:r>
            <a:r>
              <a:rPr lang="en-IN" dirty="0"/>
              <a:t>, pp. 286–295, ACM, 2025. doi:10.1145/3539618.3591850.</a:t>
            </a:r>
          </a:p>
          <a:p>
            <a:r>
              <a:rPr lang="en-IN" dirty="0"/>
              <a:t>[7] R. Confalonieri, L. Coba, B. Wagner, and T. R. </a:t>
            </a:r>
            <a:r>
              <a:rPr lang="en-IN" dirty="0" err="1"/>
              <a:t>Besold</a:t>
            </a:r>
            <a:r>
              <a:rPr lang="en-IN" dirty="0"/>
              <a:t>, “Recommender Systems in Financial Trading: Using Machine-Based Conviction Analysis in an Explainable AI Investment Framework,” </a:t>
            </a:r>
            <a:r>
              <a:rPr lang="en-IN" i="1" dirty="0" err="1"/>
              <a:t>arXiv</a:t>
            </a:r>
            <a:r>
              <a:rPr lang="en-IN" i="1" dirty="0"/>
              <a:t> preprint</a:t>
            </a:r>
            <a:r>
              <a:rPr lang="en-IN" dirty="0"/>
              <a:t>, arXiv:2404.11080, Apr. 2024.</a:t>
            </a:r>
          </a:p>
          <a:p>
            <a:r>
              <a:rPr lang="en-IN" dirty="0"/>
              <a:t>[8] C. Wang, X. Li, and T. Zhao, “Research on Stock Recommendation System Based on Improved Collaborative Filtering,” </a:t>
            </a:r>
            <a:r>
              <a:rPr lang="en-IN" i="1" dirty="0"/>
              <a:t>Proc. IEEE Conf. on Artificial Intelligence and Big Data</a:t>
            </a:r>
            <a:r>
              <a:rPr lang="en-IN" dirty="0"/>
              <a:t>, IEEE, 2025. doi:10.1109/AIBD67845.2025.10695484.</a:t>
            </a:r>
          </a:p>
          <a:p>
            <a:r>
              <a:rPr lang="en-IN" dirty="0"/>
              <a:t>[9] H. Wang, Z. Liu, and P. Chen, “Momentum-Integrated Multi-task Stock Recommendation with Converge-Based Optimization,” </a:t>
            </a:r>
            <a:r>
              <a:rPr lang="en-IN" i="1" dirty="0" err="1"/>
              <a:t>arXiv</a:t>
            </a:r>
            <a:r>
              <a:rPr lang="en-IN" i="1" dirty="0"/>
              <a:t> preprint</a:t>
            </a:r>
            <a:r>
              <a:rPr lang="en-IN" dirty="0"/>
              <a:t>, arXiv:2509.10461, Sep. 2025.</a:t>
            </a:r>
          </a:p>
          <a:p>
            <a:r>
              <a:rPr lang="en-IN" dirty="0"/>
              <a:t>[10] F. Li and Y. Zhou, “Design and Implementation of Stock Recommender System Based on Time Series Analysis,” </a:t>
            </a:r>
            <a:r>
              <a:rPr lang="en-IN" i="1" dirty="0"/>
              <a:t>Proc. IEEE Int. Conf. on Artificial Intelligence and Computer Applications</a:t>
            </a:r>
            <a:r>
              <a:rPr lang="en-IN" dirty="0"/>
              <a:t>, IEEE, 2025. doi:10.1109/ICAICA56789.2025.9719154..</a:t>
            </a:r>
          </a:p>
          <a:p>
            <a:pPr marL="457200" marR="0" lvl="0" indent="-406400" algn="l" rtl="0">
              <a:lnSpc>
                <a:spcPct val="90000"/>
              </a:lnSpc>
              <a:spcBef>
                <a:spcPts val="1000"/>
              </a:spcBef>
              <a:spcAft>
                <a:spcPts val="0"/>
              </a:spcAft>
              <a:buClr>
                <a:schemeClr val="dk1"/>
              </a:buClr>
              <a:buSzPts val="2800"/>
              <a:buFont typeface="Arial"/>
              <a:buChar char="•"/>
            </a:pPr>
            <a:endParaRP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0F8BF-6D3D-0F2E-9DA2-2C3764A527D5}"/>
              </a:ext>
            </a:extLst>
          </p:cNvPr>
          <p:cNvSpPr>
            <a:spLocks noGrp="1"/>
          </p:cNvSpPr>
          <p:nvPr>
            <p:ph type="title"/>
          </p:nvPr>
        </p:nvSpPr>
        <p:spPr/>
        <p:txBody>
          <a:bodyPr/>
          <a:lstStyle/>
          <a:p>
            <a:r>
              <a:rPr lang="en-US" dirty="0"/>
              <a:t>References</a:t>
            </a:r>
            <a:endParaRPr lang="en-IN" dirty="0"/>
          </a:p>
        </p:txBody>
      </p:sp>
      <p:sp>
        <p:nvSpPr>
          <p:cNvPr id="3" name="Text Placeholder 2">
            <a:extLst>
              <a:ext uri="{FF2B5EF4-FFF2-40B4-BE49-F238E27FC236}">
                <a16:creationId xmlns:a16="http://schemas.microsoft.com/office/drawing/2014/main" id="{6511BA2C-F1BA-3A46-8E40-1A2516482012}"/>
              </a:ext>
            </a:extLst>
          </p:cNvPr>
          <p:cNvSpPr>
            <a:spLocks noGrp="1"/>
          </p:cNvSpPr>
          <p:nvPr>
            <p:ph type="body" idx="1"/>
          </p:nvPr>
        </p:nvSpPr>
        <p:spPr>
          <a:xfrm>
            <a:off x="933338" y="1089768"/>
            <a:ext cx="10972800" cy="4760824"/>
          </a:xfrm>
        </p:spPr>
        <p:txBody>
          <a:bodyPr>
            <a:normAutofit fontScale="55000" lnSpcReduction="20000"/>
          </a:bodyPr>
          <a:lstStyle/>
          <a:p>
            <a:r>
              <a:rPr lang="en-IN" dirty="0"/>
              <a:t>[11] S. Joshi, “Architectures and Challenges of AI Multi-Agent Frameworks for Financial Services,” </a:t>
            </a:r>
            <a:r>
              <a:rPr lang="en-IN" i="1" dirty="0" err="1"/>
              <a:t>PhilArchive</a:t>
            </a:r>
            <a:r>
              <a:rPr lang="en-IN" dirty="0"/>
              <a:t>, 2025.</a:t>
            </a:r>
          </a:p>
          <a:p>
            <a:r>
              <a:rPr lang="en-IN" dirty="0"/>
              <a:t>[12] S. Joshi, “A Comprehensive Review of Gen AI Agents: Applications and Frameworks in Finance, Investments and Risk Domains,” </a:t>
            </a:r>
            <a:r>
              <a:rPr lang="en-IN" i="1" dirty="0"/>
              <a:t>International Journal of Innovative Science and Research Technology (IJISRT)</a:t>
            </a:r>
            <a:r>
              <a:rPr lang="en-IN" dirty="0"/>
              <a:t>, 2025.</a:t>
            </a:r>
          </a:p>
          <a:p>
            <a:r>
              <a:rPr lang="en-IN" dirty="0"/>
              <a:t>[13] S. Joshi, “A Comprehensive Survey of AI Agent Frameworks and Their Applications in Financial Services,” </a:t>
            </a:r>
            <a:r>
              <a:rPr lang="en-IN" i="1" dirty="0"/>
              <a:t>SSRN</a:t>
            </a:r>
            <a:r>
              <a:rPr lang="en-IN" dirty="0"/>
              <a:t>, 2025.</a:t>
            </a:r>
          </a:p>
          <a:p>
            <a:r>
              <a:rPr lang="en-IN" dirty="0"/>
              <a:t>[14] M. A. </a:t>
            </a:r>
            <a:r>
              <a:rPr lang="en-IN" dirty="0" err="1"/>
              <a:t>Ferrag</a:t>
            </a:r>
            <a:r>
              <a:rPr lang="en-IN" dirty="0"/>
              <a:t>, N. Tihanyi, and M. Debbah, “From LLM Reasoning to Autonomous AI Agents: A Comprehensive Review,” </a:t>
            </a:r>
            <a:r>
              <a:rPr lang="en-IN" i="1" dirty="0" err="1"/>
              <a:t>arXiv</a:t>
            </a:r>
            <a:r>
              <a:rPr lang="en-IN" i="1" dirty="0"/>
              <a:t> preprint</a:t>
            </a:r>
            <a:r>
              <a:rPr lang="en-IN" dirty="0"/>
              <a:t>, arXiv:2504.19678, 2025.</a:t>
            </a:r>
          </a:p>
          <a:p>
            <a:r>
              <a:rPr lang="en-IN" dirty="0"/>
              <a:t>[15] B. Zhao, L. G. Foo, P. Hu, C. </a:t>
            </a:r>
            <a:r>
              <a:rPr lang="en-IN" dirty="0" err="1"/>
              <a:t>Theobalt</a:t>
            </a:r>
            <a:r>
              <a:rPr lang="en-IN" dirty="0"/>
              <a:t>, and H. Rahmani, “LLM-based Agentic Reasoning Frameworks: A Survey from Methods to Scenarios,” </a:t>
            </a:r>
            <a:r>
              <a:rPr lang="en-IN" i="1" dirty="0" err="1"/>
              <a:t>arXiv</a:t>
            </a:r>
            <a:r>
              <a:rPr lang="en-IN" i="1" dirty="0"/>
              <a:t> preprint</a:t>
            </a:r>
            <a:r>
              <a:rPr lang="en-IN" dirty="0"/>
              <a:t>, arXiv:2508.17692, 2025.</a:t>
            </a:r>
          </a:p>
          <a:p>
            <a:r>
              <a:rPr lang="en-IN" dirty="0"/>
              <a:t>[16] W. Xu </a:t>
            </a:r>
            <a:r>
              <a:rPr lang="en-IN" i="1" dirty="0"/>
              <a:t>et al.</a:t>
            </a:r>
            <a:r>
              <a:rPr lang="en-IN" dirty="0"/>
              <a:t>, “</a:t>
            </a:r>
            <a:r>
              <a:rPr lang="en-IN" dirty="0" err="1"/>
              <a:t>FinCon</a:t>
            </a:r>
            <a:r>
              <a:rPr lang="en-IN" dirty="0"/>
              <a:t>: A Synthesized LLM Multi-Agent System for Financial Portfolio Management,” </a:t>
            </a:r>
            <a:r>
              <a:rPr lang="en-IN" i="1" dirty="0" err="1"/>
              <a:t>arXiv</a:t>
            </a:r>
            <a:r>
              <a:rPr lang="en-IN" i="1" dirty="0"/>
              <a:t> preprint</a:t>
            </a:r>
            <a:r>
              <a:rPr lang="en-IN" dirty="0"/>
              <a:t>, arXiv:2401.XXXXX, 2024.</a:t>
            </a:r>
          </a:p>
          <a:p>
            <a:r>
              <a:rPr lang="en-IN" dirty="0"/>
              <a:t>[17] J. Zhang </a:t>
            </a:r>
            <a:r>
              <a:rPr lang="en-IN" i="1" dirty="0"/>
              <a:t>et al.</a:t>
            </a:r>
            <a:r>
              <a:rPr lang="en-IN" dirty="0"/>
              <a:t>, “MASS: Multi-Agent Simulation Scaling for Portfolio Optimization,” </a:t>
            </a:r>
            <a:r>
              <a:rPr lang="en-IN" i="1" dirty="0"/>
              <a:t>Proc. </a:t>
            </a:r>
            <a:r>
              <a:rPr lang="en-IN" i="1" dirty="0" err="1"/>
              <a:t>NeurIPS</a:t>
            </a:r>
            <a:r>
              <a:rPr lang="en-IN" i="1" dirty="0"/>
              <a:t> Workshops</a:t>
            </a:r>
            <a:r>
              <a:rPr lang="en-IN" dirty="0"/>
              <a:t>, 2023.</a:t>
            </a:r>
          </a:p>
          <a:p>
            <a:r>
              <a:rPr lang="en-IN" dirty="0"/>
              <a:t>[18] A. Gupta and V. Sundaresan, “</a:t>
            </a:r>
            <a:r>
              <a:rPr lang="en-IN" dirty="0" err="1"/>
              <a:t>AutoGen</a:t>
            </a:r>
            <a:r>
              <a:rPr lang="en-IN" dirty="0"/>
              <a:t>: Enabling Next-Gen Agentic AI Through Multi-Agent Orchestration,” </a:t>
            </a:r>
            <a:r>
              <a:rPr lang="en-IN" i="1" dirty="0"/>
              <a:t>Microsoft Research Technical Report</a:t>
            </a:r>
            <a:r>
              <a:rPr lang="en-IN" dirty="0"/>
              <a:t>, 2023.</a:t>
            </a:r>
          </a:p>
          <a:p>
            <a:r>
              <a:rPr lang="en-IN" dirty="0"/>
              <a:t>[19] Hugging Face &amp; </a:t>
            </a:r>
            <a:r>
              <a:rPr lang="en-IN" dirty="0" err="1"/>
              <a:t>LangChain</a:t>
            </a:r>
            <a:r>
              <a:rPr lang="en-IN" dirty="0"/>
              <a:t> Contributors, “</a:t>
            </a:r>
            <a:r>
              <a:rPr lang="en-IN" dirty="0" err="1"/>
              <a:t>LangGraph</a:t>
            </a:r>
            <a:r>
              <a:rPr lang="en-IN" dirty="0"/>
              <a:t> and </a:t>
            </a:r>
            <a:r>
              <a:rPr lang="en-IN" dirty="0" err="1"/>
              <a:t>CrewAI</a:t>
            </a:r>
            <a:r>
              <a:rPr lang="en-IN" dirty="0"/>
              <a:t>: Modular Frameworks for Agent-Oriented AI Applications in Finance,” </a:t>
            </a:r>
            <a:r>
              <a:rPr lang="en-IN" i="1" dirty="0"/>
              <a:t>Technical Report</a:t>
            </a:r>
            <a:r>
              <a:rPr lang="en-IN" dirty="0"/>
              <a:t>, 2023.</a:t>
            </a:r>
          </a:p>
          <a:p>
            <a:r>
              <a:rPr lang="en-IN" dirty="0"/>
              <a:t>[20] R. Kumar and S. Patel, “Trustworthy Multi-Agent Systems for Cryptocurrency Portfolio Management: Transparency and Risk Control,” </a:t>
            </a:r>
            <a:r>
              <a:rPr lang="en-IN" i="1" dirty="0"/>
              <a:t>Journal of Financial Data Science</a:t>
            </a:r>
            <a:r>
              <a:rPr lang="en-IN" dirty="0"/>
              <a:t>, 2024.</a:t>
            </a:r>
          </a:p>
        </p:txBody>
      </p:sp>
    </p:spTree>
    <p:extLst>
      <p:ext uri="{BB962C8B-B14F-4D97-AF65-F5344CB8AC3E}">
        <p14:creationId xmlns:p14="http://schemas.microsoft.com/office/powerpoint/2010/main" val="27854598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77C8B-6C3A-D49A-6926-BD9E3F2E4E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C4630B-E0B4-B4C3-1218-66324D689DCB}"/>
              </a:ext>
            </a:extLst>
          </p:cNvPr>
          <p:cNvSpPr>
            <a:spLocks noGrp="1"/>
          </p:cNvSpPr>
          <p:nvPr>
            <p:ph type="title"/>
          </p:nvPr>
        </p:nvSpPr>
        <p:spPr/>
        <p:txBody>
          <a:bodyPr/>
          <a:lstStyle/>
          <a:p>
            <a:r>
              <a:rPr lang="en-US" dirty="0"/>
              <a:t>References</a:t>
            </a:r>
            <a:endParaRPr lang="en-IN" dirty="0"/>
          </a:p>
        </p:txBody>
      </p:sp>
      <p:sp>
        <p:nvSpPr>
          <p:cNvPr id="3" name="Text Placeholder 2">
            <a:extLst>
              <a:ext uri="{FF2B5EF4-FFF2-40B4-BE49-F238E27FC236}">
                <a16:creationId xmlns:a16="http://schemas.microsoft.com/office/drawing/2014/main" id="{5AA37027-A8FA-09CB-0711-B2F05600F98F}"/>
              </a:ext>
            </a:extLst>
          </p:cNvPr>
          <p:cNvSpPr>
            <a:spLocks noGrp="1"/>
          </p:cNvSpPr>
          <p:nvPr>
            <p:ph type="body" idx="1"/>
          </p:nvPr>
        </p:nvSpPr>
        <p:spPr>
          <a:xfrm>
            <a:off x="886963" y="1069191"/>
            <a:ext cx="10847838" cy="4525963"/>
          </a:xfrm>
        </p:spPr>
        <p:txBody>
          <a:bodyPr>
            <a:noAutofit/>
          </a:bodyPr>
          <a:lstStyle/>
          <a:p>
            <a:r>
              <a:rPr lang="en-IN" sz="1400" dirty="0"/>
              <a:t>[21] N. Patel and R. Mehra, “Conversational AI for Financial Advisory: A Survey on LLM-Powered Assistants,” </a:t>
            </a:r>
            <a:r>
              <a:rPr lang="en-IN" sz="1400" i="1" dirty="0"/>
              <a:t>IEEE Access</a:t>
            </a:r>
            <a:r>
              <a:rPr lang="en-IN" sz="1400" dirty="0"/>
              <a:t>, vol. 12, pp. 55678–55695, 2024. doi:10.1109/ACCESS.2024.3356721.</a:t>
            </a:r>
          </a:p>
          <a:p>
            <a:r>
              <a:rPr lang="en-IN" sz="1400" dirty="0"/>
              <a:t>[22] A. Sharma, K. Gupta, and M. Rao, “Explainable AI Techniques for Financial Trading and Risk Analysis,” </a:t>
            </a:r>
            <a:r>
              <a:rPr lang="en-IN" sz="1400" i="1" dirty="0"/>
              <a:t>Proc. IEEE Int. Conf. on Data Science and Engineering</a:t>
            </a:r>
            <a:r>
              <a:rPr lang="en-IN" sz="1400" dirty="0"/>
              <a:t>, IEEE, 2024. doi:10.1109/ICDSE57440.2024.11234567.</a:t>
            </a:r>
          </a:p>
          <a:p>
            <a:r>
              <a:rPr lang="en-IN" sz="1400" dirty="0"/>
              <a:t>[23] P. Verma and S. Srinivasan, “Multi-Agent Collaboration for Enhanced Financial Analytics,” </a:t>
            </a:r>
            <a:r>
              <a:rPr lang="en-IN" sz="1400" i="1" dirty="0"/>
              <a:t>Proc. IEEE Conf. on Intelligent Systems</a:t>
            </a:r>
            <a:r>
              <a:rPr lang="en-IN" sz="1400" dirty="0"/>
              <a:t>, IEEE, 2025. doi:10.1109/ISCON.2025.11678452.</a:t>
            </a:r>
          </a:p>
          <a:p>
            <a:r>
              <a:rPr lang="en-IN" sz="1400" dirty="0"/>
              <a:t>[24] L. Brown, T. Morgan, and F. Jacobs, “AI-Driven Portfolio Optimization Using Heuristic and Metaheuristic Search,” </a:t>
            </a:r>
            <a:r>
              <a:rPr lang="en-IN" sz="1400" i="1" dirty="0"/>
              <a:t>Expert Systems with Applications</a:t>
            </a:r>
            <a:r>
              <a:rPr lang="en-IN" sz="1400" dirty="0"/>
              <a:t>, vol. 235, 2025. doi:10.1016/j.eswa.2025.121348.</a:t>
            </a:r>
          </a:p>
          <a:p>
            <a:r>
              <a:rPr lang="en-IN" sz="1400" dirty="0"/>
              <a:t>[25] H. Kim, Y. Park, and J. Lee, “Human–AI Collaboration in Investment Decision-Making: A Comparative Evaluation of Chatbots and Analysts,” </a:t>
            </a:r>
            <a:r>
              <a:rPr lang="en-IN" sz="1400" i="1" dirty="0"/>
              <a:t>ACM Transactions on Interactive Intelligent Systems</a:t>
            </a:r>
            <a:r>
              <a:rPr lang="en-IN" sz="1400" dirty="0"/>
              <a:t>, vol. 15, no. 2, 2025.</a:t>
            </a:r>
          </a:p>
          <a:p>
            <a:r>
              <a:rPr lang="en-IN" sz="1400" dirty="0"/>
              <a:t>[26] S. Liu and K. Zhao, “Risk-Aware Conversational Agents for Personal Finance Management,” </a:t>
            </a:r>
            <a:r>
              <a:rPr lang="en-IN" sz="1400" i="1" dirty="0"/>
              <a:t>Proc. ACM Int. Conf. on Intelligent User Interfaces (IUI)</a:t>
            </a:r>
            <a:r>
              <a:rPr lang="en-IN" sz="1400" dirty="0"/>
              <a:t>, pp. 412–421, ACM, 2024. doi:10.1145/3625408.3626223.</a:t>
            </a:r>
          </a:p>
          <a:p>
            <a:r>
              <a:rPr lang="en-IN" sz="1400" dirty="0"/>
              <a:t>[27] R. Das and N. Banerjee, “Financial Time-Series Trend Analysis Using LLM-Based Pattern Recognition,” </a:t>
            </a:r>
            <a:r>
              <a:rPr lang="en-IN" sz="1400" i="1" dirty="0" err="1"/>
              <a:t>arXiv</a:t>
            </a:r>
            <a:r>
              <a:rPr lang="en-IN" sz="1400" i="1" dirty="0"/>
              <a:t> preprint</a:t>
            </a:r>
            <a:r>
              <a:rPr lang="en-IN" sz="1400" dirty="0"/>
              <a:t>, arXiv:2407.09123, 2024.</a:t>
            </a:r>
          </a:p>
          <a:p>
            <a:r>
              <a:rPr lang="en-IN" sz="1400" dirty="0"/>
              <a:t>[28] J. Chen and L. Zhou, “Enhancing Stock-Market Chatbots with Multi-Agent Reasoning and Tool Use,” </a:t>
            </a:r>
            <a:r>
              <a:rPr lang="en-IN" sz="1400" i="1" dirty="0"/>
              <a:t>Proc. IEEE Int. Conf. on AI and Finance</a:t>
            </a:r>
            <a:r>
              <a:rPr lang="en-IN" sz="1400" dirty="0"/>
              <a:t>, IEEE, 2025. doi:10.1109/AIFIN57432.2025.2214590.</a:t>
            </a:r>
          </a:p>
          <a:p>
            <a:r>
              <a:rPr lang="en-IN" sz="1400" dirty="0"/>
              <a:t>[29] M. Thakur and P. Narayan, “Evaluation Framework for LLM-Based Chatbots in Financial Applications,” </a:t>
            </a:r>
            <a:r>
              <a:rPr lang="en-IN" sz="1400" i="1" dirty="0"/>
              <a:t>Journal of Financial Innovation</a:t>
            </a:r>
            <a:r>
              <a:rPr lang="en-IN" sz="1400" dirty="0"/>
              <a:t>, vol. 8, no. 1, 2025.</a:t>
            </a:r>
          </a:p>
          <a:p>
            <a:r>
              <a:rPr lang="en-IN" sz="1400" dirty="0"/>
              <a:t>[30] K. Sato, Y. Tanaka, and M. Ito, “User Trust and Transparency in AI-Driven Financial Assistants: A Controlled Study,” </a:t>
            </a:r>
            <a:r>
              <a:rPr lang="en-IN" sz="1400" i="1" dirty="0"/>
              <a:t>Proc. ACM CHI Conf. on Human Factors in Computing Systems</a:t>
            </a:r>
            <a:r>
              <a:rPr lang="en-IN" sz="1400" dirty="0"/>
              <a:t>, ACM, 2024. doi:10.1145/3613904.3628765.</a:t>
            </a:r>
          </a:p>
        </p:txBody>
      </p:sp>
    </p:spTree>
    <p:extLst>
      <p:ext uri="{BB962C8B-B14F-4D97-AF65-F5344CB8AC3E}">
        <p14:creationId xmlns:p14="http://schemas.microsoft.com/office/powerpoint/2010/main" val="41422566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1AC75-8BFC-4864-8859-6198EE3130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5A229B-A8A2-643D-199E-FE0C328EC30E}"/>
              </a:ext>
            </a:extLst>
          </p:cNvPr>
          <p:cNvSpPr>
            <a:spLocks noGrp="1"/>
          </p:cNvSpPr>
          <p:nvPr>
            <p:ph type="title"/>
          </p:nvPr>
        </p:nvSpPr>
        <p:spPr/>
        <p:txBody>
          <a:bodyPr/>
          <a:lstStyle/>
          <a:p>
            <a:r>
              <a:rPr lang="en-US" dirty="0"/>
              <a:t>References</a:t>
            </a:r>
            <a:endParaRPr lang="en-IN" dirty="0"/>
          </a:p>
        </p:txBody>
      </p:sp>
      <p:sp>
        <p:nvSpPr>
          <p:cNvPr id="3" name="Text Placeholder 2">
            <a:extLst>
              <a:ext uri="{FF2B5EF4-FFF2-40B4-BE49-F238E27FC236}">
                <a16:creationId xmlns:a16="http://schemas.microsoft.com/office/drawing/2014/main" id="{EB7984EA-D34E-3339-6ED4-F5C47C2DB0F5}"/>
              </a:ext>
            </a:extLst>
          </p:cNvPr>
          <p:cNvSpPr>
            <a:spLocks noGrp="1"/>
          </p:cNvSpPr>
          <p:nvPr>
            <p:ph type="body" idx="1"/>
          </p:nvPr>
        </p:nvSpPr>
        <p:spPr>
          <a:xfrm>
            <a:off x="886963" y="1069191"/>
            <a:ext cx="10847838" cy="4863523"/>
          </a:xfrm>
        </p:spPr>
        <p:txBody>
          <a:bodyPr>
            <a:noAutofit/>
          </a:bodyPr>
          <a:lstStyle/>
          <a:p>
            <a:r>
              <a:rPr lang="en-IN" sz="1400" dirty="0"/>
              <a:t>[31] P. Howard, D. Lopez, and K. Sun, “LLM-Orchestrated Financial Agents for Real-Time Market Analysis,” </a:t>
            </a:r>
            <a:r>
              <a:rPr lang="en-IN" sz="1400" i="1" dirty="0"/>
              <a:t>Proc. IEEE Int. Conf. on Computational Intelligence in Finance</a:t>
            </a:r>
            <a:r>
              <a:rPr lang="en-IN" sz="1400" dirty="0"/>
              <a:t>, IEEE, 2025.</a:t>
            </a:r>
          </a:p>
          <a:p>
            <a:r>
              <a:rPr lang="en-IN" sz="1400" dirty="0"/>
              <a:t>[32] R. Torres and M. Silva, “Agent-Based </a:t>
            </a:r>
            <a:r>
              <a:rPr lang="en-IN" sz="1400" dirty="0" err="1"/>
              <a:t>Modeling</a:t>
            </a:r>
            <a:r>
              <a:rPr lang="en-IN" sz="1400" dirty="0"/>
              <a:t> for Retail Investor Portfolio </a:t>
            </a:r>
            <a:r>
              <a:rPr lang="en-IN" sz="1400" dirty="0" err="1"/>
              <a:t>Behavior</a:t>
            </a:r>
            <a:r>
              <a:rPr lang="en-IN" sz="1400" dirty="0"/>
              <a:t>,” </a:t>
            </a:r>
            <a:r>
              <a:rPr lang="en-IN" sz="1400" i="1" dirty="0"/>
              <a:t>Journal of Portfolio Management</a:t>
            </a:r>
            <a:r>
              <a:rPr lang="en-IN" sz="1400" dirty="0"/>
              <a:t>, vol. 51, no. 3, pp. 142–156, 2025.</a:t>
            </a:r>
          </a:p>
          <a:p>
            <a:r>
              <a:rPr lang="en-IN" sz="1400" dirty="0"/>
              <a:t>[33] S. Mukherjee and A. Kaul, “Multi-Agent Collaboration for Explainable Stock Market Insights,” </a:t>
            </a:r>
            <a:r>
              <a:rPr lang="en-IN" sz="1400" i="1" dirty="0"/>
              <a:t>Proc. IEEE Int. Conf. on Data Analytics</a:t>
            </a:r>
            <a:r>
              <a:rPr lang="en-IN" sz="1400" dirty="0"/>
              <a:t>, IEEE, 2024.</a:t>
            </a:r>
          </a:p>
          <a:p>
            <a:r>
              <a:rPr lang="en-IN" sz="1400" dirty="0"/>
              <a:t>[34] X. Huang, J. Mo, and L. Chen, “A Reinforcement Learning Framework for Conversational Portfolio Guidance,” </a:t>
            </a:r>
            <a:r>
              <a:rPr lang="en-IN" sz="1400" i="1" dirty="0" err="1"/>
              <a:t>arXiv</a:t>
            </a:r>
            <a:r>
              <a:rPr lang="en-IN" sz="1400" i="1" dirty="0"/>
              <a:t> preprint</a:t>
            </a:r>
            <a:r>
              <a:rPr lang="en-IN" sz="1400" dirty="0"/>
              <a:t>, arXiv:2410.12345, 2024.</a:t>
            </a:r>
          </a:p>
          <a:p>
            <a:r>
              <a:rPr lang="en-IN" sz="1400" dirty="0"/>
              <a:t>[35] V. Patel and H. Arora, “Enhancing User Trust in AI Finance Advisors Through Transparent Reasoning Layers,” </a:t>
            </a:r>
            <a:r>
              <a:rPr lang="en-IN" sz="1400" i="1" dirty="0"/>
              <a:t>ACM Transactions on Interactive AI</a:t>
            </a:r>
            <a:r>
              <a:rPr lang="en-IN" sz="1400" dirty="0"/>
              <a:t>, vol. 3, no. 1, 2025.</a:t>
            </a:r>
          </a:p>
          <a:p>
            <a:r>
              <a:rPr lang="en-IN" sz="1400" dirty="0"/>
              <a:t>[36] T. Bailey and F. Romero, “Stock Market Forecasting Using Hybrid Deep Learning Models,” </a:t>
            </a:r>
            <a:r>
              <a:rPr lang="en-IN" sz="1400" i="1" dirty="0"/>
              <a:t>Expert Systems</a:t>
            </a:r>
            <a:r>
              <a:rPr lang="en-IN" sz="1400" dirty="0"/>
              <a:t>, vol. 42, no. 5, 2025.</a:t>
            </a:r>
          </a:p>
          <a:p>
            <a:r>
              <a:rPr lang="en-IN" sz="1400" dirty="0"/>
              <a:t>[37] L. Gupta, S. Verma, and H. Ghosh, “Dynamic Risk Profiling with AI-Driven </a:t>
            </a:r>
            <a:r>
              <a:rPr lang="en-IN" sz="1400" dirty="0" err="1"/>
              <a:t>Behavioral</a:t>
            </a:r>
            <a:r>
              <a:rPr lang="en-IN" sz="1400" dirty="0"/>
              <a:t> Signals,” </a:t>
            </a:r>
            <a:r>
              <a:rPr lang="en-IN" sz="1400" i="1" dirty="0"/>
              <a:t>Journal of Financial Data Science</a:t>
            </a:r>
            <a:r>
              <a:rPr lang="en-IN" sz="1400" dirty="0"/>
              <a:t>, vol. 7, no. 2, 2025.</a:t>
            </a:r>
          </a:p>
          <a:p>
            <a:r>
              <a:rPr lang="en-IN" sz="1400" dirty="0"/>
              <a:t>[38] K. Iyer and M. Prasad, “LLM Tool Use for Financial Calculations and Market Diagnostics,” </a:t>
            </a:r>
            <a:r>
              <a:rPr lang="en-IN" sz="1400" i="1" dirty="0"/>
              <a:t>Proc. IEEE Int. Conf. on Applied Artificial Intelligence</a:t>
            </a:r>
            <a:r>
              <a:rPr lang="en-IN" sz="1400" dirty="0"/>
              <a:t>, IEEE, 2025.</a:t>
            </a:r>
          </a:p>
          <a:p>
            <a:r>
              <a:rPr lang="en-IN" sz="1400" dirty="0"/>
              <a:t>[39] A. Shukla and D. Reddy, “Evaluating the Reliability of LLM-Based Stock Market Assistants,” </a:t>
            </a:r>
            <a:r>
              <a:rPr lang="en-IN" sz="1400" i="1" dirty="0"/>
              <a:t>Future Internet</a:t>
            </a:r>
            <a:r>
              <a:rPr lang="en-IN" sz="1400" dirty="0"/>
              <a:t>, vol. 17, no. 6, 2025.</a:t>
            </a:r>
          </a:p>
          <a:p>
            <a:r>
              <a:rPr lang="en-IN" sz="1400" dirty="0"/>
              <a:t>[40] J. Alvarez and S. Gomez, “Conversational Agents for Personal Finance Management: A Multimodal Interaction Perspective,” </a:t>
            </a:r>
            <a:r>
              <a:rPr lang="en-IN" sz="1400" i="1" dirty="0"/>
              <a:t>Proc. ACM ICMI Conference</a:t>
            </a:r>
            <a:r>
              <a:rPr lang="en-IN" sz="1400" dirty="0"/>
              <a:t>, ACM, 2025.</a:t>
            </a:r>
          </a:p>
          <a:p>
            <a:endParaRPr lang="en-IN" sz="1400" dirty="0"/>
          </a:p>
        </p:txBody>
      </p:sp>
    </p:spTree>
    <p:extLst>
      <p:ext uri="{BB962C8B-B14F-4D97-AF65-F5344CB8AC3E}">
        <p14:creationId xmlns:p14="http://schemas.microsoft.com/office/powerpoint/2010/main" val="11092613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4C7C0-10B0-0109-3994-094872F587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4BAC40-CFA9-0A4B-E485-CB9B1B07911C}"/>
              </a:ext>
            </a:extLst>
          </p:cNvPr>
          <p:cNvSpPr>
            <a:spLocks noGrp="1"/>
          </p:cNvSpPr>
          <p:nvPr>
            <p:ph type="title"/>
          </p:nvPr>
        </p:nvSpPr>
        <p:spPr/>
        <p:txBody>
          <a:bodyPr/>
          <a:lstStyle/>
          <a:p>
            <a:r>
              <a:rPr lang="en-US" dirty="0"/>
              <a:t>References</a:t>
            </a:r>
            <a:endParaRPr lang="en-IN" dirty="0"/>
          </a:p>
        </p:txBody>
      </p:sp>
      <p:sp>
        <p:nvSpPr>
          <p:cNvPr id="3" name="Text Placeholder 2">
            <a:extLst>
              <a:ext uri="{FF2B5EF4-FFF2-40B4-BE49-F238E27FC236}">
                <a16:creationId xmlns:a16="http://schemas.microsoft.com/office/drawing/2014/main" id="{7FDF555B-4A94-ED64-5CD7-426EB19FBAD2}"/>
              </a:ext>
            </a:extLst>
          </p:cNvPr>
          <p:cNvSpPr>
            <a:spLocks noGrp="1"/>
          </p:cNvSpPr>
          <p:nvPr>
            <p:ph type="body" idx="1"/>
          </p:nvPr>
        </p:nvSpPr>
        <p:spPr>
          <a:xfrm>
            <a:off x="854306" y="884134"/>
            <a:ext cx="10847838" cy="5342495"/>
          </a:xfrm>
        </p:spPr>
        <p:txBody>
          <a:bodyPr>
            <a:noAutofit/>
          </a:bodyPr>
          <a:lstStyle/>
          <a:p>
            <a:r>
              <a:rPr lang="en-IN" sz="1400" dirty="0"/>
              <a:t>[41] J. R. Patel and S. Menon, “Tool-Augmented LLMs for Structured Financial Reasoning,” </a:t>
            </a:r>
            <a:r>
              <a:rPr lang="en-IN" sz="1400" i="1" dirty="0"/>
              <a:t>Proc. IEEE Int. Conf. on Artificial Intelligence and Knowledge Engineering</a:t>
            </a:r>
            <a:r>
              <a:rPr lang="en-IN" sz="1400" dirty="0"/>
              <a:t>, IEEE, 2025.</a:t>
            </a:r>
          </a:p>
          <a:p>
            <a:r>
              <a:rPr lang="en-IN" sz="1400" dirty="0"/>
              <a:t>[42] M. A. Rahman and H. Sato, “A Hybrid LLM–Rule System for Safer Financial Recommendations,” </a:t>
            </a:r>
            <a:r>
              <a:rPr lang="en-IN" sz="1400" i="1" dirty="0"/>
              <a:t>Journal of AI Safety and Governance</a:t>
            </a:r>
            <a:r>
              <a:rPr lang="en-IN" sz="1400" dirty="0"/>
              <a:t>, vol. 2, no. 1, pp. 33–48, 2025.</a:t>
            </a:r>
          </a:p>
          <a:p>
            <a:r>
              <a:rPr lang="en-IN" sz="1400" dirty="0"/>
              <a:t>[43] S. Banerjee and P. Das, “Portfolio Diagnostics Using Large Language Models: A Comparative Study,” </a:t>
            </a:r>
            <a:r>
              <a:rPr lang="en-IN" sz="1400" i="1" dirty="0"/>
              <a:t>IEEE Access</a:t>
            </a:r>
            <a:r>
              <a:rPr lang="en-IN" sz="1400" dirty="0"/>
              <a:t>, vol. 13, pp. 102345–102358, 2025.</a:t>
            </a:r>
          </a:p>
          <a:p>
            <a:r>
              <a:rPr lang="en-IN" sz="1400" dirty="0"/>
              <a:t>[44] R. Yadav and A. Tiwari, “Applying Multi-Agent LLM Architectures for Financial Risk Assessment,” </a:t>
            </a:r>
            <a:r>
              <a:rPr lang="en-IN" sz="1400" i="1" dirty="0" err="1"/>
              <a:t>arXiv</a:t>
            </a:r>
            <a:r>
              <a:rPr lang="en-IN" sz="1400" i="1" dirty="0"/>
              <a:t> preprint</a:t>
            </a:r>
            <a:r>
              <a:rPr lang="en-IN" sz="1400" dirty="0"/>
              <a:t>, arXiv:2503.08912, 2025.</a:t>
            </a:r>
          </a:p>
          <a:p>
            <a:r>
              <a:rPr lang="en-IN" sz="1400" dirty="0"/>
              <a:t>[45] F. Santos, L. Gomez, and D. Ruiz, “Evaluating Conversational Intelligence in Finance-Focused Chatbots,” </a:t>
            </a:r>
            <a:r>
              <a:rPr lang="en-IN" sz="1400" i="1" dirty="0"/>
              <a:t>Proc. ACM International Conference on Conversational User Interfaces</a:t>
            </a:r>
            <a:r>
              <a:rPr lang="en-IN" sz="1400" dirty="0"/>
              <a:t>, ACM, 2024.</a:t>
            </a:r>
          </a:p>
          <a:p>
            <a:r>
              <a:rPr lang="en-IN" sz="1400" dirty="0"/>
              <a:t>[46] E. Brown and C. Taylor, “Multi-Agent Workflow Systems for High-Frequency Financial Analytics,” </a:t>
            </a:r>
            <a:r>
              <a:rPr lang="en-IN" sz="1400" i="1" dirty="0"/>
              <a:t>IEEE Transactions on Computational Social Systems</a:t>
            </a:r>
            <a:r>
              <a:rPr lang="en-IN" sz="1400" dirty="0"/>
              <a:t>, vol. 12, no. 4, pp. 946–958, 2025.</a:t>
            </a:r>
          </a:p>
          <a:p>
            <a:r>
              <a:rPr lang="en-IN" sz="1400" dirty="0"/>
              <a:t>[47] K. Ramesh and V. Chandran, “Explainable Portfolio Insights Through Natural Language Generation,” </a:t>
            </a:r>
            <a:r>
              <a:rPr lang="en-IN" sz="1400" i="1" dirty="0"/>
              <a:t>Proc. IEEE Int. Conf. on Explainable AI in Finance</a:t>
            </a:r>
            <a:r>
              <a:rPr lang="en-IN" sz="1400" dirty="0"/>
              <a:t>, IEEE, 2024.</a:t>
            </a:r>
          </a:p>
          <a:p>
            <a:r>
              <a:rPr lang="en-IN" sz="1400" dirty="0"/>
              <a:t>[48] L. Zhou and H. Wang, “A Benchmarking Framework for Financial LLM Agents,” </a:t>
            </a:r>
            <a:r>
              <a:rPr lang="en-IN" sz="1400" i="1" dirty="0"/>
              <a:t>ACM Transactions on Economics and Computation</a:t>
            </a:r>
            <a:r>
              <a:rPr lang="en-IN" sz="1400" dirty="0"/>
              <a:t>, vol. 13, no. 2, 2025.</a:t>
            </a:r>
          </a:p>
          <a:p>
            <a:r>
              <a:rPr lang="en-IN" sz="1400" dirty="0"/>
              <a:t>[49] T. Ahmed and F. Noor, “Conversational Market Analysis Using Data-Driven LLM Agents,” </a:t>
            </a:r>
            <a:r>
              <a:rPr lang="en-IN" sz="1400" i="1" dirty="0"/>
              <a:t>Proc. IEEE Int. Conf. on Data Mining Workshops</a:t>
            </a:r>
            <a:r>
              <a:rPr lang="en-IN" sz="1400" dirty="0"/>
              <a:t>, IEEE, 2025.</a:t>
            </a:r>
          </a:p>
          <a:p>
            <a:r>
              <a:rPr lang="en-IN" sz="1400" dirty="0"/>
              <a:t>[50] I. Martinez and P. Rivera, “Human-Centric AI Assistants for Personal Investment Support,” </a:t>
            </a:r>
            <a:r>
              <a:rPr lang="en-IN" sz="1400" i="1" dirty="0"/>
              <a:t>Journal of Intelligent Information Systems</a:t>
            </a:r>
            <a:r>
              <a:rPr lang="en-IN" sz="1400" dirty="0"/>
              <a:t>, vol. 56, no. 3, pp. 489–506, 2025.</a:t>
            </a:r>
          </a:p>
          <a:p>
            <a:endParaRPr lang="en-IN" sz="1400" dirty="0"/>
          </a:p>
        </p:txBody>
      </p:sp>
    </p:spTree>
    <p:extLst>
      <p:ext uri="{BB962C8B-B14F-4D97-AF65-F5344CB8AC3E}">
        <p14:creationId xmlns:p14="http://schemas.microsoft.com/office/powerpoint/2010/main" val="10250358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19"/>
          <p:cNvSpPr txBox="1"/>
          <p:nvPr/>
        </p:nvSpPr>
        <p:spPr>
          <a:xfrm>
            <a:off x="1005654" y="744909"/>
            <a:ext cx="3776416" cy="3155419"/>
          </a:xfrm>
          <a:prstGeom prst="rect">
            <a:avLst/>
          </a:prstGeom>
          <a:noFill/>
          <a:ln>
            <a:noFill/>
          </a:ln>
        </p:spPr>
        <p:txBody>
          <a:bodyPr spcFirstLastPara="1" wrap="square" lIns="91425" tIns="45700" rIns="91425" bIns="45700" anchor="b" anchorCtr="0">
            <a:normAutofit/>
          </a:bodyPr>
          <a:lstStyle/>
          <a:p>
            <a:pPr marL="0" marR="0" lvl="0" indent="0" algn="l" rtl="0">
              <a:lnSpc>
                <a:spcPct val="100000"/>
              </a:lnSpc>
              <a:spcBef>
                <a:spcPts val="0"/>
              </a:spcBef>
              <a:spcAft>
                <a:spcPts val="0"/>
              </a:spcAft>
              <a:buNone/>
            </a:pPr>
            <a:r>
              <a:rPr lang="en-US" sz="5400" b="1" i="0" u="none" strike="noStrike" cap="none">
                <a:solidFill>
                  <a:schemeClr val="dk1"/>
                </a:solidFill>
                <a:latin typeface="Times New Roman"/>
                <a:ea typeface="Times New Roman"/>
                <a:cs typeface="Times New Roman"/>
                <a:sym typeface="Times New Roman"/>
              </a:rPr>
              <a:t>THANK YOU</a:t>
            </a:r>
            <a:endParaRPr/>
          </a:p>
        </p:txBody>
      </p:sp>
      <p:pic>
        <p:nvPicPr>
          <p:cNvPr id="209" name="Google Shape;209;p19"/>
          <p:cNvPicPr preferRelativeResize="0"/>
          <p:nvPr/>
        </p:nvPicPr>
        <p:blipFill rotWithShape="1">
          <a:blip r:embed="rId3">
            <a:alphaModFix/>
          </a:blip>
          <a:srcRect/>
          <a:stretch/>
        </p:blipFill>
        <p:spPr>
          <a:xfrm>
            <a:off x="6028766" y="1100666"/>
            <a:ext cx="5716862" cy="4199467"/>
          </a:xfrm>
          <a:prstGeom prst="rect">
            <a:avLst/>
          </a:prstGeom>
          <a:noFill/>
          <a:ln>
            <a:noFill/>
          </a:ln>
        </p:spPr>
      </p:pic>
    </p:spTree>
  </p:cSld>
  <p:clrMapOvr>
    <a:masterClrMapping/>
  </p:clrMapOvr>
</p:sld>
</file>

<file path=ppt/theme/theme1.xml><?xml version="1.0" encoding="utf-8"?>
<a:theme xmlns:a="http://schemas.openxmlformats.org/drawingml/2006/main" name="2_Custom Design">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6787</TotalTime>
  <Words>7228</Words>
  <Application>Microsoft Office PowerPoint</Application>
  <PresentationFormat>Widescreen</PresentationFormat>
  <Paragraphs>565</Paragraphs>
  <Slides>38</Slides>
  <Notes>23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38</vt:i4>
      </vt:variant>
    </vt:vector>
  </HeadingPairs>
  <TitlesOfParts>
    <vt:vector size="50" baseType="lpstr">
      <vt:lpstr>Quattrocento Sans</vt:lpstr>
      <vt:lpstr>Rockwell</vt:lpstr>
      <vt:lpstr>Avenir</vt:lpstr>
      <vt:lpstr>Times New Roman</vt:lpstr>
      <vt:lpstr>Calibri</vt:lpstr>
      <vt:lpstr>Wingdings</vt:lpstr>
      <vt:lpstr>Roboto</vt:lpstr>
      <vt:lpstr>Google Sans Text</vt:lpstr>
      <vt:lpstr>Cambria Math</vt:lpstr>
      <vt:lpstr>Arial</vt:lpstr>
      <vt:lpstr>Courier New</vt:lpstr>
      <vt:lpstr>2_Custom Design</vt:lpstr>
      <vt:lpstr>PowerPoint Presentation</vt:lpstr>
      <vt:lpstr>Table of Content</vt:lpstr>
      <vt:lpstr>Introduction</vt:lpstr>
      <vt:lpstr>Motivation</vt:lpstr>
      <vt:lpstr>Problem Definition</vt:lpstr>
      <vt:lpstr>PowerPoint Presentation</vt:lpstr>
      <vt:lpstr>Literature survey</vt:lpstr>
      <vt:lpstr>Literature survey</vt:lpstr>
      <vt:lpstr>Literature survey</vt:lpstr>
      <vt:lpstr>Scope </vt:lpstr>
      <vt:lpstr>Novelty </vt:lpstr>
      <vt:lpstr>Data sources </vt:lpstr>
      <vt:lpstr>Software / Hardware Requirements  </vt:lpstr>
      <vt:lpstr>System Architecture</vt:lpstr>
      <vt:lpstr>Chatbot Architecture </vt:lpstr>
      <vt:lpstr>HITL Architecture</vt:lpstr>
      <vt:lpstr>Methodology – Composite Instability Detection </vt:lpstr>
      <vt:lpstr>Methodology – Deterministic Decision &amp; Optimization </vt:lpstr>
      <vt:lpstr>Methodology – System Implementation &amp; Auditability </vt:lpstr>
      <vt:lpstr>Paper 2 Methodology – Graph-Regularized CVaR (G-CVaR) </vt:lpstr>
      <vt:lpstr>Paper 2 Architecture – The Five-Agent Blackboard </vt:lpstr>
      <vt:lpstr>Comparative Results – Validating G-CVaR Performance </vt:lpstr>
      <vt:lpstr>Paper 1 Results: Rolling-Window Performance (51 Windows, 2012-2024)</vt:lpstr>
      <vt:lpstr>Paper 2 Results:Universe Technology Performance (51 Windows, 2005-2025)</vt:lpstr>
      <vt:lpstr>CROSS-UNIVERSE VALIDATION (Paper 2)</vt:lpstr>
      <vt:lpstr>STATISTICAL SIGNIFICANCE</vt:lpstr>
      <vt:lpstr>Comparative Results: Paper 1 vs Paper 2</vt:lpstr>
      <vt:lpstr>Chatbot Response</vt:lpstr>
      <vt:lpstr>Chatbot Response</vt:lpstr>
      <vt:lpstr>PowerPoint Presentation</vt:lpstr>
      <vt:lpstr>PowerPoint Presentation</vt:lpstr>
      <vt:lpstr>PowerPoint Presentation</vt:lpstr>
      <vt:lpstr>References</vt:lpstr>
      <vt:lpstr>References</vt:lpstr>
      <vt:lpstr>References</vt:lpstr>
      <vt:lpstr>References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Nirmit</dc:creator>
  <cp:lastModifiedBy>Kandula Jithendra Subramanyam</cp:lastModifiedBy>
  <cp:revision>22</cp:revision>
  <dcterms:modified xsi:type="dcterms:W3CDTF">2026-05-05T06:56:15Z</dcterms:modified>
</cp:coreProperties>
</file>